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6884d68-8c60-7ad3-21ef-f1f3fcec35a4}">
          <p14:sldIdLst>
            <p14:sldId id="256"/>
            <p14:sldId id="257"/>
          </p14:sldIdLst>
        </p14:section>
        <p14:section name="Problem &amp; evidence" id="{b68e4907-e60f-1c7e-4e22-664563a752ef}">
          <p14:sldIdLst>
            <p14:sldId id="258"/>
            <p14:sldId id="259"/>
          </p14:sldIdLst>
        </p14:section>
        <p14:section name="Product" id="{cf7f62a3-b732-000c-34e2-8cc6812c4fa4}">
          <p14:sldIdLst>
            <p14:sldId id="260"/>
            <p14:sldId id="261"/>
            <p14:sldId id="262"/>
          </p14:sldIdLst>
        </p14:section>
        <p14:section name="Plan" id="{5b042fb4-0803-e7bb-b7f9-a642ce387f71}">
          <p14:sldIdLst>
            <p14:sldId id="263"/>
            <p14:sldId id="264"/>
            <p14:sldId id="265"/>
            <p14:sldId id="266"/>
            <p14:sldId id="267"/>
          </p14:sldIdLst>
        </p14:section>
        <p14:section name="Close" id="{6b76be9c-156c-ccd4-71aa-4dfcdcaf3ef1}">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Limit</c:v>
                </c:pt>
              </c:strCache>
            </c:strRef>
          </c:tx>
          <c:spPr>
            <a:solidFill>
              <a:srgbClr val="E4572E"/>
            </a:solidFill>
            <a:ln w="2540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Sheet1!$A$2:$A$98</c:f>
              <c:multiLvlStrCache>
                <c:ptCount val="97"/>
                <c:lvl>
                  <c:pt idx="0">
                    <c:v>6 PM</c:v>
                  </c:pt>
                  <c:pt idx="1">
                    <c:v>6:10 PM</c:v>
                  </c:pt>
                  <c:pt idx="2">
                    <c:v>6:20 PM</c:v>
                  </c:pt>
                  <c:pt idx="3">
                    <c:v>6:30 PM</c:v>
                  </c:pt>
                  <c:pt idx="4">
                    <c:v>6:40 PM</c:v>
                  </c:pt>
                  <c:pt idx="5">
                    <c:v>6:50 PM</c:v>
                  </c:pt>
                  <c:pt idx="6">
                    <c:v>7 PM</c:v>
                  </c:pt>
                  <c:pt idx="7">
                    <c:v>7:10 PM</c:v>
                  </c:pt>
                  <c:pt idx="8">
                    <c:v>7:20 PM</c:v>
                  </c:pt>
                  <c:pt idx="9">
                    <c:v>7:30 PM</c:v>
                  </c:pt>
                  <c:pt idx="10">
                    <c:v>7:40 PM</c:v>
                  </c:pt>
                  <c:pt idx="11">
                    <c:v>7:50 PM</c:v>
                  </c:pt>
                  <c:pt idx="12">
                    <c:v>8 PM</c:v>
                  </c:pt>
                  <c:pt idx="13">
                    <c:v>8:10 PM</c:v>
                  </c:pt>
                  <c:pt idx="14">
                    <c:v>8:20 PM</c:v>
                  </c:pt>
                  <c:pt idx="15">
                    <c:v>8:30 PM</c:v>
                  </c:pt>
                  <c:pt idx="16">
                    <c:v>8:40 PM</c:v>
                  </c:pt>
                  <c:pt idx="17">
                    <c:v>8:50 PM</c:v>
                  </c:pt>
                  <c:pt idx="18">
                    <c:v>9 PM</c:v>
                  </c:pt>
                  <c:pt idx="19">
                    <c:v>9:10 PM</c:v>
                  </c:pt>
                  <c:pt idx="20">
                    <c:v>9:20 PM</c:v>
                  </c:pt>
                  <c:pt idx="21">
                    <c:v>9:30 PM</c:v>
                  </c:pt>
                  <c:pt idx="22">
                    <c:v>9:40 PM</c:v>
                  </c:pt>
                  <c:pt idx="23">
                    <c:v>9:50 PM</c:v>
                  </c:pt>
                  <c:pt idx="24">
                    <c:v>10 PM</c:v>
                  </c:pt>
                  <c:pt idx="25">
                    <c:v>10:10 PM</c:v>
                  </c:pt>
                  <c:pt idx="26">
                    <c:v>10:20 PM</c:v>
                  </c:pt>
                  <c:pt idx="27">
                    <c:v>10:30 PM</c:v>
                  </c:pt>
                  <c:pt idx="28">
                    <c:v>10:40 PM</c:v>
                  </c:pt>
                  <c:pt idx="29">
                    <c:v>10:50 PM</c:v>
                  </c:pt>
                  <c:pt idx="30">
                    <c:v>11 PM</c:v>
                  </c:pt>
                  <c:pt idx="31">
                    <c:v>11:10 PM</c:v>
                  </c:pt>
                  <c:pt idx="32">
                    <c:v>11:20 PM</c:v>
                  </c:pt>
                  <c:pt idx="33">
                    <c:v>11:30 PM</c:v>
                  </c:pt>
                  <c:pt idx="34">
                    <c:v>11:40 PM</c:v>
                  </c:pt>
                  <c:pt idx="35">
                    <c:v>11:50 PM</c:v>
                  </c:pt>
                  <c:pt idx="36">
                    <c:v>12 AM</c:v>
                  </c:pt>
                  <c:pt idx="37">
                    <c:v>12:10 AM</c:v>
                  </c:pt>
                  <c:pt idx="38">
                    <c:v>12:20 AM</c:v>
                  </c:pt>
                  <c:pt idx="39">
                    <c:v>12:30 AM</c:v>
                  </c:pt>
                  <c:pt idx="40">
                    <c:v>12:40 AM</c:v>
                  </c:pt>
                  <c:pt idx="41">
                    <c:v>12:50 AM</c:v>
                  </c:pt>
                  <c:pt idx="42">
                    <c:v>1 AM</c:v>
                  </c:pt>
                  <c:pt idx="43">
                    <c:v>1:10 AM</c:v>
                  </c:pt>
                  <c:pt idx="44">
                    <c:v>1:20 AM</c:v>
                  </c:pt>
                  <c:pt idx="45">
                    <c:v>1:30 AM</c:v>
                  </c:pt>
                  <c:pt idx="46">
                    <c:v>1:40 AM</c:v>
                  </c:pt>
                  <c:pt idx="47">
                    <c:v>1:50 AM</c:v>
                  </c:pt>
                  <c:pt idx="48">
                    <c:v>2 AM</c:v>
                  </c:pt>
                  <c:pt idx="49">
                    <c:v>2:10 AM</c:v>
                  </c:pt>
                  <c:pt idx="50">
                    <c:v>2:20 AM</c:v>
                  </c:pt>
                  <c:pt idx="51">
                    <c:v>2:30 AM</c:v>
                  </c:pt>
                  <c:pt idx="52">
                    <c:v>2:40 AM</c:v>
                  </c:pt>
                  <c:pt idx="53">
                    <c:v>2:50 AM</c:v>
                  </c:pt>
                  <c:pt idx="54">
                    <c:v>3 AM</c:v>
                  </c:pt>
                  <c:pt idx="55">
                    <c:v>3:10 AM</c:v>
                  </c:pt>
                  <c:pt idx="56">
                    <c:v>3:20 AM</c:v>
                  </c:pt>
                  <c:pt idx="57">
                    <c:v>3:30 AM</c:v>
                  </c:pt>
                  <c:pt idx="58">
                    <c:v>3:40 AM</c:v>
                  </c:pt>
                  <c:pt idx="59">
                    <c:v>3:50 AM</c:v>
                  </c:pt>
                  <c:pt idx="60">
                    <c:v>4 AM</c:v>
                  </c:pt>
                  <c:pt idx="61">
                    <c:v>4:10 AM</c:v>
                  </c:pt>
                  <c:pt idx="62">
                    <c:v>4:20 AM</c:v>
                  </c:pt>
                  <c:pt idx="63">
                    <c:v>4:30 AM</c:v>
                  </c:pt>
                  <c:pt idx="64">
                    <c:v>4:40 AM</c:v>
                  </c:pt>
                  <c:pt idx="65">
                    <c:v>4:50 AM</c:v>
                  </c:pt>
                  <c:pt idx="66">
                    <c:v>5 AM</c:v>
                  </c:pt>
                  <c:pt idx="67">
                    <c:v>5:10 AM</c:v>
                  </c:pt>
                  <c:pt idx="68">
                    <c:v>5:20 AM</c:v>
                  </c:pt>
                  <c:pt idx="69">
                    <c:v>5:30 AM</c:v>
                  </c:pt>
                  <c:pt idx="70">
                    <c:v>5:40 AM</c:v>
                  </c:pt>
                  <c:pt idx="71">
                    <c:v>5:50 AM</c:v>
                  </c:pt>
                  <c:pt idx="72">
                    <c:v>6 AM</c:v>
                  </c:pt>
                  <c:pt idx="73">
                    <c:v>6:10 AM</c:v>
                  </c:pt>
                  <c:pt idx="74">
                    <c:v>6:20 AM</c:v>
                  </c:pt>
                  <c:pt idx="75">
                    <c:v>6:30 AM</c:v>
                  </c:pt>
                  <c:pt idx="76">
                    <c:v>6:40 AM</c:v>
                  </c:pt>
                  <c:pt idx="77">
                    <c:v>6:50 AM</c:v>
                  </c:pt>
                  <c:pt idx="78">
                    <c:v>7 AM</c:v>
                  </c:pt>
                  <c:pt idx="79">
                    <c:v>7:10 AM</c:v>
                  </c:pt>
                  <c:pt idx="80">
                    <c:v>7:20 AM</c:v>
                  </c:pt>
                  <c:pt idx="81">
                    <c:v>7:30 AM</c:v>
                  </c:pt>
                  <c:pt idx="82">
                    <c:v>7:40 AM</c:v>
                  </c:pt>
                  <c:pt idx="83">
                    <c:v>7:50 AM</c:v>
                  </c:pt>
                  <c:pt idx="84">
                    <c:v>8 AM</c:v>
                  </c:pt>
                  <c:pt idx="85">
                    <c:v>8:10 AM</c:v>
                  </c:pt>
                  <c:pt idx="86">
                    <c:v>8:20 AM</c:v>
                  </c:pt>
                  <c:pt idx="87">
                    <c:v>8:30 AM</c:v>
                  </c:pt>
                  <c:pt idx="88">
                    <c:v>8:40 AM</c:v>
                  </c:pt>
                  <c:pt idx="89">
                    <c:v>8:50 AM</c:v>
                  </c:pt>
                  <c:pt idx="90">
                    <c:v>9 AM</c:v>
                  </c:pt>
                  <c:pt idx="91">
                    <c:v>9:10 AM</c:v>
                  </c:pt>
                  <c:pt idx="92">
                    <c:v>9:20 AM</c:v>
                  </c:pt>
                  <c:pt idx="93">
                    <c:v>9:30 AM</c:v>
                  </c:pt>
                  <c:pt idx="94">
                    <c:v>9:40 AM</c:v>
                  </c:pt>
                  <c:pt idx="95">
                    <c:v>9:50 AM</c:v>
                  </c:pt>
                  <c:pt idx="96">
                    <c:v>10 AM</c:v>
                  </c:pt>
                </c:lvl>
              </c:multiLvlStrCache>
            </c:multiLvlStrRef>
          </c:cat>
          <c:val>
            <c:numRef>
              <c:f>Sheet1!$B$2:$B$98</c:f>
              <c:numCache>
                <c:formatCode>General</c:formatCode>
                <c:ptCount val="97"/>
                <c:pt idx="0">
                  <c:v>68</c:v>
                </c:pt>
                <c:pt idx="1">
                  <c:v>68</c:v>
                </c:pt>
                <c:pt idx="2">
                  <c:v>68</c:v>
                </c:pt>
                <c:pt idx="3">
                  <c:v>68</c:v>
                </c:pt>
                <c:pt idx="4">
                  <c:v>68</c:v>
                </c:pt>
                <c:pt idx="5">
                  <c:v>68</c:v>
                </c:pt>
                <c:pt idx="6">
                  <c:v>68</c:v>
                </c:pt>
                <c:pt idx="7">
                  <c:v>68</c:v>
                </c:pt>
                <c:pt idx="8">
                  <c:v>68</c:v>
                </c:pt>
                <c:pt idx="9">
                  <c:v>68</c:v>
                </c:pt>
                <c:pt idx="10">
                  <c:v>68</c:v>
                </c:pt>
                <c:pt idx="11">
                  <c:v>68</c:v>
                </c:pt>
                <c:pt idx="12">
                  <c:v>68</c:v>
                </c:pt>
                <c:pt idx="13">
                  <c:v>68</c:v>
                </c:pt>
                <c:pt idx="14">
                  <c:v>68</c:v>
                </c:pt>
                <c:pt idx="15">
                  <c:v>68</c:v>
                </c:pt>
                <c:pt idx="16">
                  <c:v>68</c:v>
                </c:pt>
                <c:pt idx="17">
                  <c:v>68</c:v>
                </c:pt>
                <c:pt idx="18">
                  <c:v>68</c:v>
                </c:pt>
                <c:pt idx="19">
                  <c:v>68</c:v>
                </c:pt>
                <c:pt idx="20">
                  <c:v>68</c:v>
                </c:pt>
                <c:pt idx="21">
                  <c:v>68</c:v>
                </c:pt>
                <c:pt idx="22">
                  <c:v>68</c:v>
                </c:pt>
                <c:pt idx="23">
                  <c:v>68</c:v>
                </c:pt>
                <c:pt idx="24">
                  <c:v>68</c:v>
                </c:pt>
                <c:pt idx="25">
                  <c:v>68</c:v>
                </c:pt>
                <c:pt idx="26">
                  <c:v>68</c:v>
                </c:pt>
                <c:pt idx="27">
                  <c:v>68</c:v>
                </c:pt>
                <c:pt idx="28">
                  <c:v>68</c:v>
                </c:pt>
                <c:pt idx="29">
                  <c:v>68</c:v>
                </c:pt>
                <c:pt idx="30">
                  <c:v>64</c:v>
                </c:pt>
                <c:pt idx="31">
                  <c:v>64</c:v>
                </c:pt>
                <c:pt idx="32">
                  <c:v>64</c:v>
                </c:pt>
                <c:pt idx="33">
                  <c:v>64</c:v>
                </c:pt>
                <c:pt idx="34">
                  <c:v>64</c:v>
                </c:pt>
                <c:pt idx="35">
                  <c:v>64</c:v>
                </c:pt>
                <c:pt idx="36">
                  <c:v>64</c:v>
                </c:pt>
                <c:pt idx="37">
                  <c:v>64</c:v>
                </c:pt>
                <c:pt idx="38">
                  <c:v>64</c:v>
                </c:pt>
                <c:pt idx="39">
                  <c:v>64</c:v>
                </c:pt>
                <c:pt idx="40">
                  <c:v>64</c:v>
                </c:pt>
                <c:pt idx="41">
                  <c:v>64</c:v>
                </c:pt>
                <c:pt idx="42">
                  <c:v>64</c:v>
                </c:pt>
                <c:pt idx="43">
                  <c:v>64</c:v>
                </c:pt>
                <c:pt idx="44">
                  <c:v>64</c:v>
                </c:pt>
                <c:pt idx="45">
                  <c:v>64</c:v>
                </c:pt>
                <c:pt idx="46">
                  <c:v>64</c:v>
                </c:pt>
                <c:pt idx="47">
                  <c:v>64</c:v>
                </c:pt>
                <c:pt idx="48">
                  <c:v>64</c:v>
                </c:pt>
                <c:pt idx="49">
                  <c:v>64</c:v>
                </c:pt>
                <c:pt idx="50">
                  <c:v>64</c:v>
                </c:pt>
                <c:pt idx="51">
                  <c:v>64</c:v>
                </c:pt>
                <c:pt idx="52">
                  <c:v>64</c:v>
                </c:pt>
                <c:pt idx="53">
                  <c:v>64</c:v>
                </c:pt>
                <c:pt idx="54">
                  <c:v>64</c:v>
                </c:pt>
                <c:pt idx="55">
                  <c:v>64</c:v>
                </c:pt>
                <c:pt idx="56">
                  <c:v>64</c:v>
                </c:pt>
                <c:pt idx="57">
                  <c:v>64</c:v>
                </c:pt>
                <c:pt idx="58">
                  <c:v>64</c:v>
                </c:pt>
                <c:pt idx="59">
                  <c:v>64</c:v>
                </c:pt>
                <c:pt idx="60">
                  <c:v>64</c:v>
                </c:pt>
                <c:pt idx="61">
                  <c:v>64</c:v>
                </c:pt>
                <c:pt idx="62">
                  <c:v>64</c:v>
                </c:pt>
                <c:pt idx="63">
                  <c:v>64</c:v>
                </c:pt>
                <c:pt idx="64">
                  <c:v>64</c:v>
                </c:pt>
                <c:pt idx="65">
                  <c:v>64</c:v>
                </c:pt>
                <c:pt idx="66">
                  <c:v>64</c:v>
                </c:pt>
                <c:pt idx="67">
                  <c:v>64</c:v>
                </c:pt>
                <c:pt idx="68">
                  <c:v>64</c:v>
                </c:pt>
                <c:pt idx="69">
                  <c:v>64</c:v>
                </c:pt>
                <c:pt idx="70">
                  <c:v>64</c:v>
                </c:pt>
                <c:pt idx="71">
                  <c:v>64</c:v>
                </c:pt>
                <c:pt idx="72">
                  <c:v>64</c:v>
                </c:pt>
                <c:pt idx="73">
                  <c:v>64</c:v>
                </c:pt>
                <c:pt idx="74">
                  <c:v>64</c:v>
                </c:pt>
                <c:pt idx="75">
                  <c:v>64</c:v>
                </c:pt>
                <c:pt idx="76">
                  <c:v>64</c:v>
                </c:pt>
                <c:pt idx="77">
                  <c:v>64</c:v>
                </c:pt>
                <c:pt idx="78">
                  <c:v>68</c:v>
                </c:pt>
                <c:pt idx="79">
                  <c:v>68</c:v>
                </c:pt>
                <c:pt idx="80">
                  <c:v>68</c:v>
                </c:pt>
                <c:pt idx="81">
                  <c:v>68</c:v>
                </c:pt>
                <c:pt idx="82">
                  <c:v>68</c:v>
                </c:pt>
                <c:pt idx="83">
                  <c:v>68</c:v>
                </c:pt>
                <c:pt idx="84">
                  <c:v>68</c:v>
                </c:pt>
                <c:pt idx="85">
                  <c:v>68</c:v>
                </c:pt>
                <c:pt idx="86">
                  <c:v>68</c:v>
                </c:pt>
                <c:pt idx="87">
                  <c:v>68</c:v>
                </c:pt>
                <c:pt idx="88">
                  <c:v>68</c:v>
                </c:pt>
                <c:pt idx="89">
                  <c:v>68</c:v>
                </c:pt>
                <c:pt idx="90">
                  <c:v>68</c:v>
                </c:pt>
                <c:pt idx="91">
                  <c:v>68</c:v>
                </c:pt>
                <c:pt idx="92">
                  <c:v>68</c:v>
                </c:pt>
                <c:pt idx="93">
                  <c:v>68</c:v>
                </c:pt>
                <c:pt idx="94">
                  <c:v>68</c:v>
                </c:pt>
                <c:pt idx="95">
                  <c:v>68</c:v>
                </c:pt>
                <c:pt idx="96">
                  <c:v>68</c:v>
                </c:pt>
              </c:numCache>
            </c:numRef>
          </c:val>
          <c:smooth val="0"/>
        </c:ser>
        <c:ser>
          <c:idx val="1"/>
          <c:order val="1"/>
          <c:tx>
            <c:strRef>
              <c:f>Sheet1!$C$1</c:f>
              <c:strCache>
                <c:ptCount val="1"/>
                <c:pt idx="0">
                  <c:v>Indoor</c:v>
                </c:pt>
              </c:strCache>
            </c:strRef>
          </c:tx>
          <c:spPr>
            <a:solidFill>
              <a:srgbClr val="FFFFFF"/>
            </a:solidFill>
            <a:ln w="254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FFFF"/>
              </a:solidFill>
              <a:ln w="9525" cap="flat">
                <a:solidFill>
                  <a:srgbClr val="FFFFFF"/>
                </a:solidFill>
                <a:prstDash val="solid"/>
                <a:round/>
              </a:ln>
              <a:effectLst/>
            </c:spPr>
          </c:marker>
          <c:cat>
            <c:multiLvlStrRef>
              <c:f>Sheet1!$A$2:$A$98</c:f>
              <c:multiLvlStrCache>
                <c:ptCount val="97"/>
                <c:lvl>
                  <c:pt idx="0">
                    <c:v>6 PM</c:v>
                  </c:pt>
                  <c:pt idx="1">
                    <c:v>6:10 PM</c:v>
                  </c:pt>
                  <c:pt idx="2">
                    <c:v>6:20 PM</c:v>
                  </c:pt>
                  <c:pt idx="3">
                    <c:v>6:30 PM</c:v>
                  </c:pt>
                  <c:pt idx="4">
                    <c:v>6:40 PM</c:v>
                  </c:pt>
                  <c:pt idx="5">
                    <c:v>6:50 PM</c:v>
                  </c:pt>
                  <c:pt idx="6">
                    <c:v>7 PM</c:v>
                  </c:pt>
                  <c:pt idx="7">
                    <c:v>7:10 PM</c:v>
                  </c:pt>
                  <c:pt idx="8">
                    <c:v>7:20 PM</c:v>
                  </c:pt>
                  <c:pt idx="9">
                    <c:v>7:30 PM</c:v>
                  </c:pt>
                  <c:pt idx="10">
                    <c:v>7:40 PM</c:v>
                  </c:pt>
                  <c:pt idx="11">
                    <c:v>7:50 PM</c:v>
                  </c:pt>
                  <c:pt idx="12">
                    <c:v>8 PM</c:v>
                  </c:pt>
                  <c:pt idx="13">
                    <c:v>8:10 PM</c:v>
                  </c:pt>
                  <c:pt idx="14">
                    <c:v>8:20 PM</c:v>
                  </c:pt>
                  <c:pt idx="15">
                    <c:v>8:30 PM</c:v>
                  </c:pt>
                  <c:pt idx="16">
                    <c:v>8:40 PM</c:v>
                  </c:pt>
                  <c:pt idx="17">
                    <c:v>8:50 PM</c:v>
                  </c:pt>
                  <c:pt idx="18">
                    <c:v>9 PM</c:v>
                  </c:pt>
                  <c:pt idx="19">
                    <c:v>9:10 PM</c:v>
                  </c:pt>
                  <c:pt idx="20">
                    <c:v>9:20 PM</c:v>
                  </c:pt>
                  <c:pt idx="21">
                    <c:v>9:30 PM</c:v>
                  </c:pt>
                  <c:pt idx="22">
                    <c:v>9:40 PM</c:v>
                  </c:pt>
                  <c:pt idx="23">
                    <c:v>9:50 PM</c:v>
                  </c:pt>
                  <c:pt idx="24">
                    <c:v>10 PM</c:v>
                  </c:pt>
                  <c:pt idx="25">
                    <c:v>10:10 PM</c:v>
                  </c:pt>
                  <c:pt idx="26">
                    <c:v>10:20 PM</c:v>
                  </c:pt>
                  <c:pt idx="27">
                    <c:v>10:30 PM</c:v>
                  </c:pt>
                  <c:pt idx="28">
                    <c:v>10:40 PM</c:v>
                  </c:pt>
                  <c:pt idx="29">
                    <c:v>10:50 PM</c:v>
                  </c:pt>
                  <c:pt idx="30">
                    <c:v>11 PM</c:v>
                  </c:pt>
                  <c:pt idx="31">
                    <c:v>11:10 PM</c:v>
                  </c:pt>
                  <c:pt idx="32">
                    <c:v>11:20 PM</c:v>
                  </c:pt>
                  <c:pt idx="33">
                    <c:v>11:30 PM</c:v>
                  </c:pt>
                  <c:pt idx="34">
                    <c:v>11:40 PM</c:v>
                  </c:pt>
                  <c:pt idx="35">
                    <c:v>11:50 PM</c:v>
                  </c:pt>
                  <c:pt idx="36">
                    <c:v>12 AM</c:v>
                  </c:pt>
                  <c:pt idx="37">
                    <c:v>12:10 AM</c:v>
                  </c:pt>
                  <c:pt idx="38">
                    <c:v>12:20 AM</c:v>
                  </c:pt>
                  <c:pt idx="39">
                    <c:v>12:30 AM</c:v>
                  </c:pt>
                  <c:pt idx="40">
                    <c:v>12:40 AM</c:v>
                  </c:pt>
                  <c:pt idx="41">
                    <c:v>12:50 AM</c:v>
                  </c:pt>
                  <c:pt idx="42">
                    <c:v>1 AM</c:v>
                  </c:pt>
                  <c:pt idx="43">
                    <c:v>1:10 AM</c:v>
                  </c:pt>
                  <c:pt idx="44">
                    <c:v>1:20 AM</c:v>
                  </c:pt>
                  <c:pt idx="45">
                    <c:v>1:30 AM</c:v>
                  </c:pt>
                  <c:pt idx="46">
                    <c:v>1:40 AM</c:v>
                  </c:pt>
                  <c:pt idx="47">
                    <c:v>1:50 AM</c:v>
                  </c:pt>
                  <c:pt idx="48">
                    <c:v>2 AM</c:v>
                  </c:pt>
                  <c:pt idx="49">
                    <c:v>2:10 AM</c:v>
                  </c:pt>
                  <c:pt idx="50">
                    <c:v>2:20 AM</c:v>
                  </c:pt>
                  <c:pt idx="51">
                    <c:v>2:30 AM</c:v>
                  </c:pt>
                  <c:pt idx="52">
                    <c:v>2:40 AM</c:v>
                  </c:pt>
                  <c:pt idx="53">
                    <c:v>2:50 AM</c:v>
                  </c:pt>
                  <c:pt idx="54">
                    <c:v>3 AM</c:v>
                  </c:pt>
                  <c:pt idx="55">
                    <c:v>3:10 AM</c:v>
                  </c:pt>
                  <c:pt idx="56">
                    <c:v>3:20 AM</c:v>
                  </c:pt>
                  <c:pt idx="57">
                    <c:v>3:30 AM</c:v>
                  </c:pt>
                  <c:pt idx="58">
                    <c:v>3:40 AM</c:v>
                  </c:pt>
                  <c:pt idx="59">
                    <c:v>3:50 AM</c:v>
                  </c:pt>
                  <c:pt idx="60">
                    <c:v>4 AM</c:v>
                  </c:pt>
                  <c:pt idx="61">
                    <c:v>4:10 AM</c:v>
                  </c:pt>
                  <c:pt idx="62">
                    <c:v>4:20 AM</c:v>
                  </c:pt>
                  <c:pt idx="63">
                    <c:v>4:30 AM</c:v>
                  </c:pt>
                  <c:pt idx="64">
                    <c:v>4:40 AM</c:v>
                  </c:pt>
                  <c:pt idx="65">
                    <c:v>4:50 AM</c:v>
                  </c:pt>
                  <c:pt idx="66">
                    <c:v>5 AM</c:v>
                  </c:pt>
                  <c:pt idx="67">
                    <c:v>5:10 AM</c:v>
                  </c:pt>
                  <c:pt idx="68">
                    <c:v>5:20 AM</c:v>
                  </c:pt>
                  <c:pt idx="69">
                    <c:v>5:30 AM</c:v>
                  </c:pt>
                  <c:pt idx="70">
                    <c:v>5:40 AM</c:v>
                  </c:pt>
                  <c:pt idx="71">
                    <c:v>5:50 AM</c:v>
                  </c:pt>
                  <c:pt idx="72">
                    <c:v>6 AM</c:v>
                  </c:pt>
                  <c:pt idx="73">
                    <c:v>6:10 AM</c:v>
                  </c:pt>
                  <c:pt idx="74">
                    <c:v>6:20 AM</c:v>
                  </c:pt>
                  <c:pt idx="75">
                    <c:v>6:30 AM</c:v>
                  </c:pt>
                  <c:pt idx="76">
                    <c:v>6:40 AM</c:v>
                  </c:pt>
                  <c:pt idx="77">
                    <c:v>6:50 AM</c:v>
                  </c:pt>
                  <c:pt idx="78">
                    <c:v>7 AM</c:v>
                  </c:pt>
                  <c:pt idx="79">
                    <c:v>7:10 AM</c:v>
                  </c:pt>
                  <c:pt idx="80">
                    <c:v>7:20 AM</c:v>
                  </c:pt>
                  <c:pt idx="81">
                    <c:v>7:30 AM</c:v>
                  </c:pt>
                  <c:pt idx="82">
                    <c:v>7:40 AM</c:v>
                  </c:pt>
                  <c:pt idx="83">
                    <c:v>7:50 AM</c:v>
                  </c:pt>
                  <c:pt idx="84">
                    <c:v>8 AM</c:v>
                  </c:pt>
                  <c:pt idx="85">
                    <c:v>8:10 AM</c:v>
                  </c:pt>
                  <c:pt idx="86">
                    <c:v>8:20 AM</c:v>
                  </c:pt>
                  <c:pt idx="87">
                    <c:v>8:30 AM</c:v>
                  </c:pt>
                  <c:pt idx="88">
                    <c:v>8:40 AM</c:v>
                  </c:pt>
                  <c:pt idx="89">
                    <c:v>8:50 AM</c:v>
                  </c:pt>
                  <c:pt idx="90">
                    <c:v>9 AM</c:v>
                  </c:pt>
                  <c:pt idx="91">
                    <c:v>9:10 AM</c:v>
                  </c:pt>
                  <c:pt idx="92">
                    <c:v>9:20 AM</c:v>
                  </c:pt>
                  <c:pt idx="93">
                    <c:v>9:30 AM</c:v>
                  </c:pt>
                  <c:pt idx="94">
                    <c:v>9:40 AM</c:v>
                  </c:pt>
                  <c:pt idx="95">
                    <c:v>9:50 AM</c:v>
                  </c:pt>
                  <c:pt idx="96">
                    <c:v>10 AM</c:v>
                  </c:pt>
                </c:lvl>
              </c:multiLvlStrCache>
            </c:multiLvlStrRef>
          </c:cat>
          <c:val>
            <c:numRef>
              <c:f>Sheet1!$C$2:$C$98</c:f>
              <c:numCache>
                <c:formatCode>General</c:formatCode>
                <c:ptCount val="97"/>
                <c:pt idx="0">
                  <c:v>70.4</c:v>
                </c:pt>
                <c:pt idx="1">
                  <c:v>70.4</c:v>
                </c:pt>
                <c:pt idx="2">
                  <c:v>70.2</c:v>
                </c:pt>
                <c:pt idx="3">
                  <c:v>69.9</c:v>
                </c:pt>
                <c:pt idx="4">
                  <c:v>69.4</c:v>
                </c:pt>
                <c:pt idx="5">
                  <c:v>68.9</c:v>
                </c:pt>
                <c:pt idx="6">
                  <c:v>68.5</c:v>
                </c:pt>
                <c:pt idx="7">
                  <c:v>68.3</c:v>
                </c:pt>
                <c:pt idx="8">
                  <c:v>68.2</c:v>
                </c:pt>
                <c:pt idx="9">
                  <c:v>68.1</c:v>
                </c:pt>
                <c:pt idx="10">
                  <c:v>68</c:v>
                </c:pt>
                <c:pt idx="11">
                  <c:v>67.9</c:v>
                </c:pt>
                <c:pt idx="12">
                  <c:v>67.7</c:v>
                </c:pt>
                <c:pt idx="13">
                  <c:v>67.6</c:v>
                </c:pt>
                <c:pt idx="14">
                  <c:v>67.6</c:v>
                </c:pt>
                <c:pt idx="15">
                  <c:v>67.5</c:v>
                </c:pt>
                <c:pt idx="16">
                  <c:v>67.3</c:v>
                </c:pt>
                <c:pt idx="17">
                  <c:v>67</c:v>
                </c:pt>
                <c:pt idx="18">
                  <c:v>66.6</c:v>
                </c:pt>
                <c:pt idx="19">
                  <c:v>66.3</c:v>
                </c:pt>
                <c:pt idx="20">
                  <c:v>66.1</c:v>
                </c:pt>
                <c:pt idx="21">
                  <c:v>65.9</c:v>
                </c:pt>
                <c:pt idx="22">
                  <c:v>65.8</c:v>
                </c:pt>
                <c:pt idx="23">
                  <c:v>65.6</c:v>
                </c:pt>
                <c:pt idx="24">
                  <c:v>65.3</c:v>
                </c:pt>
                <c:pt idx="25">
                  <c:v>65</c:v>
                </c:pt>
                <c:pt idx="26">
                  <c:v>64.8</c:v>
                </c:pt>
                <c:pt idx="27">
                  <c:v>64.7</c:v>
                </c:pt>
                <c:pt idx="28">
                  <c:v>64.7</c:v>
                </c:pt>
                <c:pt idx="29">
                  <c:v>64.7</c:v>
                </c:pt>
                <c:pt idx="30">
                  <c:v>64.7</c:v>
                </c:pt>
                <c:pt idx="31">
                  <c:v>64.6</c:v>
                </c:pt>
                <c:pt idx="32">
                  <c:v>64.5</c:v>
                </c:pt>
                <c:pt idx="33">
                  <c:v>64.3</c:v>
                </c:pt>
                <c:pt idx="34">
                  <c:v>64.2</c:v>
                </c:pt>
                <c:pt idx="35">
                  <c:v>64.2</c:v>
                </c:pt>
                <c:pt idx="36">
                  <c:v>64.1</c:v>
                </c:pt>
                <c:pt idx="37">
                  <c:v>64</c:v>
                </c:pt>
                <c:pt idx="38">
                  <c:v>63.7</c:v>
                </c:pt>
                <c:pt idx="39">
                  <c:v>63.5</c:v>
                </c:pt>
                <c:pt idx="40">
                  <c:v>63.4</c:v>
                </c:pt>
                <c:pt idx="41">
                  <c:v>63.3</c:v>
                </c:pt>
                <c:pt idx="42">
                  <c:v>63.4</c:v>
                </c:pt>
                <c:pt idx="43">
                  <c:v>63.5</c:v>
                </c:pt>
                <c:pt idx="44">
                  <c:v>63.4</c:v>
                </c:pt>
                <c:pt idx="45">
                  <c:v>63.2</c:v>
                </c:pt>
                <c:pt idx="46">
                  <c:v>62.8</c:v>
                </c:pt>
                <c:pt idx="47">
                  <c:v>62.5</c:v>
                </c:pt>
                <c:pt idx="48">
                  <c:v>62.3</c:v>
                </c:pt>
                <c:pt idx="49">
                  <c:v>62</c:v>
                </c:pt>
                <c:pt idx="50">
                  <c:v>61.8</c:v>
                </c:pt>
                <c:pt idx="51">
                  <c:v>61.4</c:v>
                </c:pt>
                <c:pt idx="52">
                  <c:v>61</c:v>
                </c:pt>
                <c:pt idx="53">
                  <c:v>60.5</c:v>
                </c:pt>
                <c:pt idx="54">
                  <c:v>60.1</c:v>
                </c:pt>
                <c:pt idx="55">
                  <c:v>59.9</c:v>
                </c:pt>
                <c:pt idx="56">
                  <c:v>59.7</c:v>
                </c:pt>
                <c:pt idx="57">
                  <c:v>59.6</c:v>
                </c:pt>
                <c:pt idx="58">
                  <c:v>59.4</c:v>
                </c:pt>
                <c:pt idx="59">
                  <c:v>59.3</c:v>
                </c:pt>
                <c:pt idx="60">
                  <c:v>59.1</c:v>
                </c:pt>
                <c:pt idx="61">
                  <c:v>59.1</c:v>
                </c:pt>
                <c:pt idx="62">
                  <c:v>59.1</c:v>
                </c:pt>
                <c:pt idx="63">
                  <c:v>59.3</c:v>
                </c:pt>
                <c:pt idx="64">
                  <c:v>59.4</c:v>
                </c:pt>
                <c:pt idx="65">
                  <c:v>59.5</c:v>
                </c:pt>
                <c:pt idx="66">
                  <c:v>59.4</c:v>
                </c:pt>
                <c:pt idx="67">
                  <c:v>59.4</c:v>
                </c:pt>
                <c:pt idx="68">
                  <c:v>59.4</c:v>
                </c:pt>
                <c:pt idx="69">
                  <c:v>59.5</c:v>
                </c:pt>
                <c:pt idx="70">
                  <c:v>59.6</c:v>
                </c:pt>
                <c:pt idx="71">
                  <c:v>59.7</c:v>
                </c:pt>
                <c:pt idx="72">
                  <c:v>59.7</c:v>
                </c:pt>
                <c:pt idx="73">
                  <c:v>59.7</c:v>
                </c:pt>
                <c:pt idx="74">
                  <c:v>59.7</c:v>
                </c:pt>
                <c:pt idx="75">
                  <c:v>59.9</c:v>
                </c:pt>
                <c:pt idx="76">
                  <c:v>60.1</c:v>
                </c:pt>
                <c:pt idx="77">
                  <c:v>60.4</c:v>
                </c:pt>
                <c:pt idx="78">
                  <c:v>60.5</c:v>
                </c:pt>
                <c:pt idx="79">
                  <c:v>60.5</c:v>
                </c:pt>
                <c:pt idx="80">
                  <c:v>60.5</c:v>
                </c:pt>
                <c:pt idx="81">
                  <c:v>60.4</c:v>
                </c:pt>
                <c:pt idx="82">
                  <c:v>60.4</c:v>
                </c:pt>
                <c:pt idx="83">
                  <c:v>60.5</c:v>
                </c:pt>
                <c:pt idx="84">
                  <c:v>60.7</c:v>
                </c:pt>
                <c:pt idx="85">
                  <c:v>60.8</c:v>
                </c:pt>
                <c:pt idx="86">
                  <c:v>60.9</c:v>
                </c:pt>
                <c:pt idx="87">
                  <c:v>60.9</c:v>
                </c:pt>
                <c:pt idx="88">
                  <c:v>60.9</c:v>
                </c:pt>
                <c:pt idx="89">
                  <c:v>61</c:v>
                </c:pt>
                <c:pt idx="90">
                  <c:v>61.1</c:v>
                </c:pt>
                <c:pt idx="91">
                  <c:v>61.2</c:v>
                </c:pt>
                <c:pt idx="92">
                  <c:v>61.4</c:v>
                </c:pt>
                <c:pt idx="93">
                  <c:v>61.4</c:v>
                </c:pt>
                <c:pt idx="94">
                  <c:v>61.4</c:v>
                </c:pt>
                <c:pt idx="95">
                  <c:v>61.3</c:v>
                </c:pt>
                <c:pt idx="96">
                  <c:v>61.4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2"/>
          <c:min val="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B2B44"/>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Limit</c:v>
                </c:pt>
              </c:strCache>
            </c:strRef>
          </c:tx>
          <c:spPr>
            <a:solidFill>
              <a:srgbClr val="E4572E"/>
            </a:solidFill>
            <a:ln w="1905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Sheet1!$A$2:$A$98</c:f>
              <c:multiLvlStrCache>
                <c:ptCount val="97"/>
                <c:lvl>
                  <c:pt idx="0">
                    <c:v>6 PM</c:v>
                  </c:pt>
                  <c:pt idx="1">
                    <c:v>6:10 PM</c:v>
                  </c:pt>
                  <c:pt idx="2">
                    <c:v>6:20 PM</c:v>
                  </c:pt>
                  <c:pt idx="3">
                    <c:v>6:30 PM</c:v>
                  </c:pt>
                  <c:pt idx="4">
                    <c:v>6:40 PM</c:v>
                  </c:pt>
                  <c:pt idx="5">
                    <c:v>6:50 PM</c:v>
                  </c:pt>
                  <c:pt idx="6">
                    <c:v>7 PM</c:v>
                  </c:pt>
                  <c:pt idx="7">
                    <c:v>7:10 PM</c:v>
                  </c:pt>
                  <c:pt idx="8">
                    <c:v>7:20 PM</c:v>
                  </c:pt>
                  <c:pt idx="9">
                    <c:v>7:30 PM</c:v>
                  </c:pt>
                  <c:pt idx="10">
                    <c:v>7:40 PM</c:v>
                  </c:pt>
                  <c:pt idx="11">
                    <c:v>7:50 PM</c:v>
                  </c:pt>
                  <c:pt idx="12">
                    <c:v>8 PM</c:v>
                  </c:pt>
                  <c:pt idx="13">
                    <c:v>8:10 PM</c:v>
                  </c:pt>
                  <c:pt idx="14">
                    <c:v>8:20 PM</c:v>
                  </c:pt>
                  <c:pt idx="15">
                    <c:v>8:30 PM</c:v>
                  </c:pt>
                  <c:pt idx="16">
                    <c:v>8:40 PM</c:v>
                  </c:pt>
                  <c:pt idx="17">
                    <c:v>8:50 PM</c:v>
                  </c:pt>
                  <c:pt idx="18">
                    <c:v>9 PM</c:v>
                  </c:pt>
                  <c:pt idx="19">
                    <c:v>9:10 PM</c:v>
                  </c:pt>
                  <c:pt idx="20">
                    <c:v>9:20 PM</c:v>
                  </c:pt>
                  <c:pt idx="21">
                    <c:v>9:30 PM</c:v>
                  </c:pt>
                  <c:pt idx="22">
                    <c:v>9:40 PM</c:v>
                  </c:pt>
                  <c:pt idx="23">
                    <c:v>9:50 PM</c:v>
                  </c:pt>
                  <c:pt idx="24">
                    <c:v>10 PM</c:v>
                  </c:pt>
                  <c:pt idx="25">
                    <c:v>10:10 PM</c:v>
                  </c:pt>
                  <c:pt idx="26">
                    <c:v>10:20 PM</c:v>
                  </c:pt>
                  <c:pt idx="27">
                    <c:v>10:30 PM</c:v>
                  </c:pt>
                  <c:pt idx="28">
                    <c:v>10:40 PM</c:v>
                  </c:pt>
                  <c:pt idx="29">
                    <c:v>10:50 PM</c:v>
                  </c:pt>
                  <c:pt idx="30">
                    <c:v>11 PM</c:v>
                  </c:pt>
                  <c:pt idx="31">
                    <c:v>11:10 PM</c:v>
                  </c:pt>
                  <c:pt idx="32">
                    <c:v>11:20 PM</c:v>
                  </c:pt>
                  <c:pt idx="33">
                    <c:v>11:30 PM</c:v>
                  </c:pt>
                  <c:pt idx="34">
                    <c:v>11:40 PM</c:v>
                  </c:pt>
                  <c:pt idx="35">
                    <c:v>11:50 PM</c:v>
                  </c:pt>
                  <c:pt idx="36">
                    <c:v>12 AM</c:v>
                  </c:pt>
                  <c:pt idx="37">
                    <c:v>12:10 AM</c:v>
                  </c:pt>
                  <c:pt idx="38">
                    <c:v>12:20 AM</c:v>
                  </c:pt>
                  <c:pt idx="39">
                    <c:v>12:30 AM</c:v>
                  </c:pt>
                  <c:pt idx="40">
                    <c:v>12:40 AM</c:v>
                  </c:pt>
                  <c:pt idx="41">
                    <c:v>12:50 AM</c:v>
                  </c:pt>
                  <c:pt idx="42">
                    <c:v>1 AM</c:v>
                  </c:pt>
                  <c:pt idx="43">
                    <c:v>1:10 AM</c:v>
                  </c:pt>
                  <c:pt idx="44">
                    <c:v>1:20 AM</c:v>
                  </c:pt>
                  <c:pt idx="45">
                    <c:v>1:30 AM</c:v>
                  </c:pt>
                  <c:pt idx="46">
                    <c:v>1:40 AM</c:v>
                  </c:pt>
                  <c:pt idx="47">
                    <c:v>1:50 AM</c:v>
                  </c:pt>
                  <c:pt idx="48">
                    <c:v>2 AM</c:v>
                  </c:pt>
                  <c:pt idx="49">
                    <c:v>2:10 AM</c:v>
                  </c:pt>
                  <c:pt idx="50">
                    <c:v>2:20 AM</c:v>
                  </c:pt>
                  <c:pt idx="51">
                    <c:v>2:30 AM</c:v>
                  </c:pt>
                  <c:pt idx="52">
                    <c:v>2:40 AM</c:v>
                  </c:pt>
                  <c:pt idx="53">
                    <c:v>2:50 AM</c:v>
                  </c:pt>
                  <c:pt idx="54">
                    <c:v>3 AM</c:v>
                  </c:pt>
                  <c:pt idx="55">
                    <c:v>3:10 AM</c:v>
                  </c:pt>
                  <c:pt idx="56">
                    <c:v>3:20 AM</c:v>
                  </c:pt>
                  <c:pt idx="57">
                    <c:v>3:30 AM</c:v>
                  </c:pt>
                  <c:pt idx="58">
                    <c:v>3:40 AM</c:v>
                  </c:pt>
                  <c:pt idx="59">
                    <c:v>3:50 AM</c:v>
                  </c:pt>
                  <c:pt idx="60">
                    <c:v>4 AM</c:v>
                  </c:pt>
                  <c:pt idx="61">
                    <c:v>4:10 AM</c:v>
                  </c:pt>
                  <c:pt idx="62">
                    <c:v>4:20 AM</c:v>
                  </c:pt>
                  <c:pt idx="63">
                    <c:v>4:30 AM</c:v>
                  </c:pt>
                  <c:pt idx="64">
                    <c:v>4:40 AM</c:v>
                  </c:pt>
                  <c:pt idx="65">
                    <c:v>4:50 AM</c:v>
                  </c:pt>
                  <c:pt idx="66">
                    <c:v>5 AM</c:v>
                  </c:pt>
                  <c:pt idx="67">
                    <c:v>5:10 AM</c:v>
                  </c:pt>
                  <c:pt idx="68">
                    <c:v>5:20 AM</c:v>
                  </c:pt>
                  <c:pt idx="69">
                    <c:v>5:30 AM</c:v>
                  </c:pt>
                  <c:pt idx="70">
                    <c:v>5:40 AM</c:v>
                  </c:pt>
                  <c:pt idx="71">
                    <c:v>5:50 AM</c:v>
                  </c:pt>
                  <c:pt idx="72">
                    <c:v>6 AM</c:v>
                  </c:pt>
                  <c:pt idx="73">
                    <c:v>6:10 AM</c:v>
                  </c:pt>
                  <c:pt idx="74">
                    <c:v>6:20 AM</c:v>
                  </c:pt>
                  <c:pt idx="75">
                    <c:v>6:30 AM</c:v>
                  </c:pt>
                  <c:pt idx="76">
                    <c:v>6:40 AM</c:v>
                  </c:pt>
                  <c:pt idx="77">
                    <c:v>6:50 AM</c:v>
                  </c:pt>
                  <c:pt idx="78">
                    <c:v>7 AM</c:v>
                  </c:pt>
                  <c:pt idx="79">
                    <c:v>7:10 AM</c:v>
                  </c:pt>
                  <c:pt idx="80">
                    <c:v>7:20 AM</c:v>
                  </c:pt>
                  <c:pt idx="81">
                    <c:v>7:30 AM</c:v>
                  </c:pt>
                  <c:pt idx="82">
                    <c:v>7:40 AM</c:v>
                  </c:pt>
                  <c:pt idx="83">
                    <c:v>7:50 AM</c:v>
                  </c:pt>
                  <c:pt idx="84">
                    <c:v>8 AM</c:v>
                  </c:pt>
                  <c:pt idx="85">
                    <c:v>8:10 AM</c:v>
                  </c:pt>
                  <c:pt idx="86">
                    <c:v>8:20 AM</c:v>
                  </c:pt>
                  <c:pt idx="87">
                    <c:v>8:30 AM</c:v>
                  </c:pt>
                  <c:pt idx="88">
                    <c:v>8:40 AM</c:v>
                  </c:pt>
                  <c:pt idx="89">
                    <c:v>8:50 AM</c:v>
                  </c:pt>
                  <c:pt idx="90">
                    <c:v>9 AM</c:v>
                  </c:pt>
                  <c:pt idx="91">
                    <c:v>9:10 AM</c:v>
                  </c:pt>
                  <c:pt idx="92">
                    <c:v>9:20 AM</c:v>
                  </c:pt>
                  <c:pt idx="93">
                    <c:v>9:30 AM</c:v>
                  </c:pt>
                  <c:pt idx="94">
                    <c:v>9:40 AM</c:v>
                  </c:pt>
                  <c:pt idx="95">
                    <c:v>9:50 AM</c:v>
                  </c:pt>
                  <c:pt idx="96">
                    <c:v>10 AM</c:v>
                  </c:pt>
                </c:lvl>
              </c:multiLvlStrCache>
            </c:multiLvlStrRef>
          </c:cat>
          <c:val>
            <c:numRef>
              <c:f>Sheet1!$B$2:$B$98</c:f>
              <c:numCache>
                <c:formatCode>General</c:formatCode>
                <c:ptCount val="97"/>
                <c:pt idx="0">
                  <c:v>68</c:v>
                </c:pt>
                <c:pt idx="1">
                  <c:v>68</c:v>
                </c:pt>
                <c:pt idx="2">
                  <c:v>68</c:v>
                </c:pt>
                <c:pt idx="3">
                  <c:v>68</c:v>
                </c:pt>
                <c:pt idx="4">
                  <c:v>68</c:v>
                </c:pt>
                <c:pt idx="5">
                  <c:v>68</c:v>
                </c:pt>
                <c:pt idx="6">
                  <c:v>68</c:v>
                </c:pt>
                <c:pt idx="7">
                  <c:v>68</c:v>
                </c:pt>
                <c:pt idx="8">
                  <c:v>68</c:v>
                </c:pt>
                <c:pt idx="9">
                  <c:v>68</c:v>
                </c:pt>
                <c:pt idx="10">
                  <c:v>68</c:v>
                </c:pt>
                <c:pt idx="11">
                  <c:v>68</c:v>
                </c:pt>
                <c:pt idx="12">
                  <c:v>68</c:v>
                </c:pt>
                <c:pt idx="13">
                  <c:v>68</c:v>
                </c:pt>
                <c:pt idx="14">
                  <c:v>68</c:v>
                </c:pt>
                <c:pt idx="15">
                  <c:v>68</c:v>
                </c:pt>
                <c:pt idx="16">
                  <c:v>68</c:v>
                </c:pt>
                <c:pt idx="17">
                  <c:v>68</c:v>
                </c:pt>
                <c:pt idx="18">
                  <c:v>68</c:v>
                </c:pt>
                <c:pt idx="19">
                  <c:v>68</c:v>
                </c:pt>
                <c:pt idx="20">
                  <c:v>68</c:v>
                </c:pt>
                <c:pt idx="21">
                  <c:v>68</c:v>
                </c:pt>
                <c:pt idx="22">
                  <c:v>68</c:v>
                </c:pt>
                <c:pt idx="23">
                  <c:v>68</c:v>
                </c:pt>
                <c:pt idx="24">
                  <c:v>68</c:v>
                </c:pt>
                <c:pt idx="25">
                  <c:v>68</c:v>
                </c:pt>
                <c:pt idx="26">
                  <c:v>68</c:v>
                </c:pt>
                <c:pt idx="27">
                  <c:v>68</c:v>
                </c:pt>
                <c:pt idx="28">
                  <c:v>68</c:v>
                </c:pt>
                <c:pt idx="29">
                  <c:v>68</c:v>
                </c:pt>
                <c:pt idx="30">
                  <c:v>64</c:v>
                </c:pt>
                <c:pt idx="31">
                  <c:v>64</c:v>
                </c:pt>
                <c:pt idx="32">
                  <c:v>64</c:v>
                </c:pt>
                <c:pt idx="33">
                  <c:v>64</c:v>
                </c:pt>
                <c:pt idx="34">
                  <c:v>64</c:v>
                </c:pt>
                <c:pt idx="35">
                  <c:v>64</c:v>
                </c:pt>
                <c:pt idx="36">
                  <c:v>64</c:v>
                </c:pt>
                <c:pt idx="37">
                  <c:v>64</c:v>
                </c:pt>
                <c:pt idx="38">
                  <c:v>64</c:v>
                </c:pt>
                <c:pt idx="39">
                  <c:v>64</c:v>
                </c:pt>
                <c:pt idx="40">
                  <c:v>64</c:v>
                </c:pt>
                <c:pt idx="41">
                  <c:v>64</c:v>
                </c:pt>
                <c:pt idx="42">
                  <c:v>64</c:v>
                </c:pt>
                <c:pt idx="43">
                  <c:v>64</c:v>
                </c:pt>
                <c:pt idx="44">
                  <c:v>64</c:v>
                </c:pt>
                <c:pt idx="45">
                  <c:v>64</c:v>
                </c:pt>
                <c:pt idx="46">
                  <c:v>64</c:v>
                </c:pt>
                <c:pt idx="47">
                  <c:v>64</c:v>
                </c:pt>
                <c:pt idx="48">
                  <c:v>64</c:v>
                </c:pt>
                <c:pt idx="49">
                  <c:v>64</c:v>
                </c:pt>
                <c:pt idx="50">
                  <c:v>64</c:v>
                </c:pt>
                <c:pt idx="51">
                  <c:v>64</c:v>
                </c:pt>
                <c:pt idx="52">
                  <c:v>64</c:v>
                </c:pt>
                <c:pt idx="53">
                  <c:v>64</c:v>
                </c:pt>
                <c:pt idx="54">
                  <c:v>64</c:v>
                </c:pt>
                <c:pt idx="55">
                  <c:v>64</c:v>
                </c:pt>
                <c:pt idx="56">
                  <c:v>64</c:v>
                </c:pt>
                <c:pt idx="57">
                  <c:v>64</c:v>
                </c:pt>
                <c:pt idx="58">
                  <c:v>64</c:v>
                </c:pt>
                <c:pt idx="59">
                  <c:v>64</c:v>
                </c:pt>
                <c:pt idx="60">
                  <c:v>64</c:v>
                </c:pt>
                <c:pt idx="61">
                  <c:v>64</c:v>
                </c:pt>
                <c:pt idx="62">
                  <c:v>64</c:v>
                </c:pt>
                <c:pt idx="63">
                  <c:v>64</c:v>
                </c:pt>
                <c:pt idx="64">
                  <c:v>64</c:v>
                </c:pt>
                <c:pt idx="65">
                  <c:v>64</c:v>
                </c:pt>
                <c:pt idx="66">
                  <c:v>64</c:v>
                </c:pt>
                <c:pt idx="67">
                  <c:v>64</c:v>
                </c:pt>
                <c:pt idx="68">
                  <c:v>64</c:v>
                </c:pt>
                <c:pt idx="69">
                  <c:v>64</c:v>
                </c:pt>
                <c:pt idx="70">
                  <c:v>64</c:v>
                </c:pt>
                <c:pt idx="71">
                  <c:v>64</c:v>
                </c:pt>
                <c:pt idx="72">
                  <c:v>64</c:v>
                </c:pt>
                <c:pt idx="73">
                  <c:v>64</c:v>
                </c:pt>
                <c:pt idx="74">
                  <c:v>64</c:v>
                </c:pt>
                <c:pt idx="75">
                  <c:v>64</c:v>
                </c:pt>
                <c:pt idx="76">
                  <c:v>64</c:v>
                </c:pt>
                <c:pt idx="77">
                  <c:v>64</c:v>
                </c:pt>
                <c:pt idx="78">
                  <c:v>68</c:v>
                </c:pt>
                <c:pt idx="79">
                  <c:v>68</c:v>
                </c:pt>
                <c:pt idx="80">
                  <c:v>68</c:v>
                </c:pt>
                <c:pt idx="81">
                  <c:v>68</c:v>
                </c:pt>
                <c:pt idx="82">
                  <c:v>68</c:v>
                </c:pt>
                <c:pt idx="83">
                  <c:v>68</c:v>
                </c:pt>
                <c:pt idx="84">
                  <c:v>68</c:v>
                </c:pt>
                <c:pt idx="85">
                  <c:v>68</c:v>
                </c:pt>
                <c:pt idx="86">
                  <c:v>68</c:v>
                </c:pt>
                <c:pt idx="87">
                  <c:v>68</c:v>
                </c:pt>
                <c:pt idx="88">
                  <c:v>68</c:v>
                </c:pt>
                <c:pt idx="89">
                  <c:v>68</c:v>
                </c:pt>
                <c:pt idx="90">
                  <c:v>68</c:v>
                </c:pt>
                <c:pt idx="91">
                  <c:v>68</c:v>
                </c:pt>
                <c:pt idx="92">
                  <c:v>68</c:v>
                </c:pt>
                <c:pt idx="93">
                  <c:v>68</c:v>
                </c:pt>
                <c:pt idx="94">
                  <c:v>68</c:v>
                </c:pt>
                <c:pt idx="95">
                  <c:v>68</c:v>
                </c:pt>
                <c:pt idx="96">
                  <c:v>68</c:v>
                </c:pt>
              </c:numCache>
            </c:numRef>
          </c:val>
          <c:smooth val="0"/>
        </c:ser>
        <c:ser>
          <c:idx val="1"/>
          <c:order val="1"/>
          <c:tx>
            <c:strRef>
              <c:f>Sheet1!$C$1</c:f>
              <c:strCache>
                <c:ptCount val="1"/>
                <c:pt idx="0">
                  <c:v>Indoor</c:v>
                </c:pt>
              </c:strCache>
            </c:strRef>
          </c:tx>
          <c:spPr>
            <a:solidFill>
              <a:srgbClr val="0F1B2D"/>
            </a:solidFill>
            <a:ln w="19050" cap="flat">
              <a:solidFill>
                <a:srgbClr val="0F1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1B2D"/>
              </a:solidFill>
              <a:ln w="9525" cap="flat">
                <a:solidFill>
                  <a:srgbClr val="0F1B2D"/>
                </a:solidFill>
                <a:prstDash val="solid"/>
                <a:round/>
              </a:ln>
              <a:effectLst/>
            </c:spPr>
          </c:marker>
          <c:cat>
            <c:multiLvlStrRef>
              <c:f>Sheet1!$A$2:$A$98</c:f>
              <c:multiLvlStrCache>
                <c:ptCount val="97"/>
                <c:lvl>
                  <c:pt idx="0">
                    <c:v>6 PM</c:v>
                  </c:pt>
                  <c:pt idx="1">
                    <c:v>6:10 PM</c:v>
                  </c:pt>
                  <c:pt idx="2">
                    <c:v>6:20 PM</c:v>
                  </c:pt>
                  <c:pt idx="3">
                    <c:v>6:30 PM</c:v>
                  </c:pt>
                  <c:pt idx="4">
                    <c:v>6:40 PM</c:v>
                  </c:pt>
                  <c:pt idx="5">
                    <c:v>6:50 PM</c:v>
                  </c:pt>
                  <c:pt idx="6">
                    <c:v>7 PM</c:v>
                  </c:pt>
                  <c:pt idx="7">
                    <c:v>7:10 PM</c:v>
                  </c:pt>
                  <c:pt idx="8">
                    <c:v>7:20 PM</c:v>
                  </c:pt>
                  <c:pt idx="9">
                    <c:v>7:30 PM</c:v>
                  </c:pt>
                  <c:pt idx="10">
                    <c:v>7:40 PM</c:v>
                  </c:pt>
                  <c:pt idx="11">
                    <c:v>7:50 PM</c:v>
                  </c:pt>
                  <c:pt idx="12">
                    <c:v>8 PM</c:v>
                  </c:pt>
                  <c:pt idx="13">
                    <c:v>8:10 PM</c:v>
                  </c:pt>
                  <c:pt idx="14">
                    <c:v>8:20 PM</c:v>
                  </c:pt>
                  <c:pt idx="15">
                    <c:v>8:30 PM</c:v>
                  </c:pt>
                  <c:pt idx="16">
                    <c:v>8:40 PM</c:v>
                  </c:pt>
                  <c:pt idx="17">
                    <c:v>8:50 PM</c:v>
                  </c:pt>
                  <c:pt idx="18">
                    <c:v>9 PM</c:v>
                  </c:pt>
                  <c:pt idx="19">
                    <c:v>9:10 PM</c:v>
                  </c:pt>
                  <c:pt idx="20">
                    <c:v>9:20 PM</c:v>
                  </c:pt>
                  <c:pt idx="21">
                    <c:v>9:30 PM</c:v>
                  </c:pt>
                  <c:pt idx="22">
                    <c:v>9:40 PM</c:v>
                  </c:pt>
                  <c:pt idx="23">
                    <c:v>9:50 PM</c:v>
                  </c:pt>
                  <c:pt idx="24">
                    <c:v>10 PM</c:v>
                  </c:pt>
                  <c:pt idx="25">
                    <c:v>10:10 PM</c:v>
                  </c:pt>
                  <c:pt idx="26">
                    <c:v>10:20 PM</c:v>
                  </c:pt>
                  <c:pt idx="27">
                    <c:v>10:30 PM</c:v>
                  </c:pt>
                  <c:pt idx="28">
                    <c:v>10:40 PM</c:v>
                  </c:pt>
                  <c:pt idx="29">
                    <c:v>10:50 PM</c:v>
                  </c:pt>
                  <c:pt idx="30">
                    <c:v>11 PM</c:v>
                  </c:pt>
                  <c:pt idx="31">
                    <c:v>11:10 PM</c:v>
                  </c:pt>
                  <c:pt idx="32">
                    <c:v>11:20 PM</c:v>
                  </c:pt>
                  <c:pt idx="33">
                    <c:v>11:30 PM</c:v>
                  </c:pt>
                  <c:pt idx="34">
                    <c:v>11:40 PM</c:v>
                  </c:pt>
                  <c:pt idx="35">
                    <c:v>11:50 PM</c:v>
                  </c:pt>
                  <c:pt idx="36">
                    <c:v>12 AM</c:v>
                  </c:pt>
                  <c:pt idx="37">
                    <c:v>12:10 AM</c:v>
                  </c:pt>
                  <c:pt idx="38">
                    <c:v>12:20 AM</c:v>
                  </c:pt>
                  <c:pt idx="39">
                    <c:v>12:30 AM</c:v>
                  </c:pt>
                  <c:pt idx="40">
                    <c:v>12:40 AM</c:v>
                  </c:pt>
                  <c:pt idx="41">
                    <c:v>12:50 AM</c:v>
                  </c:pt>
                  <c:pt idx="42">
                    <c:v>1 AM</c:v>
                  </c:pt>
                  <c:pt idx="43">
                    <c:v>1:10 AM</c:v>
                  </c:pt>
                  <c:pt idx="44">
                    <c:v>1:20 AM</c:v>
                  </c:pt>
                  <c:pt idx="45">
                    <c:v>1:30 AM</c:v>
                  </c:pt>
                  <c:pt idx="46">
                    <c:v>1:40 AM</c:v>
                  </c:pt>
                  <c:pt idx="47">
                    <c:v>1:50 AM</c:v>
                  </c:pt>
                  <c:pt idx="48">
                    <c:v>2 AM</c:v>
                  </c:pt>
                  <c:pt idx="49">
                    <c:v>2:10 AM</c:v>
                  </c:pt>
                  <c:pt idx="50">
                    <c:v>2:20 AM</c:v>
                  </c:pt>
                  <c:pt idx="51">
                    <c:v>2:30 AM</c:v>
                  </c:pt>
                  <c:pt idx="52">
                    <c:v>2:40 AM</c:v>
                  </c:pt>
                  <c:pt idx="53">
                    <c:v>2:50 AM</c:v>
                  </c:pt>
                  <c:pt idx="54">
                    <c:v>3 AM</c:v>
                  </c:pt>
                  <c:pt idx="55">
                    <c:v>3:10 AM</c:v>
                  </c:pt>
                  <c:pt idx="56">
                    <c:v>3:20 AM</c:v>
                  </c:pt>
                  <c:pt idx="57">
                    <c:v>3:30 AM</c:v>
                  </c:pt>
                  <c:pt idx="58">
                    <c:v>3:40 AM</c:v>
                  </c:pt>
                  <c:pt idx="59">
                    <c:v>3:50 AM</c:v>
                  </c:pt>
                  <c:pt idx="60">
                    <c:v>4 AM</c:v>
                  </c:pt>
                  <c:pt idx="61">
                    <c:v>4:10 AM</c:v>
                  </c:pt>
                  <c:pt idx="62">
                    <c:v>4:20 AM</c:v>
                  </c:pt>
                  <c:pt idx="63">
                    <c:v>4:30 AM</c:v>
                  </c:pt>
                  <c:pt idx="64">
                    <c:v>4:40 AM</c:v>
                  </c:pt>
                  <c:pt idx="65">
                    <c:v>4:50 AM</c:v>
                  </c:pt>
                  <c:pt idx="66">
                    <c:v>5 AM</c:v>
                  </c:pt>
                  <c:pt idx="67">
                    <c:v>5:10 AM</c:v>
                  </c:pt>
                  <c:pt idx="68">
                    <c:v>5:20 AM</c:v>
                  </c:pt>
                  <c:pt idx="69">
                    <c:v>5:30 AM</c:v>
                  </c:pt>
                  <c:pt idx="70">
                    <c:v>5:40 AM</c:v>
                  </c:pt>
                  <c:pt idx="71">
                    <c:v>5:50 AM</c:v>
                  </c:pt>
                  <c:pt idx="72">
                    <c:v>6 AM</c:v>
                  </c:pt>
                  <c:pt idx="73">
                    <c:v>6:10 AM</c:v>
                  </c:pt>
                  <c:pt idx="74">
                    <c:v>6:20 AM</c:v>
                  </c:pt>
                  <c:pt idx="75">
                    <c:v>6:30 AM</c:v>
                  </c:pt>
                  <c:pt idx="76">
                    <c:v>6:40 AM</c:v>
                  </c:pt>
                  <c:pt idx="77">
                    <c:v>6:50 AM</c:v>
                  </c:pt>
                  <c:pt idx="78">
                    <c:v>7 AM</c:v>
                  </c:pt>
                  <c:pt idx="79">
                    <c:v>7:10 AM</c:v>
                  </c:pt>
                  <c:pt idx="80">
                    <c:v>7:20 AM</c:v>
                  </c:pt>
                  <c:pt idx="81">
                    <c:v>7:30 AM</c:v>
                  </c:pt>
                  <c:pt idx="82">
                    <c:v>7:40 AM</c:v>
                  </c:pt>
                  <c:pt idx="83">
                    <c:v>7:50 AM</c:v>
                  </c:pt>
                  <c:pt idx="84">
                    <c:v>8 AM</c:v>
                  </c:pt>
                  <c:pt idx="85">
                    <c:v>8:10 AM</c:v>
                  </c:pt>
                  <c:pt idx="86">
                    <c:v>8:20 AM</c:v>
                  </c:pt>
                  <c:pt idx="87">
                    <c:v>8:30 AM</c:v>
                  </c:pt>
                  <c:pt idx="88">
                    <c:v>8:40 AM</c:v>
                  </c:pt>
                  <c:pt idx="89">
                    <c:v>8:50 AM</c:v>
                  </c:pt>
                  <c:pt idx="90">
                    <c:v>9 AM</c:v>
                  </c:pt>
                  <c:pt idx="91">
                    <c:v>9:10 AM</c:v>
                  </c:pt>
                  <c:pt idx="92">
                    <c:v>9:20 AM</c:v>
                  </c:pt>
                  <c:pt idx="93">
                    <c:v>9:30 AM</c:v>
                  </c:pt>
                  <c:pt idx="94">
                    <c:v>9:40 AM</c:v>
                  </c:pt>
                  <c:pt idx="95">
                    <c:v>9:50 AM</c:v>
                  </c:pt>
                  <c:pt idx="96">
                    <c:v>10 AM</c:v>
                  </c:pt>
                </c:lvl>
              </c:multiLvlStrCache>
            </c:multiLvlStrRef>
          </c:cat>
          <c:val>
            <c:numRef>
              <c:f>Sheet1!$C$2:$C$98</c:f>
              <c:numCache>
                <c:formatCode>General</c:formatCode>
                <c:ptCount val="97"/>
                <c:pt idx="0">
                  <c:v>70.4</c:v>
                </c:pt>
                <c:pt idx="1">
                  <c:v>70.4</c:v>
                </c:pt>
                <c:pt idx="2">
                  <c:v>70.2</c:v>
                </c:pt>
                <c:pt idx="3">
                  <c:v>69.9</c:v>
                </c:pt>
                <c:pt idx="4">
                  <c:v>69.4</c:v>
                </c:pt>
                <c:pt idx="5">
                  <c:v>68.9</c:v>
                </c:pt>
                <c:pt idx="6">
                  <c:v>68.5</c:v>
                </c:pt>
                <c:pt idx="7">
                  <c:v>68.3</c:v>
                </c:pt>
                <c:pt idx="8">
                  <c:v>68.2</c:v>
                </c:pt>
                <c:pt idx="9">
                  <c:v>68.1</c:v>
                </c:pt>
                <c:pt idx="10">
                  <c:v>68</c:v>
                </c:pt>
                <c:pt idx="11">
                  <c:v>67.9</c:v>
                </c:pt>
                <c:pt idx="12">
                  <c:v>67.7</c:v>
                </c:pt>
                <c:pt idx="13">
                  <c:v>67.6</c:v>
                </c:pt>
                <c:pt idx="14">
                  <c:v>67.6</c:v>
                </c:pt>
                <c:pt idx="15">
                  <c:v>67.5</c:v>
                </c:pt>
                <c:pt idx="16">
                  <c:v>67.3</c:v>
                </c:pt>
                <c:pt idx="17">
                  <c:v>67</c:v>
                </c:pt>
                <c:pt idx="18">
                  <c:v>66.6</c:v>
                </c:pt>
                <c:pt idx="19">
                  <c:v>66.3</c:v>
                </c:pt>
                <c:pt idx="20">
                  <c:v>66.1</c:v>
                </c:pt>
                <c:pt idx="21">
                  <c:v>65.9</c:v>
                </c:pt>
                <c:pt idx="22">
                  <c:v>65.8</c:v>
                </c:pt>
                <c:pt idx="23">
                  <c:v>65.6</c:v>
                </c:pt>
                <c:pt idx="24">
                  <c:v>65.3</c:v>
                </c:pt>
                <c:pt idx="25">
                  <c:v>65</c:v>
                </c:pt>
                <c:pt idx="26">
                  <c:v>64.8</c:v>
                </c:pt>
                <c:pt idx="27">
                  <c:v>64.7</c:v>
                </c:pt>
                <c:pt idx="28">
                  <c:v>64.7</c:v>
                </c:pt>
                <c:pt idx="29">
                  <c:v>64.7</c:v>
                </c:pt>
                <c:pt idx="30">
                  <c:v>64.7</c:v>
                </c:pt>
                <c:pt idx="31">
                  <c:v>64.6</c:v>
                </c:pt>
                <c:pt idx="32">
                  <c:v>64.5</c:v>
                </c:pt>
                <c:pt idx="33">
                  <c:v>64.3</c:v>
                </c:pt>
                <c:pt idx="34">
                  <c:v>64.2</c:v>
                </c:pt>
                <c:pt idx="35">
                  <c:v>64.2</c:v>
                </c:pt>
                <c:pt idx="36">
                  <c:v>64.1</c:v>
                </c:pt>
                <c:pt idx="37">
                  <c:v>64</c:v>
                </c:pt>
                <c:pt idx="38">
                  <c:v>63.7</c:v>
                </c:pt>
                <c:pt idx="39">
                  <c:v>63.5</c:v>
                </c:pt>
                <c:pt idx="40">
                  <c:v>63.4</c:v>
                </c:pt>
                <c:pt idx="41">
                  <c:v>63.3</c:v>
                </c:pt>
                <c:pt idx="42">
                  <c:v>63.4</c:v>
                </c:pt>
                <c:pt idx="43">
                  <c:v>63.5</c:v>
                </c:pt>
                <c:pt idx="44">
                  <c:v>63.4</c:v>
                </c:pt>
                <c:pt idx="45">
                  <c:v>63.2</c:v>
                </c:pt>
                <c:pt idx="46">
                  <c:v>62.8</c:v>
                </c:pt>
                <c:pt idx="47">
                  <c:v>62.5</c:v>
                </c:pt>
                <c:pt idx="48">
                  <c:v>62.3</c:v>
                </c:pt>
                <c:pt idx="49">
                  <c:v>62</c:v>
                </c:pt>
                <c:pt idx="50">
                  <c:v>61.8</c:v>
                </c:pt>
                <c:pt idx="51">
                  <c:v>61.4</c:v>
                </c:pt>
                <c:pt idx="52">
                  <c:v>61</c:v>
                </c:pt>
                <c:pt idx="53">
                  <c:v>60.5</c:v>
                </c:pt>
                <c:pt idx="54">
                  <c:v>60.1</c:v>
                </c:pt>
                <c:pt idx="55">
                  <c:v>59.9</c:v>
                </c:pt>
                <c:pt idx="56">
                  <c:v>59.7</c:v>
                </c:pt>
                <c:pt idx="57">
                  <c:v>59.6</c:v>
                </c:pt>
                <c:pt idx="58">
                  <c:v>59.4</c:v>
                </c:pt>
                <c:pt idx="59">
                  <c:v>59.3</c:v>
                </c:pt>
                <c:pt idx="60">
                  <c:v>59.1</c:v>
                </c:pt>
                <c:pt idx="61">
                  <c:v>59.1</c:v>
                </c:pt>
                <c:pt idx="62">
                  <c:v>59.1</c:v>
                </c:pt>
                <c:pt idx="63">
                  <c:v>59.3</c:v>
                </c:pt>
                <c:pt idx="64">
                  <c:v>59.4</c:v>
                </c:pt>
                <c:pt idx="65">
                  <c:v>59.5</c:v>
                </c:pt>
                <c:pt idx="66">
                  <c:v>59.4</c:v>
                </c:pt>
                <c:pt idx="67">
                  <c:v>59.4</c:v>
                </c:pt>
                <c:pt idx="68">
                  <c:v>59.4</c:v>
                </c:pt>
                <c:pt idx="69">
                  <c:v>59.5</c:v>
                </c:pt>
                <c:pt idx="70">
                  <c:v>59.6</c:v>
                </c:pt>
                <c:pt idx="71">
                  <c:v>59.7</c:v>
                </c:pt>
                <c:pt idx="72">
                  <c:v>59.7</c:v>
                </c:pt>
                <c:pt idx="73">
                  <c:v>59.7</c:v>
                </c:pt>
                <c:pt idx="74">
                  <c:v>59.7</c:v>
                </c:pt>
                <c:pt idx="75">
                  <c:v>59.9</c:v>
                </c:pt>
                <c:pt idx="76">
                  <c:v>60.1</c:v>
                </c:pt>
                <c:pt idx="77">
                  <c:v>60.4</c:v>
                </c:pt>
                <c:pt idx="78">
                  <c:v>60.5</c:v>
                </c:pt>
                <c:pt idx="79">
                  <c:v>60.5</c:v>
                </c:pt>
                <c:pt idx="80">
                  <c:v>60.5</c:v>
                </c:pt>
                <c:pt idx="81">
                  <c:v>60.4</c:v>
                </c:pt>
                <c:pt idx="82">
                  <c:v>60.4</c:v>
                </c:pt>
                <c:pt idx="83">
                  <c:v>60.5</c:v>
                </c:pt>
                <c:pt idx="84">
                  <c:v>60.7</c:v>
                </c:pt>
                <c:pt idx="85">
                  <c:v>60.8</c:v>
                </c:pt>
                <c:pt idx="86">
                  <c:v>60.9</c:v>
                </c:pt>
                <c:pt idx="87">
                  <c:v>60.9</c:v>
                </c:pt>
                <c:pt idx="88">
                  <c:v>60.9</c:v>
                </c:pt>
                <c:pt idx="89">
                  <c:v>61</c:v>
                </c:pt>
                <c:pt idx="90">
                  <c:v>61.1</c:v>
                </c:pt>
                <c:pt idx="91">
                  <c:v>61.2</c:v>
                </c:pt>
                <c:pt idx="92">
                  <c:v>61.4</c:v>
                </c:pt>
                <c:pt idx="93">
                  <c:v>61.4</c:v>
                </c:pt>
                <c:pt idx="94">
                  <c:v>61.4</c:v>
                </c:pt>
                <c:pt idx="95">
                  <c:v>61.3</c:v>
                </c:pt>
                <c:pt idx="96">
                  <c:v>61.4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2"/>
          <c:min val="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Sheet1!$A$2:$A$98</c:f>
              <c:multiLvlStrCache>
                <c:ptCount val="97"/>
                <c:lvl>
                  <c:pt idx="0">
                    <c:v>6 PM</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 PM</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12 AM</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3 AM</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6 AM</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9 AM</c:v>
                  </c:pt>
                  <c:pt idx="91">
                    <c:v/>
                  </c:pt>
                  <c:pt idx="92">
                    <c:v/>
                  </c:pt>
                  <c:pt idx="93">
                    <c:v/>
                  </c:pt>
                  <c:pt idx="94">
                    <c:v/>
                  </c:pt>
                  <c:pt idx="95">
                    <c:v/>
                  </c:pt>
                  <c:pt idx="96">
                    <c:v/>
                  </c:pt>
                </c:lvl>
              </c:multiLvlStrCache>
            </c:multiLvlStrRef>
          </c:cat>
          <c:val>
            <c:numRef>
              <c:f>Sheet1!$B$2:$B$98</c:f>
              <c:numCache>
                <c:formatCode>General</c:formatCode>
                <c:ptCount val="97"/>
                <c:pt idx="0">
                  <c:v>68</c:v>
                </c:pt>
                <c:pt idx="1">
                  <c:v>68</c:v>
                </c:pt>
                <c:pt idx="2">
                  <c:v>68</c:v>
                </c:pt>
                <c:pt idx="3">
                  <c:v>68</c:v>
                </c:pt>
                <c:pt idx="4">
                  <c:v>68</c:v>
                </c:pt>
                <c:pt idx="5">
                  <c:v>68</c:v>
                </c:pt>
                <c:pt idx="6">
                  <c:v>68</c:v>
                </c:pt>
                <c:pt idx="7">
                  <c:v>68</c:v>
                </c:pt>
                <c:pt idx="8">
                  <c:v>68</c:v>
                </c:pt>
                <c:pt idx="9">
                  <c:v>68</c:v>
                </c:pt>
                <c:pt idx="10">
                  <c:v>68</c:v>
                </c:pt>
                <c:pt idx="11">
                  <c:v>67.9</c:v>
                </c:pt>
                <c:pt idx="12">
                  <c:v>67.7</c:v>
                </c:pt>
                <c:pt idx="13">
                  <c:v>67.6</c:v>
                </c:pt>
                <c:pt idx="14">
                  <c:v>67.6</c:v>
                </c:pt>
                <c:pt idx="15">
                  <c:v>67.5</c:v>
                </c:pt>
                <c:pt idx="16">
                  <c:v>67.3</c:v>
                </c:pt>
                <c:pt idx="17">
                  <c:v>67</c:v>
                </c:pt>
                <c:pt idx="18">
                  <c:v>66.6</c:v>
                </c:pt>
                <c:pt idx="19">
                  <c:v>66.3</c:v>
                </c:pt>
                <c:pt idx="20">
                  <c:v>66.1</c:v>
                </c:pt>
                <c:pt idx="21">
                  <c:v>65.9</c:v>
                </c:pt>
                <c:pt idx="22">
                  <c:v>65.8</c:v>
                </c:pt>
                <c:pt idx="23">
                  <c:v>65.6</c:v>
                </c:pt>
                <c:pt idx="24">
                  <c:v>65.3</c:v>
                </c:pt>
                <c:pt idx="25">
                  <c:v>65</c:v>
                </c:pt>
                <c:pt idx="26">
                  <c:v>64.8</c:v>
                </c:pt>
                <c:pt idx="27">
                  <c:v>64.7</c:v>
                </c:pt>
                <c:pt idx="28">
                  <c:v>64.7</c:v>
                </c:pt>
                <c:pt idx="29">
                  <c:v>64.7</c:v>
                </c:pt>
                <c:pt idx="30">
                  <c:v>64</c:v>
                </c:pt>
                <c:pt idx="31">
                  <c:v>64</c:v>
                </c:pt>
                <c:pt idx="32">
                  <c:v>64</c:v>
                </c:pt>
                <c:pt idx="33">
                  <c:v>64</c:v>
                </c:pt>
                <c:pt idx="34">
                  <c:v>64</c:v>
                </c:pt>
                <c:pt idx="35">
                  <c:v>64</c:v>
                </c:pt>
                <c:pt idx="36">
                  <c:v>64</c:v>
                </c:pt>
                <c:pt idx="37">
                  <c:v>64</c:v>
                </c:pt>
                <c:pt idx="38">
                  <c:v>63.7</c:v>
                </c:pt>
                <c:pt idx="39">
                  <c:v>63.5</c:v>
                </c:pt>
                <c:pt idx="40">
                  <c:v>63.4</c:v>
                </c:pt>
                <c:pt idx="41">
                  <c:v>63.3</c:v>
                </c:pt>
                <c:pt idx="42">
                  <c:v>63.4</c:v>
                </c:pt>
                <c:pt idx="43">
                  <c:v>63.5</c:v>
                </c:pt>
                <c:pt idx="44">
                  <c:v>63.4</c:v>
                </c:pt>
                <c:pt idx="45">
                  <c:v>63.2</c:v>
                </c:pt>
                <c:pt idx="46">
                  <c:v>62.8</c:v>
                </c:pt>
                <c:pt idx="47">
                  <c:v>62.5</c:v>
                </c:pt>
                <c:pt idx="48">
                  <c:v>62.3</c:v>
                </c:pt>
                <c:pt idx="49">
                  <c:v>62</c:v>
                </c:pt>
                <c:pt idx="50">
                  <c:v>61.8</c:v>
                </c:pt>
                <c:pt idx="51">
                  <c:v>61.4</c:v>
                </c:pt>
                <c:pt idx="52">
                  <c:v>61</c:v>
                </c:pt>
                <c:pt idx="53">
                  <c:v>60.5</c:v>
                </c:pt>
                <c:pt idx="54">
                  <c:v>60.1</c:v>
                </c:pt>
                <c:pt idx="55">
                  <c:v>59.9</c:v>
                </c:pt>
                <c:pt idx="56">
                  <c:v>59.7</c:v>
                </c:pt>
                <c:pt idx="57">
                  <c:v>59.6</c:v>
                </c:pt>
                <c:pt idx="58">
                  <c:v>59.4</c:v>
                </c:pt>
                <c:pt idx="59">
                  <c:v>59.3</c:v>
                </c:pt>
                <c:pt idx="60">
                  <c:v>59.1</c:v>
                </c:pt>
                <c:pt idx="61">
                  <c:v>59.1</c:v>
                </c:pt>
                <c:pt idx="62">
                  <c:v>59.1</c:v>
                </c:pt>
                <c:pt idx="63">
                  <c:v>59.3</c:v>
                </c:pt>
                <c:pt idx="64">
                  <c:v>59.4</c:v>
                </c:pt>
                <c:pt idx="65">
                  <c:v>59.5</c:v>
                </c:pt>
                <c:pt idx="66">
                  <c:v>59.4</c:v>
                </c:pt>
                <c:pt idx="67">
                  <c:v>59.4</c:v>
                </c:pt>
                <c:pt idx="68">
                  <c:v>59.4</c:v>
                </c:pt>
                <c:pt idx="69">
                  <c:v>59.5</c:v>
                </c:pt>
                <c:pt idx="70">
                  <c:v>59.6</c:v>
                </c:pt>
                <c:pt idx="71">
                  <c:v>59.7</c:v>
                </c:pt>
                <c:pt idx="72">
                  <c:v>59.7</c:v>
                </c:pt>
                <c:pt idx="73">
                  <c:v>59.7</c:v>
                </c:pt>
                <c:pt idx="74">
                  <c:v>59.7</c:v>
                </c:pt>
                <c:pt idx="75">
                  <c:v>59.9</c:v>
                </c:pt>
                <c:pt idx="76">
                  <c:v>60.1</c:v>
                </c:pt>
                <c:pt idx="77">
                  <c:v>60.4</c:v>
                </c:pt>
                <c:pt idx="78">
                  <c:v>60.5</c:v>
                </c:pt>
                <c:pt idx="79">
                  <c:v>60.5</c:v>
                </c:pt>
                <c:pt idx="80">
                  <c:v>60.5</c:v>
                </c:pt>
                <c:pt idx="81">
                  <c:v>60.4</c:v>
                </c:pt>
                <c:pt idx="82">
                  <c:v>60.4</c:v>
                </c:pt>
                <c:pt idx="83">
                  <c:v>60.5</c:v>
                </c:pt>
                <c:pt idx="84">
                  <c:v>60.7</c:v>
                </c:pt>
                <c:pt idx="85">
                  <c:v>60.8</c:v>
                </c:pt>
                <c:pt idx="86">
                  <c:v>60.9</c:v>
                </c:pt>
                <c:pt idx="87">
                  <c:v>60.9</c:v>
                </c:pt>
                <c:pt idx="88">
                  <c:v>60.9</c:v>
                </c:pt>
                <c:pt idx="89">
                  <c:v>61</c:v>
                </c:pt>
                <c:pt idx="90">
                  <c:v>61.1</c:v>
                </c:pt>
                <c:pt idx="91">
                  <c:v>61.2</c:v>
                </c:pt>
                <c:pt idx="92">
                  <c:v>61.4</c:v>
                </c:pt>
                <c:pt idx="93">
                  <c:v>61.4</c:v>
                </c:pt>
                <c:pt idx="94">
                  <c:v>61.4</c:v>
                </c:pt>
                <c:pt idx="95">
                  <c:v>61.3</c:v>
                </c:pt>
                <c:pt idx="96">
                  <c:v>61.4</c:v>
                </c:pt>
              </c:numCache>
            </c:numRef>
          </c:val>
        </c:ser>
        <c:ser>
          <c:idx val="1"/>
          <c:order val="1"/>
          <c:tx>
            <c:strRef>
              <c:f>Sheet1!$C$1</c:f>
              <c:strCache>
                <c:ptCount val="1"/>
                <c:pt idx="0">
                  <c:v>Below the legal limit</c:v>
                </c:pt>
              </c:strCache>
            </c:strRef>
          </c:tx>
          <c:spPr>
            <a:solidFill>
              <a:srgbClr val="F7B9A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Sheet1!$A$2:$A$98</c:f>
              <c:multiLvlStrCache>
                <c:ptCount val="97"/>
                <c:lvl>
                  <c:pt idx="0">
                    <c:v>6 PM</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 PM</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12 AM</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3 AM</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6 AM</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9 AM</c:v>
                  </c:pt>
                  <c:pt idx="91">
                    <c:v/>
                  </c:pt>
                  <c:pt idx="92">
                    <c:v/>
                  </c:pt>
                  <c:pt idx="93">
                    <c:v/>
                  </c:pt>
                  <c:pt idx="94">
                    <c:v/>
                  </c:pt>
                  <c:pt idx="95">
                    <c:v/>
                  </c:pt>
                  <c:pt idx="96">
                    <c:v/>
                  </c:pt>
                </c:lvl>
              </c:multiLvlStrCache>
            </c:multiLvlStrRef>
          </c:cat>
          <c:val>
            <c:numRef>
              <c:f>Sheet1!$C$2:$C$98</c:f>
              <c:numCache>
                <c:formatCode>General</c:formatCode>
                <c:ptCount val="97"/>
                <c:pt idx="0">
                  <c:v>0</c:v>
                </c:pt>
                <c:pt idx="1">
                  <c:v>0</c:v>
                </c:pt>
                <c:pt idx="2">
                  <c:v>0</c:v>
                </c:pt>
                <c:pt idx="3">
                  <c:v>0</c:v>
                </c:pt>
                <c:pt idx="4">
                  <c:v>0</c:v>
                </c:pt>
                <c:pt idx="5">
                  <c:v>0</c:v>
                </c:pt>
                <c:pt idx="6">
                  <c:v>0</c:v>
                </c:pt>
                <c:pt idx="7">
                  <c:v>0</c:v>
                </c:pt>
                <c:pt idx="8">
                  <c:v>0</c:v>
                </c:pt>
                <c:pt idx="9">
                  <c:v>0</c:v>
                </c:pt>
                <c:pt idx="10">
                  <c:v>0</c:v>
                </c:pt>
                <c:pt idx="11">
                  <c:v>0.1</c:v>
                </c:pt>
                <c:pt idx="12">
                  <c:v>0.3</c:v>
                </c:pt>
                <c:pt idx="13">
                  <c:v>0.4</c:v>
                </c:pt>
                <c:pt idx="14">
                  <c:v>0.4</c:v>
                </c:pt>
                <c:pt idx="15">
                  <c:v>0.5</c:v>
                </c:pt>
                <c:pt idx="16">
                  <c:v>0.7</c:v>
                </c:pt>
                <c:pt idx="17">
                  <c:v>1</c:v>
                </c:pt>
                <c:pt idx="18">
                  <c:v>1.4</c:v>
                </c:pt>
                <c:pt idx="19">
                  <c:v>1.7</c:v>
                </c:pt>
                <c:pt idx="20">
                  <c:v>1.9</c:v>
                </c:pt>
                <c:pt idx="21">
                  <c:v>2.1</c:v>
                </c:pt>
                <c:pt idx="22">
                  <c:v>2.2</c:v>
                </c:pt>
                <c:pt idx="23">
                  <c:v>2.4</c:v>
                </c:pt>
                <c:pt idx="24">
                  <c:v>2.7</c:v>
                </c:pt>
                <c:pt idx="25">
                  <c:v>3</c:v>
                </c:pt>
                <c:pt idx="26">
                  <c:v>3.2</c:v>
                </c:pt>
                <c:pt idx="27">
                  <c:v>3.3</c:v>
                </c:pt>
                <c:pt idx="28">
                  <c:v>3.3</c:v>
                </c:pt>
                <c:pt idx="29">
                  <c:v>3.3</c:v>
                </c:pt>
                <c:pt idx="30">
                  <c:v>0</c:v>
                </c:pt>
                <c:pt idx="31">
                  <c:v>0</c:v>
                </c:pt>
                <c:pt idx="32">
                  <c:v>0</c:v>
                </c:pt>
                <c:pt idx="33">
                  <c:v>0</c:v>
                </c:pt>
                <c:pt idx="34">
                  <c:v>0</c:v>
                </c:pt>
                <c:pt idx="35">
                  <c:v>0</c:v>
                </c:pt>
                <c:pt idx="36">
                  <c:v>0</c:v>
                </c:pt>
                <c:pt idx="37">
                  <c:v>0</c:v>
                </c:pt>
                <c:pt idx="38">
                  <c:v>0.3</c:v>
                </c:pt>
                <c:pt idx="39">
                  <c:v>0.5</c:v>
                </c:pt>
                <c:pt idx="40">
                  <c:v>0.6</c:v>
                </c:pt>
                <c:pt idx="41">
                  <c:v>0.7</c:v>
                </c:pt>
                <c:pt idx="42">
                  <c:v>0.6</c:v>
                </c:pt>
                <c:pt idx="43">
                  <c:v>0.5</c:v>
                </c:pt>
                <c:pt idx="44">
                  <c:v>0.6</c:v>
                </c:pt>
                <c:pt idx="45">
                  <c:v>0.8</c:v>
                </c:pt>
                <c:pt idx="46">
                  <c:v>1.2</c:v>
                </c:pt>
                <c:pt idx="47">
                  <c:v>1.5</c:v>
                </c:pt>
                <c:pt idx="48">
                  <c:v>1.7</c:v>
                </c:pt>
                <c:pt idx="49">
                  <c:v>2</c:v>
                </c:pt>
                <c:pt idx="50">
                  <c:v>2.2</c:v>
                </c:pt>
                <c:pt idx="51">
                  <c:v>2.6</c:v>
                </c:pt>
                <c:pt idx="52">
                  <c:v>3</c:v>
                </c:pt>
                <c:pt idx="53">
                  <c:v>3.5</c:v>
                </c:pt>
                <c:pt idx="54">
                  <c:v>3.9</c:v>
                </c:pt>
                <c:pt idx="55">
                  <c:v>4.1</c:v>
                </c:pt>
                <c:pt idx="56">
                  <c:v>4.3</c:v>
                </c:pt>
                <c:pt idx="57">
                  <c:v>4.4</c:v>
                </c:pt>
                <c:pt idx="58">
                  <c:v>4.6</c:v>
                </c:pt>
                <c:pt idx="59">
                  <c:v>4.7</c:v>
                </c:pt>
                <c:pt idx="60">
                  <c:v>4.9</c:v>
                </c:pt>
                <c:pt idx="61">
                  <c:v>4.9</c:v>
                </c:pt>
                <c:pt idx="62">
                  <c:v>4.9</c:v>
                </c:pt>
                <c:pt idx="63">
                  <c:v>4.7</c:v>
                </c:pt>
                <c:pt idx="64">
                  <c:v>4.6</c:v>
                </c:pt>
                <c:pt idx="65">
                  <c:v>4.5</c:v>
                </c:pt>
                <c:pt idx="66">
                  <c:v>4.6</c:v>
                </c:pt>
                <c:pt idx="67">
                  <c:v>4.6</c:v>
                </c:pt>
                <c:pt idx="68">
                  <c:v>4.6</c:v>
                </c:pt>
                <c:pt idx="69">
                  <c:v>4.5</c:v>
                </c:pt>
                <c:pt idx="70">
                  <c:v>4.4</c:v>
                </c:pt>
                <c:pt idx="71">
                  <c:v>4.3</c:v>
                </c:pt>
                <c:pt idx="72">
                  <c:v>4.3</c:v>
                </c:pt>
                <c:pt idx="73">
                  <c:v>4.3</c:v>
                </c:pt>
                <c:pt idx="74">
                  <c:v>4.3</c:v>
                </c:pt>
                <c:pt idx="75">
                  <c:v>4.1</c:v>
                </c:pt>
                <c:pt idx="76">
                  <c:v>3.9</c:v>
                </c:pt>
                <c:pt idx="77">
                  <c:v>3.6</c:v>
                </c:pt>
                <c:pt idx="78">
                  <c:v>7.5</c:v>
                </c:pt>
                <c:pt idx="79">
                  <c:v>7.5</c:v>
                </c:pt>
                <c:pt idx="80">
                  <c:v>7.5</c:v>
                </c:pt>
                <c:pt idx="81">
                  <c:v>7.6</c:v>
                </c:pt>
                <c:pt idx="82">
                  <c:v>7.6</c:v>
                </c:pt>
                <c:pt idx="83">
                  <c:v>7.5</c:v>
                </c:pt>
                <c:pt idx="84">
                  <c:v>7.3</c:v>
                </c:pt>
                <c:pt idx="85">
                  <c:v>7.2</c:v>
                </c:pt>
                <c:pt idx="86">
                  <c:v>7.1</c:v>
                </c:pt>
                <c:pt idx="87">
                  <c:v>7.1</c:v>
                </c:pt>
                <c:pt idx="88">
                  <c:v>7.1</c:v>
                </c:pt>
                <c:pt idx="89">
                  <c:v>7</c:v>
                </c:pt>
                <c:pt idx="90">
                  <c:v>6.9</c:v>
                </c:pt>
                <c:pt idx="91">
                  <c:v>6.8</c:v>
                </c:pt>
                <c:pt idx="92">
                  <c:v>6.6</c:v>
                </c:pt>
                <c:pt idx="93">
                  <c:v>6.6</c:v>
                </c:pt>
                <c:pt idx="94">
                  <c:v>6.6</c:v>
                </c:pt>
                <c:pt idx="95">
                  <c:v>6.7</c:v>
                </c:pt>
                <c:pt idx="96">
                  <c:v>6.6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lineChart>
        <c:varyColors val="0"/>
        <c:ser>
          <c:idx val="2"/>
          <c:order val="2"/>
          <c:tx>
            <c:strRef>
              <c:f>Sheet1!$D$1</c:f>
              <c:strCache>
                <c:ptCount val="1"/>
                <c:pt idx="0">
                  <c:v>MA limit (68 day / 64 night)</c:v>
                </c:pt>
              </c:strCache>
            </c:strRef>
          </c:tx>
          <c:spPr>
            <a:solidFill>
              <a:srgbClr val="E4572E"/>
            </a:solidFill>
            <a:ln w="28575"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1B2D"/>
              </a:solidFill>
              <a:ln w="9525" cap="flat">
                <a:solidFill>
                  <a:srgbClr val="E4572E"/>
                </a:solidFill>
                <a:prstDash val="solid"/>
                <a:round/>
              </a:ln>
              <a:effectLst/>
            </c:spPr>
          </c:marker>
          <c:cat>
            <c:multiLvlStrRef>
              <c:f>Sheet1!$A$2:$A$98</c:f>
              <c:multiLvlStrCache>
                <c:ptCount val="97"/>
                <c:lvl>
                  <c:pt idx="0">
                    <c:v>6 PM</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 PM</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12 AM</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3 AM</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6 AM</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9 AM</c:v>
                  </c:pt>
                  <c:pt idx="91">
                    <c:v/>
                  </c:pt>
                  <c:pt idx="92">
                    <c:v/>
                  </c:pt>
                  <c:pt idx="93">
                    <c:v/>
                  </c:pt>
                  <c:pt idx="94">
                    <c:v/>
                  </c:pt>
                  <c:pt idx="95">
                    <c:v/>
                  </c:pt>
                  <c:pt idx="96">
                    <c:v/>
                  </c:pt>
                </c:lvl>
              </c:multiLvlStrCache>
            </c:multiLvlStrRef>
          </c:cat>
          <c:val>
            <c:numRef>
              <c:f>Sheet1!$D$2:$D$98</c:f>
              <c:numCache>
                <c:formatCode>General</c:formatCode>
                <c:ptCount val="97"/>
                <c:pt idx="0">
                  <c:v>68</c:v>
                </c:pt>
                <c:pt idx="1">
                  <c:v>68</c:v>
                </c:pt>
                <c:pt idx="2">
                  <c:v>68</c:v>
                </c:pt>
                <c:pt idx="3">
                  <c:v>68</c:v>
                </c:pt>
                <c:pt idx="4">
                  <c:v>68</c:v>
                </c:pt>
                <c:pt idx="5">
                  <c:v>68</c:v>
                </c:pt>
                <c:pt idx="6">
                  <c:v>68</c:v>
                </c:pt>
                <c:pt idx="7">
                  <c:v>68</c:v>
                </c:pt>
                <c:pt idx="8">
                  <c:v>68</c:v>
                </c:pt>
                <c:pt idx="9">
                  <c:v>68</c:v>
                </c:pt>
                <c:pt idx="10">
                  <c:v>68</c:v>
                </c:pt>
                <c:pt idx="11">
                  <c:v>68</c:v>
                </c:pt>
                <c:pt idx="12">
                  <c:v>68</c:v>
                </c:pt>
                <c:pt idx="13">
                  <c:v>68</c:v>
                </c:pt>
                <c:pt idx="14">
                  <c:v>68</c:v>
                </c:pt>
                <c:pt idx="15">
                  <c:v>68</c:v>
                </c:pt>
                <c:pt idx="16">
                  <c:v>68</c:v>
                </c:pt>
                <c:pt idx="17">
                  <c:v>68</c:v>
                </c:pt>
                <c:pt idx="18">
                  <c:v>68</c:v>
                </c:pt>
                <c:pt idx="19">
                  <c:v>68</c:v>
                </c:pt>
                <c:pt idx="20">
                  <c:v>68</c:v>
                </c:pt>
                <c:pt idx="21">
                  <c:v>68</c:v>
                </c:pt>
                <c:pt idx="22">
                  <c:v>68</c:v>
                </c:pt>
                <c:pt idx="23">
                  <c:v>68</c:v>
                </c:pt>
                <c:pt idx="24">
                  <c:v>68</c:v>
                </c:pt>
                <c:pt idx="25">
                  <c:v>68</c:v>
                </c:pt>
                <c:pt idx="26">
                  <c:v>68</c:v>
                </c:pt>
                <c:pt idx="27">
                  <c:v>68</c:v>
                </c:pt>
                <c:pt idx="28">
                  <c:v>68</c:v>
                </c:pt>
                <c:pt idx="29">
                  <c:v>68</c:v>
                </c:pt>
                <c:pt idx="30">
                  <c:v>64</c:v>
                </c:pt>
                <c:pt idx="31">
                  <c:v>64</c:v>
                </c:pt>
                <c:pt idx="32">
                  <c:v>64</c:v>
                </c:pt>
                <c:pt idx="33">
                  <c:v>64</c:v>
                </c:pt>
                <c:pt idx="34">
                  <c:v>64</c:v>
                </c:pt>
                <c:pt idx="35">
                  <c:v>64</c:v>
                </c:pt>
                <c:pt idx="36">
                  <c:v>64</c:v>
                </c:pt>
                <c:pt idx="37">
                  <c:v>64</c:v>
                </c:pt>
                <c:pt idx="38">
                  <c:v>64</c:v>
                </c:pt>
                <c:pt idx="39">
                  <c:v>64</c:v>
                </c:pt>
                <c:pt idx="40">
                  <c:v>64</c:v>
                </c:pt>
                <c:pt idx="41">
                  <c:v>64</c:v>
                </c:pt>
                <c:pt idx="42">
                  <c:v>64</c:v>
                </c:pt>
                <c:pt idx="43">
                  <c:v>64</c:v>
                </c:pt>
                <c:pt idx="44">
                  <c:v>64</c:v>
                </c:pt>
                <c:pt idx="45">
                  <c:v>64</c:v>
                </c:pt>
                <c:pt idx="46">
                  <c:v>64</c:v>
                </c:pt>
                <c:pt idx="47">
                  <c:v>64</c:v>
                </c:pt>
                <c:pt idx="48">
                  <c:v>64</c:v>
                </c:pt>
                <c:pt idx="49">
                  <c:v>64</c:v>
                </c:pt>
                <c:pt idx="50">
                  <c:v>64</c:v>
                </c:pt>
                <c:pt idx="51">
                  <c:v>64</c:v>
                </c:pt>
                <c:pt idx="52">
                  <c:v>64</c:v>
                </c:pt>
                <c:pt idx="53">
                  <c:v>64</c:v>
                </c:pt>
                <c:pt idx="54">
                  <c:v>64</c:v>
                </c:pt>
                <c:pt idx="55">
                  <c:v>64</c:v>
                </c:pt>
                <c:pt idx="56">
                  <c:v>64</c:v>
                </c:pt>
                <c:pt idx="57">
                  <c:v>64</c:v>
                </c:pt>
                <c:pt idx="58">
                  <c:v>64</c:v>
                </c:pt>
                <c:pt idx="59">
                  <c:v>64</c:v>
                </c:pt>
                <c:pt idx="60">
                  <c:v>64</c:v>
                </c:pt>
                <c:pt idx="61">
                  <c:v>64</c:v>
                </c:pt>
                <c:pt idx="62">
                  <c:v>64</c:v>
                </c:pt>
                <c:pt idx="63">
                  <c:v>64</c:v>
                </c:pt>
                <c:pt idx="64">
                  <c:v>64</c:v>
                </c:pt>
                <c:pt idx="65">
                  <c:v>64</c:v>
                </c:pt>
                <c:pt idx="66">
                  <c:v>64</c:v>
                </c:pt>
                <c:pt idx="67">
                  <c:v>64</c:v>
                </c:pt>
                <c:pt idx="68">
                  <c:v>64</c:v>
                </c:pt>
                <c:pt idx="69">
                  <c:v>64</c:v>
                </c:pt>
                <c:pt idx="70">
                  <c:v>64</c:v>
                </c:pt>
                <c:pt idx="71">
                  <c:v>64</c:v>
                </c:pt>
                <c:pt idx="72">
                  <c:v>64</c:v>
                </c:pt>
                <c:pt idx="73">
                  <c:v>64</c:v>
                </c:pt>
                <c:pt idx="74">
                  <c:v>64</c:v>
                </c:pt>
                <c:pt idx="75">
                  <c:v>64</c:v>
                </c:pt>
                <c:pt idx="76">
                  <c:v>64</c:v>
                </c:pt>
                <c:pt idx="77">
                  <c:v>64</c:v>
                </c:pt>
                <c:pt idx="78">
                  <c:v>68</c:v>
                </c:pt>
                <c:pt idx="79">
                  <c:v>68</c:v>
                </c:pt>
                <c:pt idx="80">
                  <c:v>68</c:v>
                </c:pt>
                <c:pt idx="81">
                  <c:v>68</c:v>
                </c:pt>
                <c:pt idx="82">
                  <c:v>68</c:v>
                </c:pt>
                <c:pt idx="83">
                  <c:v>68</c:v>
                </c:pt>
                <c:pt idx="84">
                  <c:v>68</c:v>
                </c:pt>
                <c:pt idx="85">
                  <c:v>68</c:v>
                </c:pt>
                <c:pt idx="86">
                  <c:v>68</c:v>
                </c:pt>
                <c:pt idx="87">
                  <c:v>68</c:v>
                </c:pt>
                <c:pt idx="88">
                  <c:v>68</c:v>
                </c:pt>
                <c:pt idx="89">
                  <c:v>68</c:v>
                </c:pt>
                <c:pt idx="90">
                  <c:v>68</c:v>
                </c:pt>
                <c:pt idx="91">
                  <c:v>68</c:v>
                </c:pt>
                <c:pt idx="92">
                  <c:v>68</c:v>
                </c:pt>
                <c:pt idx="93">
                  <c:v>68</c:v>
                </c:pt>
                <c:pt idx="94">
                  <c:v>68</c:v>
                </c:pt>
                <c:pt idx="95">
                  <c:v>68</c:v>
                </c:pt>
                <c:pt idx="96">
                  <c:v>68</c:v>
                </c:pt>
              </c:numCache>
            </c:numRef>
          </c:val>
          <c:smooth val="0"/>
        </c:ser>
        <c:ser>
          <c:idx val="3"/>
          <c:order val="3"/>
          <c:tx>
            <c:strRef>
              <c:f>Sheet1!$E$1</c:f>
              <c:strCache>
                <c:ptCount val="1"/>
                <c:pt idx="0">
                  <c:v>Outdoor · Open-Meteo</c:v>
                </c:pt>
              </c:strCache>
            </c:strRef>
          </c:tx>
          <c:spPr>
            <a:solidFill>
              <a:srgbClr val="3A86C8"/>
            </a:solidFill>
            <a:ln w="28575" cap="flat">
              <a:solidFill>
                <a:srgbClr val="3A86C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3A86C8"/>
                </a:solidFill>
                <a:prstDash val="solid"/>
                <a:round/>
              </a:ln>
              <a:effectLst/>
            </c:spPr>
          </c:marker>
          <c:cat>
            <c:multiLvlStrRef>
              <c:f>Sheet1!$A$2:$A$98</c:f>
              <c:multiLvlStrCache>
                <c:ptCount val="97"/>
                <c:lvl>
                  <c:pt idx="0">
                    <c:v>6 PM</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 PM</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12 AM</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3 AM</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6 AM</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9 AM</c:v>
                  </c:pt>
                  <c:pt idx="91">
                    <c:v/>
                  </c:pt>
                  <c:pt idx="92">
                    <c:v/>
                  </c:pt>
                  <c:pt idx="93">
                    <c:v/>
                  </c:pt>
                  <c:pt idx="94">
                    <c:v/>
                  </c:pt>
                  <c:pt idx="95">
                    <c:v/>
                  </c:pt>
                  <c:pt idx="96">
                    <c:v/>
                  </c:pt>
                </c:lvl>
              </c:multiLvlStrCache>
            </c:multiLvlStrRef>
          </c:cat>
          <c:val>
            <c:numRef>
              <c:f>Sheet1!$E$2:$E$98</c:f>
              <c:numCache>
                <c:formatCode>General</c:formatCode>
                <c:ptCount val="97"/>
                <c:pt idx="0">
                  <c:v>38</c:v>
                </c:pt>
                <c:pt idx="1">
                  <c:v>37.6</c:v>
                </c:pt>
                <c:pt idx="2">
                  <c:v>37.3</c:v>
                </c:pt>
                <c:pt idx="3">
                  <c:v>36.9</c:v>
                </c:pt>
                <c:pt idx="4">
                  <c:v>36.6</c:v>
                </c:pt>
                <c:pt idx="5">
                  <c:v>36.2</c:v>
                </c:pt>
                <c:pt idx="6">
                  <c:v>35.9</c:v>
                </c:pt>
                <c:pt idx="7">
                  <c:v>35.6</c:v>
                </c:pt>
                <c:pt idx="8">
                  <c:v>35.3</c:v>
                </c:pt>
                <c:pt idx="9">
                  <c:v>34.9</c:v>
                </c:pt>
                <c:pt idx="10">
                  <c:v>34.6</c:v>
                </c:pt>
                <c:pt idx="11">
                  <c:v>34.3</c:v>
                </c:pt>
                <c:pt idx="12">
                  <c:v>34</c:v>
                </c:pt>
                <c:pt idx="13">
                  <c:v>33.7</c:v>
                </c:pt>
                <c:pt idx="14">
                  <c:v>33.5</c:v>
                </c:pt>
                <c:pt idx="15">
                  <c:v>33.2</c:v>
                </c:pt>
                <c:pt idx="16">
                  <c:v>32.9</c:v>
                </c:pt>
                <c:pt idx="17">
                  <c:v>32.6</c:v>
                </c:pt>
                <c:pt idx="18">
                  <c:v>32.4</c:v>
                </c:pt>
                <c:pt idx="19">
                  <c:v>32.1</c:v>
                </c:pt>
                <c:pt idx="20">
                  <c:v>31.9</c:v>
                </c:pt>
                <c:pt idx="21">
                  <c:v>31.6</c:v>
                </c:pt>
                <c:pt idx="22">
                  <c:v>31.4</c:v>
                </c:pt>
                <c:pt idx="23">
                  <c:v>31.2</c:v>
                </c:pt>
                <c:pt idx="24">
                  <c:v>31</c:v>
                </c:pt>
                <c:pt idx="25">
                  <c:v>30.7</c:v>
                </c:pt>
                <c:pt idx="26">
                  <c:v>30.5</c:v>
                </c:pt>
                <c:pt idx="27">
                  <c:v>30.3</c:v>
                </c:pt>
                <c:pt idx="28">
                  <c:v>30.1</c:v>
                </c:pt>
                <c:pt idx="29">
                  <c:v>29.9</c:v>
                </c:pt>
                <c:pt idx="30">
                  <c:v>29.8</c:v>
                </c:pt>
                <c:pt idx="31">
                  <c:v>29.6</c:v>
                </c:pt>
                <c:pt idx="32">
                  <c:v>29.4</c:v>
                </c:pt>
                <c:pt idx="33">
                  <c:v>29.2</c:v>
                </c:pt>
                <c:pt idx="34">
                  <c:v>29.1</c:v>
                </c:pt>
                <c:pt idx="35">
                  <c:v>28.9</c:v>
                </c:pt>
                <c:pt idx="36">
                  <c:v>28.8</c:v>
                </c:pt>
                <c:pt idx="37">
                  <c:v>28.6</c:v>
                </c:pt>
                <c:pt idx="38">
                  <c:v>28.5</c:v>
                </c:pt>
                <c:pt idx="39">
                  <c:v>28.3</c:v>
                </c:pt>
                <c:pt idx="40">
                  <c:v>28.2</c:v>
                </c:pt>
                <c:pt idx="41">
                  <c:v>28.1</c:v>
                </c:pt>
                <c:pt idx="42">
                  <c:v>28</c:v>
                </c:pt>
                <c:pt idx="43">
                  <c:v>27.9</c:v>
                </c:pt>
                <c:pt idx="44">
                  <c:v>27.8</c:v>
                </c:pt>
                <c:pt idx="45">
                  <c:v>27.7</c:v>
                </c:pt>
                <c:pt idx="46">
                  <c:v>27.6</c:v>
                </c:pt>
                <c:pt idx="47">
                  <c:v>27.5</c:v>
                </c:pt>
                <c:pt idx="48">
                  <c:v>27.4</c:v>
                </c:pt>
                <c:pt idx="49">
                  <c:v>27.4</c:v>
                </c:pt>
                <c:pt idx="50">
                  <c:v>27.3</c:v>
                </c:pt>
                <c:pt idx="51">
                  <c:v>27.2</c:v>
                </c:pt>
                <c:pt idx="52">
                  <c:v>27.2</c:v>
                </c:pt>
                <c:pt idx="53">
                  <c:v>27.1</c:v>
                </c:pt>
                <c:pt idx="54">
                  <c:v>27.1</c:v>
                </c:pt>
                <c:pt idx="55">
                  <c:v>27.1</c:v>
                </c:pt>
                <c:pt idx="56">
                  <c:v>27</c:v>
                </c:pt>
                <c:pt idx="57">
                  <c:v>27</c:v>
                </c:pt>
                <c:pt idx="58">
                  <c:v>27</c:v>
                </c:pt>
                <c:pt idx="59">
                  <c:v>27</c:v>
                </c:pt>
                <c:pt idx="60">
                  <c:v>27</c:v>
                </c:pt>
                <c:pt idx="61">
                  <c:v>27</c:v>
                </c:pt>
                <c:pt idx="62">
                  <c:v>27</c:v>
                </c:pt>
                <c:pt idx="63">
                  <c:v>27</c:v>
                </c:pt>
                <c:pt idx="64">
                  <c:v>27</c:v>
                </c:pt>
                <c:pt idx="65">
                  <c:v>27.1</c:v>
                </c:pt>
                <c:pt idx="66">
                  <c:v>27.1</c:v>
                </c:pt>
                <c:pt idx="67">
                  <c:v>27.1</c:v>
                </c:pt>
                <c:pt idx="68">
                  <c:v>27.1</c:v>
                </c:pt>
                <c:pt idx="69">
                  <c:v>27.2</c:v>
                </c:pt>
                <c:pt idx="70">
                  <c:v>27.2</c:v>
                </c:pt>
                <c:pt idx="71">
                  <c:v>27.3</c:v>
                </c:pt>
                <c:pt idx="72">
                  <c:v>27.3</c:v>
                </c:pt>
                <c:pt idx="73">
                  <c:v>27.4</c:v>
                </c:pt>
                <c:pt idx="74">
                  <c:v>27.4</c:v>
                </c:pt>
                <c:pt idx="75">
                  <c:v>27.5</c:v>
                </c:pt>
                <c:pt idx="76">
                  <c:v>27.5</c:v>
                </c:pt>
                <c:pt idx="77">
                  <c:v>27.6</c:v>
                </c:pt>
                <c:pt idx="78">
                  <c:v>27.7</c:v>
                </c:pt>
                <c:pt idx="79">
                  <c:v>27.8</c:v>
                </c:pt>
                <c:pt idx="80">
                  <c:v>27.8</c:v>
                </c:pt>
                <c:pt idx="81">
                  <c:v>27.9</c:v>
                </c:pt>
                <c:pt idx="82">
                  <c:v>28</c:v>
                </c:pt>
                <c:pt idx="83">
                  <c:v>28.1</c:v>
                </c:pt>
                <c:pt idx="84">
                  <c:v>28.2</c:v>
                </c:pt>
                <c:pt idx="85">
                  <c:v>28.3</c:v>
                </c:pt>
                <c:pt idx="86">
                  <c:v>28.4</c:v>
                </c:pt>
                <c:pt idx="87">
                  <c:v>28.5</c:v>
                </c:pt>
                <c:pt idx="88">
                  <c:v>28.6</c:v>
                </c:pt>
                <c:pt idx="89">
                  <c:v>28.7</c:v>
                </c:pt>
                <c:pt idx="90">
                  <c:v>28.9</c:v>
                </c:pt>
                <c:pt idx="91">
                  <c:v>29</c:v>
                </c:pt>
                <c:pt idx="92">
                  <c:v>29.1</c:v>
                </c:pt>
                <c:pt idx="93">
                  <c:v>29.3</c:v>
                </c:pt>
                <c:pt idx="94">
                  <c:v>29.4</c:v>
                </c:pt>
                <c:pt idx="95">
                  <c:v>29.5</c:v>
                </c:pt>
                <c:pt idx="96">
                  <c:v>29.7</c:v>
                </c:pt>
              </c:numCache>
            </c:numRef>
          </c:val>
          <c:smooth val="0"/>
        </c:ser>
        <c:ser>
          <c:idx val="4"/>
          <c:order val="4"/>
          <c:tx>
            <c:strRef>
              <c:f>Sheet1!$F$1</c:f>
              <c:strCache>
                <c:ptCount val="1"/>
                <c:pt idx="0">
                  <c:v>Indoor · living room</c:v>
                </c:pt>
              </c:strCache>
            </c:strRef>
          </c:tx>
          <c:spPr>
            <a:solidFill>
              <a:srgbClr val="0F1B2D"/>
            </a:solidFill>
            <a:ln w="28575" cap="flat">
              <a:solidFill>
                <a:srgbClr val="0F1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A86C8"/>
              </a:solidFill>
              <a:ln w="9525" cap="flat">
                <a:solidFill>
                  <a:srgbClr val="0F1B2D"/>
                </a:solidFill>
                <a:prstDash val="solid"/>
                <a:round/>
              </a:ln>
              <a:effectLst/>
            </c:spPr>
          </c:marker>
          <c:cat>
            <c:multiLvlStrRef>
              <c:f>Sheet1!$A$2:$A$98</c:f>
              <c:multiLvlStrCache>
                <c:ptCount val="97"/>
                <c:lvl>
                  <c:pt idx="0">
                    <c:v>6 PM</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 PM</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12 AM</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3 AM</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6 AM</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9 AM</c:v>
                  </c:pt>
                  <c:pt idx="91">
                    <c:v/>
                  </c:pt>
                  <c:pt idx="92">
                    <c:v/>
                  </c:pt>
                  <c:pt idx="93">
                    <c:v/>
                  </c:pt>
                  <c:pt idx="94">
                    <c:v/>
                  </c:pt>
                  <c:pt idx="95">
                    <c:v/>
                  </c:pt>
                  <c:pt idx="96">
                    <c:v/>
                  </c:pt>
                </c:lvl>
              </c:multiLvlStrCache>
            </c:multiLvlStrRef>
          </c:cat>
          <c:val>
            <c:numRef>
              <c:f>Sheet1!$F$2:$F$98</c:f>
              <c:numCache>
                <c:formatCode>General</c:formatCode>
                <c:ptCount val="97"/>
                <c:pt idx="0">
                  <c:v>70.4</c:v>
                </c:pt>
                <c:pt idx="1">
                  <c:v>70.4</c:v>
                </c:pt>
                <c:pt idx="2">
                  <c:v>70.2</c:v>
                </c:pt>
                <c:pt idx="3">
                  <c:v>69.9</c:v>
                </c:pt>
                <c:pt idx="4">
                  <c:v>69.4</c:v>
                </c:pt>
                <c:pt idx="5">
                  <c:v>68.9</c:v>
                </c:pt>
                <c:pt idx="6">
                  <c:v>68.5</c:v>
                </c:pt>
                <c:pt idx="7">
                  <c:v>68.3</c:v>
                </c:pt>
                <c:pt idx="8">
                  <c:v>68.2</c:v>
                </c:pt>
                <c:pt idx="9">
                  <c:v>68.1</c:v>
                </c:pt>
                <c:pt idx="10">
                  <c:v>68</c:v>
                </c:pt>
                <c:pt idx="11">
                  <c:v>67.9</c:v>
                </c:pt>
                <c:pt idx="12">
                  <c:v>67.7</c:v>
                </c:pt>
                <c:pt idx="13">
                  <c:v>67.6</c:v>
                </c:pt>
                <c:pt idx="14">
                  <c:v>67.6</c:v>
                </c:pt>
                <c:pt idx="15">
                  <c:v>67.5</c:v>
                </c:pt>
                <c:pt idx="16">
                  <c:v>67.3</c:v>
                </c:pt>
                <c:pt idx="17">
                  <c:v>67</c:v>
                </c:pt>
                <c:pt idx="18">
                  <c:v>66.6</c:v>
                </c:pt>
                <c:pt idx="19">
                  <c:v>66.3</c:v>
                </c:pt>
                <c:pt idx="20">
                  <c:v>66.1</c:v>
                </c:pt>
                <c:pt idx="21">
                  <c:v>65.9</c:v>
                </c:pt>
                <c:pt idx="22">
                  <c:v>65.8</c:v>
                </c:pt>
                <c:pt idx="23">
                  <c:v>65.6</c:v>
                </c:pt>
                <c:pt idx="24">
                  <c:v>65.3</c:v>
                </c:pt>
                <c:pt idx="25">
                  <c:v>65</c:v>
                </c:pt>
                <c:pt idx="26">
                  <c:v>64.8</c:v>
                </c:pt>
                <c:pt idx="27">
                  <c:v>64.7</c:v>
                </c:pt>
                <c:pt idx="28">
                  <c:v>64.7</c:v>
                </c:pt>
                <c:pt idx="29">
                  <c:v>64.7</c:v>
                </c:pt>
                <c:pt idx="30">
                  <c:v>64.7</c:v>
                </c:pt>
                <c:pt idx="31">
                  <c:v>64.6</c:v>
                </c:pt>
                <c:pt idx="32">
                  <c:v>64.5</c:v>
                </c:pt>
                <c:pt idx="33">
                  <c:v>64.3</c:v>
                </c:pt>
                <c:pt idx="34">
                  <c:v>64.2</c:v>
                </c:pt>
                <c:pt idx="35">
                  <c:v>64.2</c:v>
                </c:pt>
                <c:pt idx="36">
                  <c:v>64.1</c:v>
                </c:pt>
                <c:pt idx="37">
                  <c:v>64</c:v>
                </c:pt>
                <c:pt idx="38">
                  <c:v>63.7</c:v>
                </c:pt>
                <c:pt idx="39">
                  <c:v>63.5</c:v>
                </c:pt>
                <c:pt idx="40">
                  <c:v>63.4</c:v>
                </c:pt>
                <c:pt idx="41">
                  <c:v>63.3</c:v>
                </c:pt>
                <c:pt idx="42">
                  <c:v>63.4</c:v>
                </c:pt>
                <c:pt idx="43">
                  <c:v>63.5</c:v>
                </c:pt>
                <c:pt idx="44">
                  <c:v>63.4</c:v>
                </c:pt>
                <c:pt idx="45">
                  <c:v>63.2</c:v>
                </c:pt>
                <c:pt idx="46">
                  <c:v>62.8</c:v>
                </c:pt>
                <c:pt idx="47">
                  <c:v>62.5</c:v>
                </c:pt>
                <c:pt idx="48">
                  <c:v>62.3</c:v>
                </c:pt>
                <c:pt idx="49">
                  <c:v>62</c:v>
                </c:pt>
                <c:pt idx="50">
                  <c:v>61.8</c:v>
                </c:pt>
                <c:pt idx="51">
                  <c:v>61.4</c:v>
                </c:pt>
                <c:pt idx="52">
                  <c:v>61</c:v>
                </c:pt>
                <c:pt idx="53">
                  <c:v>60.5</c:v>
                </c:pt>
                <c:pt idx="54">
                  <c:v>60.1</c:v>
                </c:pt>
                <c:pt idx="55">
                  <c:v>59.9</c:v>
                </c:pt>
                <c:pt idx="56">
                  <c:v>59.7</c:v>
                </c:pt>
                <c:pt idx="57">
                  <c:v>59.6</c:v>
                </c:pt>
                <c:pt idx="58">
                  <c:v>59.4</c:v>
                </c:pt>
                <c:pt idx="59">
                  <c:v>59.3</c:v>
                </c:pt>
                <c:pt idx="60">
                  <c:v>59.1</c:v>
                </c:pt>
                <c:pt idx="61">
                  <c:v>59.1</c:v>
                </c:pt>
                <c:pt idx="62">
                  <c:v>59.1</c:v>
                </c:pt>
                <c:pt idx="63">
                  <c:v>59.3</c:v>
                </c:pt>
                <c:pt idx="64">
                  <c:v>59.4</c:v>
                </c:pt>
                <c:pt idx="65">
                  <c:v>59.5</c:v>
                </c:pt>
                <c:pt idx="66">
                  <c:v>59.4</c:v>
                </c:pt>
                <c:pt idx="67">
                  <c:v>59.4</c:v>
                </c:pt>
                <c:pt idx="68">
                  <c:v>59.4</c:v>
                </c:pt>
                <c:pt idx="69">
                  <c:v>59.5</c:v>
                </c:pt>
                <c:pt idx="70">
                  <c:v>59.6</c:v>
                </c:pt>
                <c:pt idx="71">
                  <c:v>59.7</c:v>
                </c:pt>
                <c:pt idx="72">
                  <c:v>59.7</c:v>
                </c:pt>
                <c:pt idx="73">
                  <c:v>59.7</c:v>
                </c:pt>
                <c:pt idx="74">
                  <c:v>59.7</c:v>
                </c:pt>
                <c:pt idx="75">
                  <c:v>59.9</c:v>
                </c:pt>
                <c:pt idx="76">
                  <c:v>60.1</c:v>
                </c:pt>
                <c:pt idx="77">
                  <c:v>60.4</c:v>
                </c:pt>
                <c:pt idx="78">
                  <c:v>60.5</c:v>
                </c:pt>
                <c:pt idx="79">
                  <c:v>60.5</c:v>
                </c:pt>
                <c:pt idx="80">
                  <c:v>60.5</c:v>
                </c:pt>
                <c:pt idx="81">
                  <c:v>60.4</c:v>
                </c:pt>
                <c:pt idx="82">
                  <c:v>60.4</c:v>
                </c:pt>
                <c:pt idx="83">
                  <c:v>60.5</c:v>
                </c:pt>
                <c:pt idx="84">
                  <c:v>60.7</c:v>
                </c:pt>
                <c:pt idx="85">
                  <c:v>60.8</c:v>
                </c:pt>
                <c:pt idx="86">
                  <c:v>60.9</c:v>
                </c:pt>
                <c:pt idx="87">
                  <c:v>60.9</c:v>
                </c:pt>
                <c:pt idx="88">
                  <c:v>60.9</c:v>
                </c:pt>
                <c:pt idx="89">
                  <c:v>61</c:v>
                </c:pt>
                <c:pt idx="90">
                  <c:v>61.1</c:v>
                </c:pt>
                <c:pt idx="91">
                  <c:v>61.2</c:v>
                </c:pt>
                <c:pt idx="92">
                  <c:v>61.4</c:v>
                </c:pt>
                <c:pt idx="93">
                  <c:v>61.4</c:v>
                </c:pt>
                <c:pt idx="94">
                  <c:v>61.4</c:v>
                </c:pt>
                <c:pt idx="95">
                  <c:v>61.3</c:v>
                </c:pt>
                <c:pt idx="96">
                  <c:v>61.4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DCE1E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tickLblSkip val="1"/>
      </c:catAx>
      <c:valAx>
        <c:axId val="2094734552"/>
        <c:scaling>
          <c:orientation val="minMax"/>
          <c:max val="80"/>
          <c:min val="20"/>
        </c:scaling>
        <c:delete val="0"/>
        <c:axPos val="l"/>
        <c:title>
          <c:tx>
            <c:rich>
              <a:bodyPr/>
              <a:lstStyle/>
              <a:p>
                <a:pPr>
                  <a:defRPr sz="1100" b="0" i="0" u="none" strike="noStrike">
                    <a:solidFill>
                      <a:srgbClr val="5B6676"/>
                    </a:solidFill>
                    <a:latin typeface="Arial"/>
                  </a:defRPr>
                </a:pPr>
                <a:r>
                  <a:rPr sz="1100" b="0" i="0" u="none" strike="noStrike">
                    <a:solidFill>
                      <a:srgbClr val="5B6676"/>
                    </a:solidFill>
                    <a:latin typeface="Arial"/>
                  </a:rPr>
                  <a:t>°F</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midCat"/>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Title (Ankita, ~20s)
Hi everyone, I'm Ankita and this is Priyanshu. Our project is Habitable. It's an Android app that helps renters in Boston record problems in their apartment, like no heat, so they can actually get them fixed.
Last time you gave us a lot of good feedback, so this version is basically built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What changed (Ankita, ~35s)
So, quick summary of what changed since October 6.
You asked about the chart, so charts are now in our first sprint.
You asked what evidence would actually help a tenant, so we looked into that.
You asked what the Escalate button does, so we defined it properly.
The building pooling idea is now a stretch goal, and we explain what we mean by it.
And your email idea turned into a communication log with the landlord.
We'll go through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Problem (Ankita, ~40s)
So imagine it's November in Boston and your heat stops working. You text your landlord, he says he'll look at it, and two weeks later you're still sleeping in a jacket.
The thing is, Massachusetts law is really specific about this. It has to be at least 68 degrees during the day and 64 at night, from mid-September to the end of May. And once an inspector confirms the problem and the landlord's been told in writing, they have 5 days to start fixing it and 14 days to finish.
But the tenant still has to prove it. And most people just have a few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Evidence (Ankita, ~45s, don't rush)
You asked us what kind of evidence would actually be useful, so we read MassLegalHelp and the state sanitary code. To be clear, this is research for the product, we're not giving legal advice.
What they tell tenants is pretty simple. Write to your landlord and date it. Take photos, including the thermostat, like you suggested. Show how cold it was and for how long. And get the Board of Health to inspect. In Boston that's ISD.
That last one matters the most, because the inspector's reading is the official one. So our goal is to help tenants get an inspector to come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One journey (Ankita, ~40s)
This is the main flow of the app. You sign up, add your apartment, connect the sensor or use the simulator, and then the chart, photos, notice, and finally the PDF.
These are the three main screens. Home shows the chart first. The issue screen is a timeline of everything that happened. And the packet screen puts it all into one PDF.
If we only get this one flow working by December, that's still a complete app. The other features come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Chart (Priyanshu, ~45s)
So last time you asked how we're going to do the chart. We're using Vico, which is a chart library made for Jetpack Compose. And we're doing it in the first sprint.
On the chart you can see three things. The dark line is the indoor temperature, the blue one is the outdoor temperature from Open-Meteo, and the orange line is the legal limit. The limit drops from 68 to 64 at 11 PM and goes back up at 7 AM, so the shaded part is only when it's actually below the legal limit.
For the demo we don't need a cold apartment. The simulator plays this night through the same code as the real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Escalate (Priyanshu, ~35s)
You also asked what the Escalate button does. So it depends on where you are.
If you haven't told the landlord yet, the button just says Send notice.
If you sent the notice and nothing's fixed, Escalate helps you request an inspection from ISD.
And once the inspector confirms the violation, the 5 and 14 day clock starts, and Escalate sends the landlord a reminder.
We don't file anything legal for the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Scope (Priyanshu, ~30s)
For scope, the dark column is what we have to ship. That's the full flow from the sensor to the PDF.
The middle column is what we want to add after that, like the landlord communication log and move-in photos. The move-in photos also help with your point that people stop using the app once the problem is fixed.
The last column is only if we have time. And at the bottom are things we're definitely not doing, like legal advice or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Architecture (Priyanshu, ~35s)
For the tech side, the app works offline. Everything is saved on the phone first using Room. We're using Compose for the UI and ViewModels for state.
The sensor runs in a foreground service, because Android kills background Bluetooth otherwise.
Open-Meteo is our third-party API for weather. The backend is small, just Node and Express for login and saving readings. The photos stay on the phone, only a hash goes to the server. And it's all on free tiers, so it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Fridge (Priyanshu, ~25s)
People always ask, what if someone puts the sensor in the fridge? Honestly, we can't stop that. But we can make sure it shows up in the record.
You can't edit readings, weird temperature jumps get flagged, and gaps show up in the PDF. And again, the inspector's reading is the official one. We're just trying to get them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Team (Ankita, ~30s)
For the team, Priyanshu is handling the sensor side: Bluetooth, the charts, the heat rules and the backend. I'm handling the evidence side: issues, photos, notices, Escalate and the PDF.
We review each other's code, and we switch scrum master every week.
For November 10 we want a working slice: the simulator feeding the chart, and a heat issue opening automatically when it gets too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Risks (Priyanshu, then Ankita, ~35s)
Priyanshu: The biggest technical risk is Android stopping Bluetooth in the background. That's why we use a foreground service, and the simulator works from day one either way.
Ankita: And the main product risk is people thinking this is legal advice. So every letter and PDF says it isn't, and we link to official sources.
We had one question for you. If the sensor arrives late, is it okay to demo with the simulator on November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Thank you (both)
Thank you! Happy to take any questions.
(Repo: github.com/Priyanshusingh09876/Habitable)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6A8"/>
                </a:solidFill>
                <a:latin typeface="Calibri" pitchFamily="34" charset="0"/>
                <a:ea typeface="Calibri" pitchFamily="34" charset="-122"/>
                <a:cs typeface="Calibri" pitchFamily="34" charset="-120"/>
              </a:rPr>
              <a:t>Habitable  ·  CS 501  ·  October 20, 2026</a:t>
            </a:r>
            <a:endParaRPr lang="en-US" sz="1000" dirty="0"/>
          </a:p>
        </p:txBody>
      </p:sp>
      <p:sp>
        <p:nvSpPr>
          <p:cNvPr id="3" name="Text 1"/>
          <p:cNvSpPr/>
          <p:nvPr>
            <p:ph idx="101" type="body" hasCustomPrompt="1"/>
          </p:nvPr>
        </p:nvSpPr>
        <p:spPr>
          <a:xfrm>
            <a:off x="548640" y="384048"/>
            <a:ext cx="8229600" cy="292608"/>
          </a:xfrm>
          <a:prstGeom prst="rect">
            <a:avLst/>
          </a:prstGeom>
          <a:noFill/>
          <a:ln/>
        </p:spPr>
        <p:txBody>
          <a:bodyPr wrap="square" rtlCol="0"/>
          <a:lstStyle>
            <a:lvl1pPr indent="0" marL="0">
              <a:buNone/>
              <a:defRPr lang="en-US" sz="1200" b="1" spc="200" kern="0" dirty="0">
                <a:solidFill>
                  <a:srgbClr val="E4572E"/>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4" name="Text 1"/>
          <p:cNvSpPr/>
          <p:nvPr>
            <p:ph idx="102" type="title" hasCustomPrompt="1"/>
          </p:nvPr>
        </p:nvSpPr>
        <p:spPr>
          <a:xfrm>
            <a:off x="548640" y="713232"/>
            <a:ext cx="11064240" cy="777240"/>
          </a:xfrm>
          <a:prstGeom prst="rect">
            <a:avLst/>
          </a:prstGeom>
          <a:noFill/>
          <a:ln/>
        </p:spPr>
        <p:txBody>
          <a:bodyPr wrap="square" rtlCol="0"/>
          <a:lstStyle>
            <a:lvl1pPr algn="l" indent="0" marL="0">
              <a:buNone/>
              <a:defRPr lang="en-US" sz="3400" dirty="0">
                <a:solidFill>
                  <a:srgbClr val="0F1B2D"/>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Priyanshusingh09876/Habitable" TargetMode="External"/><Relationship Id="rId2" Type="http://schemas.openxmlformats.org/officeDocument/2006/relationships/chart" Target="/ppt/charts/chart1.xm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Priyanshusingh09876/Habitable" TargetMode="Externa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7315200" cy="320040"/>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CS 501 E1  ·  FALL 2026  ·  CLASS 6 PROPOSAL</a:t>
            </a:r>
            <a:endParaRPr lang="en-US" sz="1200" dirty="0"/>
          </a:p>
        </p:txBody>
      </p:sp>
      <p:sp>
        <p:nvSpPr>
          <p:cNvPr id="3" name="anim_0_t"/>
          <p:cNvSpPr txBox="1"/>
          <p:nvPr/>
        </p:nvSpPr>
        <p:spPr>
          <a:xfrm>
            <a:off x="640080" y="1234440"/>
            <a:ext cx="6858000" cy="1188720"/>
          </a:xfrm>
          <a:prstGeom prst="rect">
            <a:avLst/>
          </a:prstGeom>
          <a:noFill/>
          <a:ln/>
        </p:spPr>
        <p:txBody>
          <a:bodyPr wrap="square" lIns="0" tIns="0" rIns="0" bIns="0" rtlCol="0" anchor="ctr"/>
          <a:lstStyle/>
          <a:p>
            <a:pPr indent="0" marL="0">
              <a:buNone/>
            </a:pPr>
            <a:r>
              <a:rPr lang="en-US" sz="7200" dirty="0">
                <a:solidFill>
                  <a:srgbClr val="FFFFFF"/>
                </a:solidFill>
                <a:latin typeface="Cambria" pitchFamily="34" charset="0"/>
                <a:ea typeface="Cambria" pitchFamily="34" charset="-122"/>
                <a:cs typeface="Cambria" pitchFamily="34" charset="-120"/>
              </a:rPr>
              <a:t>Habitable</a:t>
            </a:r>
            <a:endParaRPr lang="en-US" sz="7200" dirty="0"/>
          </a:p>
        </p:txBody>
      </p:sp>
      <p:sp>
        <p:nvSpPr>
          <p:cNvPr id="4" name="anim_1_tag"/>
          <p:cNvSpPr txBox="1"/>
          <p:nvPr/>
        </p:nvSpPr>
        <p:spPr>
          <a:xfrm>
            <a:off x="640080" y="2514600"/>
            <a:ext cx="6675120" cy="548640"/>
          </a:xfrm>
          <a:prstGeom prst="rect">
            <a:avLst/>
          </a:prstGeom>
          <a:noFill/>
          <a:ln/>
        </p:spPr>
        <p:txBody>
          <a:bodyPr wrap="square" lIns="0" tIns="0" rIns="0" bIns="0" rtlCol="0" anchor="ctr"/>
          <a:lstStyle/>
          <a:p>
            <a:pPr indent="0" marL="0">
              <a:buNone/>
            </a:pPr>
            <a:r>
              <a:rPr lang="en-US" sz="2400" i="1" dirty="0">
                <a:solidFill>
                  <a:srgbClr val="F6C7B5"/>
                </a:solidFill>
                <a:latin typeface="Cambria" pitchFamily="34" charset="0"/>
                <a:ea typeface="Cambria" pitchFamily="34" charset="-122"/>
                <a:cs typeface="Cambria" pitchFamily="34" charset="-120"/>
              </a:rPr>
              <a:t>Prove your apartment conditions. Get them fixed.</a:t>
            </a:r>
            <a:endParaRPr lang="en-US" sz="2400" dirty="0"/>
          </a:p>
        </p:txBody>
      </p:sp>
      <p:sp>
        <p:nvSpPr>
          <p:cNvPr id="5" name="anim_1_sub"/>
          <p:cNvSpPr txBox="1"/>
          <p:nvPr/>
        </p:nvSpPr>
        <p:spPr>
          <a:xfrm>
            <a:off x="640080" y="3200400"/>
            <a:ext cx="6309360" cy="868680"/>
          </a:xfrm>
          <a:prstGeom prst="rect">
            <a:avLst/>
          </a:prstGeom>
          <a:noFill/>
          <a:ln/>
        </p:spPr>
        <p:txBody>
          <a:bodyPr wrap="square" lIns="0" tIns="0" rIns="0" bIns="0" rtlCol="0" anchor="ctr"/>
          <a:lstStyle/>
          <a:p>
            <a:pPr indent="0" marL="0">
              <a:buNone/>
            </a:pPr>
            <a:r>
              <a:rPr lang="en-US" sz="1600" dirty="0">
                <a:solidFill>
                  <a:srgbClr val="C9D6E8"/>
                </a:solidFill>
                <a:latin typeface="Calibri" pitchFamily="34" charset="0"/>
                <a:ea typeface="Calibri" pitchFamily="34" charset="-122"/>
                <a:cs typeface="Calibri" pitchFamily="34" charset="-120"/>
              </a:rPr>
              <a:t>An Android app that helps Boston renters record apartment problems, like no heat, and get them fixed.</a:t>
            </a:r>
            <a:endParaRPr lang="en-US" sz="1600" dirty="0"/>
          </a:p>
        </p:txBody>
      </p:sp>
      <p:sp>
        <p:nvSpPr>
          <p:cNvPr id="6" name="anim_2_n1"/>
          <p:cNvSpPr txBox="1"/>
          <p:nvPr/>
        </p:nvSpPr>
        <p:spPr>
          <a:xfrm>
            <a:off x="640080" y="4526280"/>
            <a:ext cx="301752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Ankita Patra</a:t>
            </a:r>
            <a:endParaRPr lang="en-US" sz="1400" dirty="0"/>
          </a:p>
          <a:p>
            <a:pPr indent="0" marL="0">
              <a:buNone/>
            </a:pPr>
            <a:r>
              <a:rPr lang="en-US" sz="1400" dirty="0">
                <a:solidFill>
                  <a:srgbClr val="8A9BB5"/>
                </a:solidFill>
                <a:latin typeface="Calibri" pitchFamily="34" charset="0"/>
                <a:ea typeface="Calibri" pitchFamily="34" charset="-122"/>
                <a:cs typeface="Calibri" pitchFamily="34" charset="-120"/>
              </a:rPr>
              <a:t>Evidence · issues · notices · PDF</a:t>
            </a:r>
            <a:endParaRPr lang="en-US" sz="1400" dirty="0"/>
          </a:p>
        </p:txBody>
      </p:sp>
      <p:sp>
        <p:nvSpPr>
          <p:cNvPr id="7" name="anim_2_n2"/>
          <p:cNvSpPr txBox="1"/>
          <p:nvPr/>
        </p:nvSpPr>
        <p:spPr>
          <a:xfrm>
            <a:off x="3749040" y="4526280"/>
            <a:ext cx="301752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Priyanshu Singh</a:t>
            </a:r>
            <a:endParaRPr lang="en-US" sz="1400" dirty="0"/>
          </a:p>
          <a:p>
            <a:pPr indent="0" marL="0">
              <a:buNone/>
            </a:pPr>
            <a:r>
              <a:rPr lang="en-US" sz="1400" dirty="0">
                <a:solidFill>
                  <a:srgbClr val="8A9BB5"/>
                </a:solidFill>
                <a:latin typeface="Calibri" pitchFamily="34" charset="0"/>
                <a:ea typeface="Calibri" pitchFamily="34" charset="-122"/>
                <a:cs typeface="Calibri" pitchFamily="34" charset="-120"/>
              </a:rPr>
              <a:t>BLE · charts · rules · backend</a:t>
            </a:r>
            <a:endParaRPr lang="en-US" sz="1400" dirty="0"/>
          </a:p>
        </p:txBody>
      </p:sp>
      <p:sp>
        <p:nvSpPr>
          <p:cNvPr id="8" name="anim_3_chip0"/>
          <p:cNvSpPr/>
          <p:nvPr/>
        </p:nvSpPr>
        <p:spPr>
          <a:xfrm>
            <a:off x="640080" y="5760720"/>
            <a:ext cx="896112" cy="347472"/>
          </a:xfrm>
          <a:prstGeom prst="roundRect">
            <a:avLst>
              <a:gd name="adj" fmla="val 50000"/>
            </a:avLst>
          </a:prstGeom>
          <a:solidFill>
            <a:srgbClr val="1B2B44"/>
          </a:solidFill>
          <a:ln w="9525">
            <a:solidFill>
              <a:srgbClr val="2E4262"/>
            </a:solidFill>
            <a:prstDash val="solid"/>
          </a:ln>
        </p:spPr>
      </p:sp>
      <p:sp>
        <p:nvSpPr>
          <p:cNvPr id="9" name="anim_3_chipt0"/>
          <p:cNvSpPr txBox="1"/>
          <p:nvPr/>
        </p:nvSpPr>
        <p:spPr>
          <a:xfrm>
            <a:off x="640080" y="5760720"/>
            <a:ext cx="896112" cy="347472"/>
          </a:xfrm>
          <a:prstGeom prst="rect">
            <a:avLst/>
          </a:prstGeom>
          <a:noFill/>
          <a:ln/>
        </p:spPr>
        <p:txBody>
          <a:bodyPr wrap="square" lIns="0" tIns="0" rIns="0" bIns="0" rtlCol="0" anchor="ctr"/>
          <a:lstStyle/>
          <a:p>
            <a:pPr algn="ctr" indent="0" marL="0">
              <a:buNone/>
            </a:pPr>
            <a:r>
              <a:rPr lang="en-US" sz="1100" dirty="0">
                <a:solidFill>
                  <a:srgbClr val="C9D6E8"/>
                </a:solidFill>
                <a:latin typeface="Calibri" pitchFamily="34" charset="0"/>
                <a:ea typeface="Calibri" pitchFamily="34" charset="-122"/>
                <a:cs typeface="Calibri" pitchFamily="34" charset="-120"/>
              </a:rPr>
              <a:t>One repo</a:t>
            </a:r>
            <a:endParaRPr lang="en-US" sz="1100" dirty="0"/>
          </a:p>
        </p:txBody>
      </p:sp>
      <p:sp>
        <p:nvSpPr>
          <p:cNvPr id="10" name="anim_3_chip1"/>
          <p:cNvSpPr/>
          <p:nvPr/>
        </p:nvSpPr>
        <p:spPr>
          <a:xfrm>
            <a:off x="1645920" y="5760720"/>
            <a:ext cx="722376" cy="347472"/>
          </a:xfrm>
          <a:prstGeom prst="roundRect">
            <a:avLst>
              <a:gd name="adj" fmla="val 50000"/>
            </a:avLst>
          </a:prstGeom>
          <a:solidFill>
            <a:srgbClr val="1B2B44"/>
          </a:solidFill>
          <a:ln w="9525">
            <a:solidFill>
              <a:srgbClr val="2E4262"/>
            </a:solidFill>
            <a:prstDash val="solid"/>
          </a:ln>
        </p:spPr>
      </p:sp>
      <p:sp>
        <p:nvSpPr>
          <p:cNvPr id="11" name="anim_3_chipt1"/>
          <p:cNvSpPr txBox="1"/>
          <p:nvPr/>
        </p:nvSpPr>
        <p:spPr>
          <a:xfrm>
            <a:off x="1645920" y="5760720"/>
            <a:ext cx="722376" cy="347472"/>
          </a:xfrm>
          <a:prstGeom prst="rect">
            <a:avLst/>
          </a:prstGeom>
          <a:noFill/>
          <a:ln/>
        </p:spPr>
        <p:txBody>
          <a:bodyPr wrap="square" lIns="0" tIns="0" rIns="0" bIns="0" rtlCol="0" anchor="ctr"/>
          <a:lstStyle/>
          <a:p>
            <a:pPr algn="ctr" indent="0" marL="0">
              <a:buNone/>
            </a:pPr>
            <a:r>
              <a:rPr lang="en-US" sz="1100" dirty="0">
                <a:solidFill>
                  <a:srgbClr val="C9D6E8"/>
                </a:solidFill>
                <a:latin typeface="Calibri" pitchFamily="34" charset="0"/>
                <a:ea typeface="Calibri" pitchFamily="34" charset="-122"/>
                <a:cs typeface="Calibri" pitchFamily="34" charset="-120"/>
              </a:rPr>
              <a:t>Kotlin</a:t>
            </a:r>
            <a:endParaRPr lang="en-US" sz="1100" dirty="0"/>
          </a:p>
        </p:txBody>
      </p:sp>
      <p:sp>
        <p:nvSpPr>
          <p:cNvPr id="12" name="anim_3_chip2"/>
          <p:cNvSpPr/>
          <p:nvPr/>
        </p:nvSpPr>
        <p:spPr>
          <a:xfrm>
            <a:off x="2478024" y="5760720"/>
            <a:ext cx="809244" cy="347472"/>
          </a:xfrm>
          <a:prstGeom prst="roundRect">
            <a:avLst>
              <a:gd name="adj" fmla="val 50000"/>
            </a:avLst>
          </a:prstGeom>
          <a:solidFill>
            <a:srgbClr val="1B2B44"/>
          </a:solidFill>
          <a:ln w="9525">
            <a:solidFill>
              <a:srgbClr val="2E4262"/>
            </a:solidFill>
            <a:prstDash val="solid"/>
          </a:ln>
        </p:spPr>
      </p:sp>
      <p:sp>
        <p:nvSpPr>
          <p:cNvPr id="13" name="anim_3_chipt2"/>
          <p:cNvSpPr txBox="1"/>
          <p:nvPr/>
        </p:nvSpPr>
        <p:spPr>
          <a:xfrm>
            <a:off x="2478024" y="5760720"/>
            <a:ext cx="809244" cy="347472"/>
          </a:xfrm>
          <a:prstGeom prst="rect">
            <a:avLst/>
          </a:prstGeom>
          <a:noFill/>
          <a:ln/>
        </p:spPr>
        <p:txBody>
          <a:bodyPr wrap="square" lIns="0" tIns="0" rIns="0" bIns="0" rtlCol="0" anchor="ctr"/>
          <a:lstStyle/>
          <a:p>
            <a:pPr algn="ctr" indent="0" marL="0">
              <a:buNone/>
            </a:pPr>
            <a:r>
              <a:rPr lang="en-US" sz="1100" dirty="0">
                <a:solidFill>
                  <a:srgbClr val="C9D6E8"/>
                </a:solidFill>
                <a:latin typeface="Calibri" pitchFamily="34" charset="0"/>
                <a:ea typeface="Calibri" pitchFamily="34" charset="-122"/>
                <a:cs typeface="Calibri" pitchFamily="34" charset="-120"/>
              </a:rPr>
              <a:t>Compose</a:t>
            </a:r>
            <a:endParaRPr lang="en-US" sz="1100" dirty="0"/>
          </a:p>
        </p:txBody>
      </p:sp>
      <p:sp>
        <p:nvSpPr>
          <p:cNvPr id="14" name="anim_3_chip3"/>
          <p:cNvSpPr/>
          <p:nvPr/>
        </p:nvSpPr>
        <p:spPr>
          <a:xfrm>
            <a:off x="3396996" y="5760720"/>
            <a:ext cx="548640" cy="347472"/>
          </a:xfrm>
          <a:prstGeom prst="roundRect">
            <a:avLst>
              <a:gd name="adj" fmla="val 50000"/>
            </a:avLst>
          </a:prstGeom>
          <a:solidFill>
            <a:srgbClr val="1B2B44"/>
          </a:solidFill>
          <a:ln w="9525">
            <a:solidFill>
              <a:srgbClr val="2E4262"/>
            </a:solidFill>
            <a:prstDash val="solid"/>
          </a:ln>
        </p:spPr>
      </p:sp>
      <p:sp>
        <p:nvSpPr>
          <p:cNvPr id="15" name="anim_3_chipt3"/>
          <p:cNvSpPr txBox="1"/>
          <p:nvPr/>
        </p:nvSpPr>
        <p:spPr>
          <a:xfrm>
            <a:off x="3396996" y="5760720"/>
            <a:ext cx="548640" cy="347472"/>
          </a:xfrm>
          <a:prstGeom prst="rect">
            <a:avLst/>
          </a:prstGeom>
          <a:noFill/>
          <a:ln/>
        </p:spPr>
        <p:txBody>
          <a:bodyPr wrap="square" lIns="0" tIns="0" rIns="0" bIns="0" rtlCol="0" anchor="ctr"/>
          <a:lstStyle/>
          <a:p>
            <a:pPr algn="ctr" indent="0" marL="0">
              <a:buNone/>
            </a:pPr>
            <a:r>
              <a:rPr lang="en-US" sz="1100" dirty="0">
                <a:solidFill>
                  <a:srgbClr val="C9D6E8"/>
                </a:solidFill>
                <a:latin typeface="Calibri" pitchFamily="34" charset="0"/>
                <a:ea typeface="Calibri" pitchFamily="34" charset="-122"/>
                <a:cs typeface="Calibri" pitchFamily="34" charset="-120"/>
              </a:rPr>
              <a:t>Room</a:t>
            </a:r>
            <a:endParaRPr lang="en-US" sz="1100" dirty="0"/>
          </a:p>
        </p:txBody>
      </p:sp>
      <p:sp>
        <p:nvSpPr>
          <p:cNvPr id="16" name="anim_3_chip4"/>
          <p:cNvSpPr/>
          <p:nvPr/>
        </p:nvSpPr>
        <p:spPr>
          <a:xfrm>
            <a:off x="4055364" y="5760720"/>
            <a:ext cx="548640" cy="347472"/>
          </a:xfrm>
          <a:prstGeom prst="roundRect">
            <a:avLst>
              <a:gd name="adj" fmla="val 50000"/>
            </a:avLst>
          </a:prstGeom>
          <a:solidFill>
            <a:srgbClr val="1B2B44"/>
          </a:solidFill>
          <a:ln w="9525">
            <a:solidFill>
              <a:srgbClr val="2E4262"/>
            </a:solidFill>
            <a:prstDash val="solid"/>
          </a:ln>
        </p:spPr>
      </p:sp>
      <p:sp>
        <p:nvSpPr>
          <p:cNvPr id="17" name="anim_3_chipt4"/>
          <p:cNvSpPr txBox="1"/>
          <p:nvPr/>
        </p:nvSpPr>
        <p:spPr>
          <a:xfrm>
            <a:off x="4055364" y="5760720"/>
            <a:ext cx="548640" cy="347472"/>
          </a:xfrm>
          <a:prstGeom prst="rect">
            <a:avLst/>
          </a:prstGeom>
          <a:noFill/>
          <a:ln/>
        </p:spPr>
        <p:txBody>
          <a:bodyPr wrap="square" lIns="0" tIns="0" rIns="0" bIns="0" rtlCol="0" anchor="ctr"/>
          <a:lstStyle/>
          <a:p>
            <a:pPr algn="ctr" indent="0" marL="0">
              <a:buNone/>
            </a:pPr>
            <a:r>
              <a:rPr lang="en-US" sz="1100" dirty="0">
                <a:solidFill>
                  <a:srgbClr val="C9D6E8"/>
                </a:solidFill>
                <a:latin typeface="Calibri" pitchFamily="34" charset="0"/>
                <a:ea typeface="Calibri" pitchFamily="34" charset="-122"/>
                <a:cs typeface="Calibri" pitchFamily="34" charset="-120"/>
              </a:rPr>
              <a:t>Vico</a:t>
            </a:r>
            <a:endParaRPr lang="en-US" sz="1100" dirty="0"/>
          </a:p>
        </p:txBody>
      </p:sp>
      <p:sp>
        <p:nvSpPr>
          <p:cNvPr id="18" name="anim_3_chip5"/>
          <p:cNvSpPr/>
          <p:nvPr/>
        </p:nvSpPr>
        <p:spPr>
          <a:xfrm>
            <a:off x="4713732" y="5760720"/>
            <a:ext cx="1069848" cy="347472"/>
          </a:xfrm>
          <a:prstGeom prst="roundRect">
            <a:avLst>
              <a:gd name="adj" fmla="val 50000"/>
            </a:avLst>
          </a:prstGeom>
          <a:solidFill>
            <a:srgbClr val="1B2B44"/>
          </a:solidFill>
          <a:ln w="9525">
            <a:solidFill>
              <a:srgbClr val="2E4262"/>
            </a:solidFill>
            <a:prstDash val="solid"/>
          </a:ln>
        </p:spPr>
      </p:sp>
      <p:sp>
        <p:nvSpPr>
          <p:cNvPr id="19" name="anim_3_chipt5"/>
          <p:cNvSpPr txBox="1"/>
          <p:nvPr/>
        </p:nvSpPr>
        <p:spPr>
          <a:xfrm>
            <a:off x="4713732" y="5760720"/>
            <a:ext cx="1069848" cy="347472"/>
          </a:xfrm>
          <a:prstGeom prst="rect">
            <a:avLst/>
          </a:prstGeom>
          <a:noFill/>
          <a:ln/>
        </p:spPr>
        <p:txBody>
          <a:bodyPr wrap="square" lIns="0" tIns="0" rIns="0" bIns="0" rtlCol="0" anchor="ctr"/>
          <a:lstStyle/>
          <a:p>
            <a:pPr algn="ctr" indent="0" marL="0">
              <a:buNone/>
            </a:pPr>
            <a:r>
              <a:rPr lang="en-US" sz="1100" dirty="0">
                <a:solidFill>
                  <a:srgbClr val="C9D6E8"/>
                </a:solidFill>
                <a:latin typeface="Calibri" pitchFamily="34" charset="0"/>
                <a:ea typeface="Calibri" pitchFamily="34" charset="-122"/>
                <a:cs typeface="Calibri" pitchFamily="34" charset="-120"/>
              </a:rPr>
              <a:t>Open-Meteo</a:t>
            </a:r>
            <a:endParaRPr lang="en-US" sz="1100" dirty="0"/>
          </a:p>
        </p:txBody>
      </p:sp>
      <p:sp>
        <p:nvSpPr>
          <p:cNvPr id="20" name="anim_3_repo"/>
          <p:cNvSpPr txBox="1"/>
          <p:nvPr/>
        </p:nvSpPr>
        <p:spPr>
          <a:xfrm>
            <a:off x="640080" y="6236208"/>
            <a:ext cx="5486400" cy="274320"/>
          </a:xfrm>
          <a:prstGeom prst="rect">
            <a:avLst/>
          </a:prstGeom>
          <a:noFill/>
          <a:ln/>
        </p:spPr>
        <p:txBody>
          <a:bodyPr wrap="square" lIns="0" tIns="0" rIns="0" bIns="0" rtlCol="0" anchor="ctr"/>
          <a:lstStyle/>
          <a:p>
            <a:pPr indent="0" marL="0">
              <a:buNone/>
            </a:pPr>
            <a:r>
              <a:rPr lang="en-US" sz="1100" u="sng" dirty="0">
                <a:solidFill>
                  <a:srgbClr val="8A9BB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github.com/Priyanshusingh09876/Habitable</a:t>
            </a:r>
            <a:endParaRPr lang="en-US" sz="1100" dirty="0"/>
          </a:p>
        </p:txBody>
      </p:sp>
      <p:sp>
        <p:nvSpPr>
          <p:cNvPr id="21" name="anim_4_card"/>
          <p:cNvSpPr/>
          <p:nvPr/>
        </p:nvSpPr>
        <p:spPr>
          <a:xfrm>
            <a:off x="7635240" y="1234440"/>
            <a:ext cx="3931920" cy="4480560"/>
          </a:xfrm>
          <a:prstGeom prst="roundRect">
            <a:avLst>
              <a:gd name="adj" fmla="val 2791"/>
            </a:avLst>
          </a:prstGeom>
          <a:solidFill>
            <a:srgbClr val="1B2B44"/>
          </a:solidFill>
          <a:ln w="19050">
            <a:solidFill>
              <a:srgbClr val="E4572E"/>
            </a:solidFill>
            <a:prstDash val="solid"/>
          </a:ln>
          <a:effectLst>
            <a:outerShdw sx="100000" sy="100000" kx="0" ky="0" algn="bl" rotWithShape="0" blurRad="152400" dist="50800" dir="5400000">
              <a:srgbClr val="000000">
                <a:alpha val="35000"/>
              </a:srgbClr>
            </a:outerShdw>
          </a:effectLst>
        </p:spPr>
      </p:sp>
      <p:sp>
        <p:nvSpPr>
          <p:cNvPr id="22" name="anim_4_k"/>
          <p:cNvSpPr txBox="1"/>
          <p:nvPr/>
        </p:nvSpPr>
        <p:spPr>
          <a:xfrm>
            <a:off x="7909560" y="1463040"/>
            <a:ext cx="3474720" cy="274320"/>
          </a:xfrm>
          <a:prstGeom prst="rect">
            <a:avLst/>
          </a:prstGeom>
          <a:noFill/>
          <a:ln/>
        </p:spPr>
        <p:txBody>
          <a:bodyPr wrap="square" lIns="0" tIns="0" rIns="0" bIns="0" rtlCol="0" anchor="ctr"/>
          <a:lstStyle/>
          <a:p>
            <a:pPr indent="0" marL="0">
              <a:buNone/>
            </a:pPr>
            <a:r>
              <a:rPr lang="en-US" sz="1100" b="1" spc="150" kern="0" dirty="0">
                <a:solidFill>
                  <a:srgbClr val="E4572E"/>
                </a:solidFill>
                <a:latin typeface="Calibri" pitchFamily="34" charset="0"/>
                <a:ea typeface="Calibri" pitchFamily="34" charset="-122"/>
                <a:cs typeface="Calibri" pitchFamily="34" charset="-120"/>
              </a:rPr>
              <a:t>EXHIBIT A  ·  12 PRATT ST, APT 3</a:t>
            </a:r>
            <a:endParaRPr lang="en-US" sz="1100" dirty="0"/>
          </a:p>
        </p:txBody>
      </p:sp>
      <p:sp>
        <p:nvSpPr>
          <p:cNvPr id="23" name="anim_4_big"/>
          <p:cNvSpPr txBox="1"/>
          <p:nvPr/>
        </p:nvSpPr>
        <p:spPr>
          <a:xfrm>
            <a:off x="7909560" y="1783080"/>
            <a:ext cx="3474720" cy="8686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61.4°F</a:t>
            </a:r>
            <a:endParaRPr lang="en-US" sz="5400" dirty="0"/>
          </a:p>
        </p:txBody>
      </p:sp>
      <p:sp>
        <p:nvSpPr>
          <p:cNvPr id="24" name="anim_4_when"/>
          <p:cNvSpPr txBox="1"/>
          <p:nvPr/>
        </p:nvSpPr>
        <p:spPr>
          <a:xfrm>
            <a:off x="7909560" y="2651760"/>
            <a:ext cx="3474720" cy="274320"/>
          </a:xfrm>
          <a:prstGeom prst="rect">
            <a:avLst/>
          </a:prstGeom>
          <a:noFill/>
          <a:ln/>
        </p:spPr>
        <p:txBody>
          <a:bodyPr wrap="square" lIns="0" tIns="0" rIns="0" bIns="0" rtlCol="0" anchor="ctr"/>
          <a:lstStyle/>
          <a:p>
            <a:pPr indent="0" marL="0">
              <a:buNone/>
            </a:pPr>
            <a:r>
              <a:rPr lang="en-US" sz="1200" dirty="0">
                <a:solidFill>
                  <a:srgbClr val="8A9BB5"/>
                </a:solidFill>
                <a:latin typeface="Calibri" pitchFamily="34" charset="0"/>
                <a:ea typeface="Calibri" pitchFamily="34" charset="-122"/>
                <a:cs typeface="Calibri" pitchFamily="34" charset="-120"/>
              </a:rPr>
              <a:t>Living room · Nov 10, 10:00 AM</a:t>
            </a:r>
            <a:endParaRPr lang="en-US" sz="1200" dirty="0"/>
          </a:p>
        </p:txBody>
      </p:sp>
      <p:graphicFrame>
        <p:nvGraphicFramePr>
          <p:cNvPr id="25" name="anim_4_spark" descr=""/>
          <p:cNvGraphicFramePr/>
          <p:nvPr/>
        </p:nvGraphicFramePr>
        <p:xfrm>
          <a:off x="7772400" y="3017520"/>
          <a:ext cx="3657600" cy="1554480"/>
        </p:xfrm>
        <a:graphic xmlns:a="http://schemas.openxmlformats.org/drawingml/2006/main">
          <a:graphicData uri="http://schemas.openxmlformats.org/drawingml/2006/chart">
            <c:chart xmlns:c="http://schemas.openxmlformats.org/drawingml/2006/chart" r:id="rId2"/>
          </a:graphicData>
        </a:graphic>
      </p:graphicFrame>
      <p:sp>
        <p:nvSpPr>
          <p:cNvPr id="26" name="anim_4_pill"/>
          <p:cNvSpPr/>
          <p:nvPr/>
        </p:nvSpPr>
        <p:spPr>
          <a:xfrm>
            <a:off x="7909560" y="4754880"/>
            <a:ext cx="3383280" cy="685800"/>
          </a:xfrm>
          <a:prstGeom prst="roundRect">
            <a:avLst>
              <a:gd name="adj" fmla="val 10667"/>
            </a:avLst>
          </a:prstGeom>
          <a:solidFill>
            <a:srgbClr val="3A2230"/>
          </a:solidFill>
          <a:ln w="12700">
            <a:solidFill>
              <a:srgbClr val="3A2230"/>
            </a:solidFill>
            <a:prstDash val="solid"/>
          </a:ln>
        </p:spPr>
      </p:sp>
      <p:sp>
        <p:nvSpPr>
          <p:cNvPr id="27" name="anim_4_pillt"/>
          <p:cNvSpPr txBox="1"/>
          <p:nvPr/>
        </p:nvSpPr>
        <p:spPr>
          <a:xfrm>
            <a:off x="8046720" y="4754880"/>
            <a:ext cx="3200400" cy="685800"/>
          </a:xfrm>
          <a:prstGeom prst="rect">
            <a:avLst/>
          </a:prstGeom>
          <a:noFill/>
          <a:ln/>
        </p:spPr>
        <p:txBody>
          <a:bodyPr wrap="square" lIns="0" tIns="0" rIns="0" bIns="0" rtlCol="0" anchor="ctr"/>
          <a:lstStyle/>
          <a:p>
            <a:pPr indent="0" marL="0">
              <a:buNone/>
            </a:pPr>
            <a:r>
              <a:rPr lang="en-US" sz="1400" b="1" dirty="0">
                <a:solidFill>
                  <a:srgbClr val="FFB59C"/>
                </a:solidFill>
                <a:latin typeface="Calibri" pitchFamily="34" charset="0"/>
                <a:ea typeface="Calibri" pitchFamily="34" charset="-122"/>
                <a:cs typeface="Calibri" pitchFamily="34" charset="-120"/>
              </a:rPr>
              <a:t>13 hours</a:t>
            </a:r>
            <a:pPr indent="0" marL="0">
              <a:buNone/>
            </a:pPr>
            <a:r>
              <a:rPr lang="en-US" sz="1400" dirty="0">
                <a:solidFill>
                  <a:srgbClr val="F2D5CB"/>
                </a:solidFill>
                <a:latin typeface="Calibri" pitchFamily="34" charset="0"/>
                <a:ea typeface="Calibri" pitchFamily="34" charset="-122"/>
                <a:cs typeface="Calibri" pitchFamily="34" charset="-120"/>
              </a:rPr>
              <a:t> below the MA heat limit overnight</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nodeType="withEffect">
                                  <p:stCondLst>
                                    <p:cond delay="18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nodeType="withEffect">
                                  <p:stCondLst>
                                    <p:cond delay="18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nodeType="withEffect">
                                  <p:stCondLst>
                                    <p:cond delay="3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nodeType="withEffect">
                                  <p:stCondLst>
                                    <p:cond delay="36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nodeType="withEffect">
                                  <p:stCondLst>
                                    <p:cond delay="54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nodeType="withEffect">
                                  <p:stCondLst>
                                    <p:cond delay="54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nodeType="withEffect">
                                  <p:stCondLst>
                                    <p:cond delay="54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nodeType="withEffect">
                                  <p:stCondLst>
                                    <p:cond delay="54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nodeType="withEffect">
                                  <p:stCondLst>
                                    <p:cond delay="54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nodeType="withEffect">
                                  <p:stCondLst>
                                    <p:cond delay="54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nodeType="withEffect">
                                  <p:stCondLst>
                                    <p:cond delay="54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nodeType="withEffect">
                                  <p:stCondLst>
                                    <p:cond delay="54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nodeType="withEffect">
                                  <p:stCondLst>
                                    <p:cond delay="5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nodeType="withEffect">
                                  <p:stCondLst>
                                    <p:cond delay="54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nodeType="withEffect">
                                  <p:stCondLst>
                                    <p:cond delay="54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nodeType="withEffect">
                                  <p:stCondLst>
                                    <p:cond delay="54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nodeType="withEffect">
                                  <p:stCondLst>
                                    <p:cond delay="54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nodeType="withEffect">
                                  <p:stCondLst>
                                    <p:cond delay="72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nodeType="withEffect">
                                  <p:stCondLst>
                                    <p:cond delay="72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par>
                                <p:cTn id="64" presetID="10" presetClass="entr" presetSubtype="0" fill="hold" nodeType="withEffect">
                                  <p:stCondLst>
                                    <p:cond delay="72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nodeType="withEffect">
                                  <p:stCondLst>
                                    <p:cond delay="72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nodeType="withEffect">
                                  <p:stCondLst>
                                    <p:cond delay="72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nodeType="withEffect">
                                  <p:stCondLst>
                                    <p:cond delay="72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nodeType="withEffect">
                                  <p:stCondLst>
                                    <p:cond delay="72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01  ·  WHAT CHANGED AFTER OCTOBER 6</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What we changed after your feedback</a:t>
            </a:r>
            <a:endParaRPr lang="en-US" sz="3400" dirty="0"/>
          </a:p>
        </p:txBody>
      </p:sp>
      <p:sp>
        <p:nvSpPr>
          <p:cNvPr id="4" name="anim_0_row"/>
          <p:cNvSpPr/>
          <p:nvPr/>
        </p:nvSpPr>
        <p:spPr>
          <a:xfrm>
            <a:off x="548640" y="1691640"/>
            <a:ext cx="11091672" cy="786384"/>
          </a:xfrm>
          <a:prstGeom prst="roundRect">
            <a:avLst>
              <a:gd name="adj" fmla="val 11628"/>
            </a:avLst>
          </a:prstGeom>
          <a:solidFill>
            <a:srgbClr val="F3F5F8"/>
          </a:solidFill>
          <a:ln w="9525">
            <a:solidFill>
              <a:srgbClr val="F3F5F8"/>
            </a:solidFill>
            <a:prstDash val="solid"/>
          </a:ln>
        </p:spPr>
      </p:sp>
      <p:sp>
        <p:nvSpPr>
          <p:cNvPr id="5" name="anim_0_ic_c"/>
          <p:cNvSpPr/>
          <p:nvPr/>
        </p:nvSpPr>
        <p:spPr>
          <a:xfrm>
            <a:off x="731520" y="1828800"/>
            <a:ext cx="512064" cy="512064"/>
          </a:xfrm>
          <a:prstGeom prst="ellipse">
            <a:avLst/>
          </a:prstGeom>
          <a:solidFill>
            <a:srgbClr val="E4572E"/>
          </a:solidFill>
          <a:ln w="12700">
            <a:solidFill>
              <a:srgbClr val="E4572E"/>
            </a:solidFill>
            <a:prstDash val="solid"/>
          </a:ln>
        </p:spPr>
      </p:sp>
      <p:pic>
        <p:nvPicPr>
          <p:cNvPr id="6" name="anim_0_ic_i" descr="preencoded.png">    </p:cNvPr>
          <p:cNvPicPr>
            <a:picLocks noChangeAspect="1"/>
          </p:cNvPicPr>
          <p:nvPr/>
        </p:nvPicPr>
        <p:blipFill>
          <a:blip r:embed="rId1"/>
          <a:stretch>
            <a:fillRect/>
          </a:stretch>
        </p:blipFill>
        <p:spPr>
          <a:xfrm>
            <a:off x="854415" y="1951695"/>
            <a:ext cx="266273" cy="266273"/>
          </a:xfrm>
          <a:prstGeom prst="rect">
            <a:avLst/>
          </a:prstGeom>
        </p:spPr>
      </p:pic>
      <p:sp>
        <p:nvSpPr>
          <p:cNvPr id="7" name="anim_0_q"/>
          <p:cNvSpPr txBox="1"/>
          <p:nvPr/>
        </p:nvSpPr>
        <p:spPr>
          <a:xfrm>
            <a:off x="1463040" y="1691640"/>
            <a:ext cx="4206240" cy="786384"/>
          </a:xfrm>
          <a:prstGeom prst="rect">
            <a:avLst/>
          </a:prstGeom>
          <a:noFill/>
          <a:ln/>
        </p:spPr>
        <p:txBody>
          <a:bodyPr wrap="square" lIns="0" tIns="0" rIns="0" bIns="0" rtlCol="0" anchor="ctr"/>
          <a:lstStyle/>
          <a:p>
            <a:pPr indent="0" marL="0">
              <a:buNone/>
            </a:pPr>
            <a:r>
              <a:rPr lang="en-US" sz="1400" i="1" dirty="0">
                <a:solidFill>
                  <a:srgbClr val="0F1B2D"/>
                </a:solidFill>
                <a:latin typeface="Cambria" pitchFamily="34" charset="0"/>
                <a:ea typeface="Cambria" pitchFamily="34" charset="-122"/>
                <a:cs typeface="Cambria" pitchFamily="34" charset="-120"/>
              </a:rPr>
              <a:t>“How are you gonna do the chart? You should have chart early on.”</a:t>
            </a:r>
            <a:endParaRPr lang="en-US" sz="1400" dirty="0"/>
          </a:p>
        </p:txBody>
      </p:sp>
      <p:pic>
        <p:nvPicPr>
          <p:cNvPr id="8" name="anim_0_ar" descr="preencoded.png">    </p:cNvPr>
          <p:cNvPicPr>
            <a:picLocks noChangeAspect="1"/>
          </p:cNvPicPr>
          <p:nvPr/>
        </p:nvPicPr>
        <p:blipFill>
          <a:blip r:embed="rId2"/>
          <a:stretch>
            <a:fillRect/>
          </a:stretch>
        </p:blipFill>
        <p:spPr>
          <a:xfrm>
            <a:off x="5806440" y="1993392"/>
            <a:ext cx="182880" cy="182880"/>
          </a:xfrm>
          <a:prstGeom prst="rect">
            <a:avLst/>
          </a:prstGeom>
        </p:spPr>
      </p:pic>
      <p:sp>
        <p:nvSpPr>
          <p:cNvPr id="9" name="anim_0_a"/>
          <p:cNvSpPr txBox="1"/>
          <p:nvPr/>
        </p:nvSpPr>
        <p:spPr>
          <a:xfrm>
            <a:off x="6172200" y="1691640"/>
            <a:ext cx="5303520" cy="786384"/>
          </a:xfrm>
          <a:prstGeom prst="rect">
            <a:avLst/>
          </a:prstGeom>
          <a:noFill/>
          <a:ln/>
        </p:spPr>
        <p:txBody>
          <a:bodyPr wrap="square" lIns="0" tIns="0" rIns="0" bIns="0" rtlCol="0" anchor="ctr"/>
          <a:lstStyle/>
          <a:p>
            <a:pPr indent="0" marL="0">
              <a:buNone/>
            </a:pPr>
            <a:r>
              <a:rPr lang="en-US" sz="1400" dirty="0">
                <a:solidFill>
                  <a:srgbClr val="1E2633"/>
                </a:solidFill>
                <a:latin typeface="Calibri" pitchFamily="34" charset="0"/>
                <a:ea typeface="Calibri" pitchFamily="34" charset="-122"/>
                <a:cs typeface="Calibri" pitchFamily="34" charset="-120"/>
              </a:rPr>
              <a:t>Charts are MVP, sprint 1: Vico on Home, Sensors and the PDF. Indoor vs. the 68/64 step limit, with Boston outdoor temperatures from Open-Meteo.</a:t>
            </a:r>
            <a:endParaRPr lang="en-US" sz="1400" dirty="0"/>
          </a:p>
        </p:txBody>
      </p:sp>
      <p:sp>
        <p:nvSpPr>
          <p:cNvPr id="10" name="anim_1_row"/>
          <p:cNvSpPr/>
          <p:nvPr/>
        </p:nvSpPr>
        <p:spPr>
          <a:xfrm>
            <a:off x="548640" y="2587752"/>
            <a:ext cx="11091672" cy="786384"/>
          </a:xfrm>
          <a:prstGeom prst="roundRect">
            <a:avLst>
              <a:gd name="adj" fmla="val 11628"/>
            </a:avLst>
          </a:prstGeom>
          <a:solidFill>
            <a:srgbClr val="FFFFFF"/>
          </a:solidFill>
          <a:ln w="9525">
            <a:solidFill>
              <a:srgbClr val="DCE1E8"/>
            </a:solidFill>
            <a:prstDash val="solid"/>
          </a:ln>
        </p:spPr>
      </p:sp>
      <p:sp>
        <p:nvSpPr>
          <p:cNvPr id="11" name="anim_1_ic_c"/>
          <p:cNvSpPr/>
          <p:nvPr/>
        </p:nvSpPr>
        <p:spPr>
          <a:xfrm>
            <a:off x="731520" y="2724912"/>
            <a:ext cx="512064" cy="512064"/>
          </a:xfrm>
          <a:prstGeom prst="ellipse">
            <a:avLst/>
          </a:prstGeom>
          <a:solidFill>
            <a:srgbClr val="3A86C8"/>
          </a:solidFill>
          <a:ln w="12700">
            <a:solidFill>
              <a:srgbClr val="3A86C8"/>
            </a:solidFill>
            <a:prstDash val="solid"/>
          </a:ln>
        </p:spPr>
      </p:sp>
      <p:pic>
        <p:nvPicPr>
          <p:cNvPr id="12" name="anim_1_ic_i" descr="preencoded.png">    </p:cNvPr>
          <p:cNvPicPr>
            <a:picLocks noChangeAspect="1"/>
          </p:cNvPicPr>
          <p:nvPr/>
        </p:nvPicPr>
        <p:blipFill>
          <a:blip r:embed="rId3"/>
          <a:stretch>
            <a:fillRect/>
          </a:stretch>
        </p:blipFill>
        <p:spPr>
          <a:xfrm>
            <a:off x="854415" y="2847807"/>
            <a:ext cx="266273" cy="266273"/>
          </a:xfrm>
          <a:prstGeom prst="rect">
            <a:avLst/>
          </a:prstGeom>
        </p:spPr>
      </p:pic>
      <p:sp>
        <p:nvSpPr>
          <p:cNvPr id="13" name="anim_1_q"/>
          <p:cNvSpPr txBox="1"/>
          <p:nvPr/>
        </p:nvSpPr>
        <p:spPr>
          <a:xfrm>
            <a:off x="1463040" y="2587752"/>
            <a:ext cx="4206240" cy="786384"/>
          </a:xfrm>
          <a:prstGeom prst="rect">
            <a:avLst/>
          </a:prstGeom>
          <a:noFill/>
          <a:ln/>
        </p:spPr>
        <p:txBody>
          <a:bodyPr wrap="square" lIns="0" tIns="0" rIns="0" bIns="0" rtlCol="0" anchor="ctr"/>
          <a:lstStyle/>
          <a:p>
            <a:pPr indent="0" marL="0">
              <a:buNone/>
            </a:pPr>
            <a:r>
              <a:rPr lang="en-US" sz="1400" i="1" dirty="0">
                <a:solidFill>
                  <a:srgbClr val="0F1B2D"/>
                </a:solidFill>
                <a:latin typeface="Cambria" pitchFamily="34" charset="0"/>
                <a:ea typeface="Cambria" pitchFamily="34" charset="-122"/>
                <a:cs typeface="Cambria" pitchFamily="34" charset="-120"/>
              </a:rPr>
              <a:t>“Have you done any research into what kind of evidence would be useful?”</a:t>
            </a:r>
            <a:endParaRPr lang="en-US" sz="1400" dirty="0"/>
          </a:p>
        </p:txBody>
      </p:sp>
      <p:pic>
        <p:nvPicPr>
          <p:cNvPr id="14" name="anim_1_ar" descr="preencoded.png">    </p:cNvPr>
          <p:cNvPicPr>
            <a:picLocks noChangeAspect="1"/>
          </p:cNvPicPr>
          <p:nvPr/>
        </p:nvPicPr>
        <p:blipFill>
          <a:blip r:embed="rId4"/>
          <a:stretch>
            <a:fillRect/>
          </a:stretch>
        </p:blipFill>
        <p:spPr>
          <a:xfrm>
            <a:off x="5806440" y="2889504"/>
            <a:ext cx="182880" cy="182880"/>
          </a:xfrm>
          <a:prstGeom prst="rect">
            <a:avLst/>
          </a:prstGeom>
        </p:spPr>
      </p:pic>
      <p:sp>
        <p:nvSpPr>
          <p:cNvPr id="15" name="anim_1_a"/>
          <p:cNvSpPr txBox="1"/>
          <p:nvPr/>
        </p:nvSpPr>
        <p:spPr>
          <a:xfrm>
            <a:off x="6172200" y="2587752"/>
            <a:ext cx="5303520" cy="786384"/>
          </a:xfrm>
          <a:prstGeom prst="rect">
            <a:avLst/>
          </a:prstGeom>
          <a:noFill/>
          <a:ln/>
        </p:spPr>
        <p:txBody>
          <a:bodyPr wrap="square" lIns="0" tIns="0" rIns="0" bIns="0" rtlCol="0" anchor="ctr"/>
          <a:lstStyle/>
          <a:p>
            <a:pPr indent="0" marL="0">
              <a:buNone/>
            </a:pPr>
            <a:r>
              <a:rPr lang="en-US" sz="1400" dirty="0">
                <a:solidFill>
                  <a:srgbClr val="1E2633"/>
                </a:solidFill>
                <a:latin typeface="Calibri" pitchFamily="34" charset="0"/>
                <a:ea typeface="Calibri" pitchFamily="34" charset="-122"/>
                <a:cs typeface="Calibri" pitchFamily="34" charset="-120"/>
              </a:rPr>
              <a:t>Dated notice, duration and severity, thermostat photos, then an ISD / Board of Health inspection. The goal is to get an inspector to come out.</a:t>
            </a:r>
            <a:endParaRPr lang="en-US" sz="1400" dirty="0"/>
          </a:p>
        </p:txBody>
      </p:sp>
      <p:sp>
        <p:nvSpPr>
          <p:cNvPr id="16" name="anim_2_row"/>
          <p:cNvSpPr/>
          <p:nvPr/>
        </p:nvSpPr>
        <p:spPr>
          <a:xfrm>
            <a:off x="548640" y="3483864"/>
            <a:ext cx="11091672" cy="786384"/>
          </a:xfrm>
          <a:prstGeom prst="roundRect">
            <a:avLst>
              <a:gd name="adj" fmla="val 11628"/>
            </a:avLst>
          </a:prstGeom>
          <a:solidFill>
            <a:srgbClr val="F3F5F8"/>
          </a:solidFill>
          <a:ln w="9525">
            <a:solidFill>
              <a:srgbClr val="F3F5F8"/>
            </a:solidFill>
            <a:prstDash val="solid"/>
          </a:ln>
        </p:spPr>
      </p:sp>
      <p:sp>
        <p:nvSpPr>
          <p:cNvPr id="17" name="anim_2_ic_c"/>
          <p:cNvSpPr/>
          <p:nvPr/>
        </p:nvSpPr>
        <p:spPr>
          <a:xfrm>
            <a:off x="731520" y="3621024"/>
            <a:ext cx="512064" cy="512064"/>
          </a:xfrm>
          <a:prstGeom prst="ellipse">
            <a:avLst/>
          </a:prstGeom>
          <a:solidFill>
            <a:srgbClr val="0F1B2D"/>
          </a:solidFill>
          <a:ln w="12700">
            <a:solidFill>
              <a:srgbClr val="0F1B2D"/>
            </a:solidFill>
            <a:prstDash val="solid"/>
          </a:ln>
        </p:spPr>
      </p:sp>
      <p:pic>
        <p:nvPicPr>
          <p:cNvPr id="18" name="anim_2_ic_i" descr="preencoded.png">    </p:cNvPr>
          <p:cNvPicPr>
            <a:picLocks noChangeAspect="1"/>
          </p:cNvPicPr>
          <p:nvPr/>
        </p:nvPicPr>
        <p:blipFill>
          <a:blip r:embed="rId5"/>
          <a:stretch>
            <a:fillRect/>
          </a:stretch>
        </p:blipFill>
        <p:spPr>
          <a:xfrm>
            <a:off x="854415" y="3743919"/>
            <a:ext cx="266273" cy="266273"/>
          </a:xfrm>
          <a:prstGeom prst="rect">
            <a:avLst/>
          </a:prstGeom>
        </p:spPr>
      </p:pic>
      <p:sp>
        <p:nvSpPr>
          <p:cNvPr id="19" name="anim_2_q"/>
          <p:cNvSpPr txBox="1"/>
          <p:nvPr/>
        </p:nvSpPr>
        <p:spPr>
          <a:xfrm>
            <a:off x="1463040" y="3483864"/>
            <a:ext cx="4206240" cy="786384"/>
          </a:xfrm>
          <a:prstGeom prst="rect">
            <a:avLst/>
          </a:prstGeom>
          <a:noFill/>
          <a:ln/>
        </p:spPr>
        <p:txBody>
          <a:bodyPr wrap="square" lIns="0" tIns="0" rIns="0" bIns="0" rtlCol="0" anchor="ctr"/>
          <a:lstStyle/>
          <a:p>
            <a:pPr indent="0" marL="0">
              <a:buNone/>
            </a:pPr>
            <a:r>
              <a:rPr lang="en-US" sz="1400" i="1" dirty="0">
                <a:solidFill>
                  <a:srgbClr val="0F1B2D"/>
                </a:solidFill>
                <a:latin typeface="Cambria" pitchFamily="34" charset="0"/>
                <a:ea typeface="Cambria" pitchFamily="34" charset="-122"/>
                <a:cs typeface="Cambria" pitchFamily="34" charset="-120"/>
              </a:rPr>
              <a:t>“What does the Escalate button do?”</a:t>
            </a:r>
            <a:endParaRPr lang="en-US" sz="1400" dirty="0"/>
          </a:p>
        </p:txBody>
      </p:sp>
      <p:pic>
        <p:nvPicPr>
          <p:cNvPr id="20" name="anim_2_ar" descr="preencoded.png">    </p:cNvPr>
          <p:cNvPicPr>
            <a:picLocks noChangeAspect="1"/>
          </p:cNvPicPr>
          <p:nvPr/>
        </p:nvPicPr>
        <p:blipFill>
          <a:blip r:embed="rId6"/>
          <a:stretch>
            <a:fillRect/>
          </a:stretch>
        </p:blipFill>
        <p:spPr>
          <a:xfrm>
            <a:off x="5806440" y="3785616"/>
            <a:ext cx="182880" cy="182880"/>
          </a:xfrm>
          <a:prstGeom prst="rect">
            <a:avLst/>
          </a:prstGeom>
        </p:spPr>
      </p:pic>
      <p:sp>
        <p:nvSpPr>
          <p:cNvPr id="21" name="anim_2_a"/>
          <p:cNvSpPr txBox="1"/>
          <p:nvPr/>
        </p:nvSpPr>
        <p:spPr>
          <a:xfrm>
            <a:off x="6172200" y="3483864"/>
            <a:ext cx="5303520" cy="786384"/>
          </a:xfrm>
          <a:prstGeom prst="rect">
            <a:avLst/>
          </a:prstGeom>
          <a:noFill/>
          <a:ln/>
        </p:spPr>
        <p:txBody>
          <a:bodyPr wrap="square" lIns="0" tIns="0" rIns="0" bIns="0" rtlCol="0" anchor="ctr"/>
          <a:lstStyle/>
          <a:p>
            <a:pPr indent="0" marL="0">
              <a:buNone/>
            </a:pPr>
            <a:r>
              <a:rPr lang="en-US" sz="1400" dirty="0">
                <a:solidFill>
                  <a:srgbClr val="1E2633"/>
                </a:solidFill>
                <a:latin typeface="Calibri" pitchFamily="34" charset="0"/>
                <a:ea typeface="Calibri" pitchFamily="34" charset="-122"/>
                <a:cs typeface="Calibri" pitchFamily="34" charset="-120"/>
              </a:rPr>
              <a:t>A defined three-step path: notice → inspection request → repair-clock reminders. Not a lawsuit, and no 311 filing in MVP.</a:t>
            </a:r>
            <a:endParaRPr lang="en-US" sz="1400" dirty="0"/>
          </a:p>
        </p:txBody>
      </p:sp>
      <p:sp>
        <p:nvSpPr>
          <p:cNvPr id="22" name="anim_3_row"/>
          <p:cNvSpPr/>
          <p:nvPr/>
        </p:nvSpPr>
        <p:spPr>
          <a:xfrm>
            <a:off x="548640" y="4379976"/>
            <a:ext cx="11091672" cy="786384"/>
          </a:xfrm>
          <a:prstGeom prst="roundRect">
            <a:avLst>
              <a:gd name="adj" fmla="val 11628"/>
            </a:avLst>
          </a:prstGeom>
          <a:solidFill>
            <a:srgbClr val="FFFFFF"/>
          </a:solidFill>
          <a:ln w="9525">
            <a:solidFill>
              <a:srgbClr val="DCE1E8"/>
            </a:solidFill>
            <a:prstDash val="solid"/>
          </a:ln>
        </p:spPr>
      </p:sp>
      <p:sp>
        <p:nvSpPr>
          <p:cNvPr id="23" name="anim_3_ic_c"/>
          <p:cNvSpPr/>
          <p:nvPr/>
        </p:nvSpPr>
        <p:spPr>
          <a:xfrm>
            <a:off x="731520" y="4517136"/>
            <a:ext cx="512064" cy="512064"/>
          </a:xfrm>
          <a:prstGeom prst="ellipse">
            <a:avLst/>
          </a:prstGeom>
          <a:solidFill>
            <a:srgbClr val="2E9E6B"/>
          </a:solidFill>
          <a:ln w="12700">
            <a:solidFill>
              <a:srgbClr val="2E9E6B"/>
            </a:solidFill>
            <a:prstDash val="solid"/>
          </a:ln>
        </p:spPr>
      </p:sp>
      <p:pic>
        <p:nvPicPr>
          <p:cNvPr id="24" name="anim_3_ic_i" descr="preencoded.png">    </p:cNvPr>
          <p:cNvPicPr>
            <a:picLocks noChangeAspect="1"/>
          </p:cNvPicPr>
          <p:nvPr/>
        </p:nvPicPr>
        <p:blipFill>
          <a:blip r:embed="rId7"/>
          <a:stretch>
            <a:fillRect/>
          </a:stretch>
        </p:blipFill>
        <p:spPr>
          <a:xfrm>
            <a:off x="854415" y="4640031"/>
            <a:ext cx="266273" cy="266273"/>
          </a:xfrm>
          <a:prstGeom prst="rect">
            <a:avLst/>
          </a:prstGeom>
        </p:spPr>
      </p:pic>
      <p:sp>
        <p:nvSpPr>
          <p:cNvPr id="25" name="anim_3_q"/>
          <p:cNvSpPr txBox="1"/>
          <p:nvPr/>
        </p:nvSpPr>
        <p:spPr>
          <a:xfrm>
            <a:off x="1463040" y="4379976"/>
            <a:ext cx="4206240" cy="786384"/>
          </a:xfrm>
          <a:prstGeom prst="rect">
            <a:avLst/>
          </a:prstGeom>
          <a:noFill/>
          <a:ln/>
        </p:spPr>
        <p:txBody>
          <a:bodyPr wrap="square" lIns="0" tIns="0" rIns="0" bIns="0" rtlCol="0" anchor="ctr"/>
          <a:lstStyle/>
          <a:p>
            <a:pPr indent="0" marL="0">
              <a:buNone/>
            </a:pPr>
            <a:r>
              <a:rPr lang="en-US" sz="1400" i="1" dirty="0">
                <a:solidFill>
                  <a:srgbClr val="0F1B2D"/>
                </a:solidFill>
                <a:latin typeface="Cambria" pitchFamily="34" charset="0"/>
                <a:ea typeface="Cambria" pitchFamily="34" charset="-122"/>
                <a:cs typeface="Cambria" pitchFamily="34" charset="-120"/>
              </a:rPr>
              <a:t>“When you say pool, what do you mean?”</a:t>
            </a:r>
            <a:endParaRPr lang="en-US" sz="1400" dirty="0"/>
          </a:p>
        </p:txBody>
      </p:sp>
      <p:pic>
        <p:nvPicPr>
          <p:cNvPr id="26" name="anim_3_ar" descr="preencoded.png">    </p:cNvPr>
          <p:cNvPicPr>
            <a:picLocks noChangeAspect="1"/>
          </p:cNvPicPr>
          <p:nvPr/>
        </p:nvPicPr>
        <p:blipFill>
          <a:blip r:embed="rId8"/>
          <a:stretch>
            <a:fillRect/>
          </a:stretch>
        </p:blipFill>
        <p:spPr>
          <a:xfrm>
            <a:off x="5806440" y="4681728"/>
            <a:ext cx="182880" cy="182880"/>
          </a:xfrm>
          <a:prstGeom prst="rect">
            <a:avLst/>
          </a:prstGeom>
        </p:spPr>
      </p:pic>
      <p:sp>
        <p:nvSpPr>
          <p:cNvPr id="27" name="anim_3_a"/>
          <p:cNvSpPr txBox="1"/>
          <p:nvPr/>
        </p:nvSpPr>
        <p:spPr>
          <a:xfrm>
            <a:off x="6172200" y="4379976"/>
            <a:ext cx="5303520" cy="786384"/>
          </a:xfrm>
          <a:prstGeom prst="rect">
            <a:avLst/>
          </a:prstGeom>
          <a:noFill/>
          <a:ln/>
        </p:spPr>
        <p:txBody>
          <a:bodyPr wrap="square" lIns="0" tIns="0" rIns="0" bIns="0" rtlCol="0" anchor="ctr"/>
          <a:lstStyle/>
          <a:p>
            <a:pPr indent="0" marL="0">
              <a:buNone/>
            </a:pPr>
            <a:r>
              <a:rPr lang="en-US" sz="1400" dirty="0">
                <a:solidFill>
                  <a:srgbClr val="1E2633"/>
                </a:solidFill>
                <a:latin typeface="Calibri" pitchFamily="34" charset="0"/>
                <a:ea typeface="Calibri" pitchFamily="34" charset="-122"/>
                <a:cs typeface="Calibri" pitchFamily="34" charset="-120"/>
              </a:rPr>
              <a:t>Stretch goal. Neighbors can opt in to share a count, like “Unit 3B also has no heat.” No readings or photos are shared.</a:t>
            </a:r>
            <a:endParaRPr lang="en-US" sz="1400" dirty="0"/>
          </a:p>
        </p:txBody>
      </p:sp>
      <p:sp>
        <p:nvSpPr>
          <p:cNvPr id="28" name="anim_4_row"/>
          <p:cNvSpPr/>
          <p:nvPr/>
        </p:nvSpPr>
        <p:spPr>
          <a:xfrm>
            <a:off x="548640" y="5276088"/>
            <a:ext cx="11091672" cy="786384"/>
          </a:xfrm>
          <a:prstGeom prst="roundRect">
            <a:avLst>
              <a:gd name="adj" fmla="val 11628"/>
            </a:avLst>
          </a:prstGeom>
          <a:solidFill>
            <a:srgbClr val="F3F5F8"/>
          </a:solidFill>
          <a:ln w="9525">
            <a:solidFill>
              <a:srgbClr val="F3F5F8"/>
            </a:solidFill>
            <a:prstDash val="solid"/>
          </a:ln>
        </p:spPr>
      </p:sp>
      <p:sp>
        <p:nvSpPr>
          <p:cNvPr id="29" name="anim_4_ic_c"/>
          <p:cNvSpPr/>
          <p:nvPr/>
        </p:nvSpPr>
        <p:spPr>
          <a:xfrm>
            <a:off x="731520" y="5413248"/>
            <a:ext cx="512064" cy="512064"/>
          </a:xfrm>
          <a:prstGeom prst="ellipse">
            <a:avLst/>
          </a:prstGeom>
          <a:solidFill>
            <a:srgbClr val="6B5CA5"/>
          </a:solidFill>
          <a:ln w="12700">
            <a:solidFill>
              <a:srgbClr val="6B5CA5"/>
            </a:solidFill>
            <a:prstDash val="solid"/>
          </a:ln>
        </p:spPr>
      </p:sp>
      <p:pic>
        <p:nvPicPr>
          <p:cNvPr id="30" name="anim_4_ic_i" descr="preencoded.png">    </p:cNvPr>
          <p:cNvPicPr>
            <a:picLocks noChangeAspect="1"/>
          </p:cNvPicPr>
          <p:nvPr/>
        </p:nvPicPr>
        <p:blipFill>
          <a:blip r:embed="rId9"/>
          <a:stretch>
            <a:fillRect/>
          </a:stretch>
        </p:blipFill>
        <p:spPr>
          <a:xfrm>
            <a:off x="854415" y="5536143"/>
            <a:ext cx="266273" cy="266273"/>
          </a:xfrm>
          <a:prstGeom prst="rect">
            <a:avLst/>
          </a:prstGeom>
        </p:spPr>
      </p:pic>
      <p:sp>
        <p:nvSpPr>
          <p:cNvPr id="31" name="anim_4_q"/>
          <p:cNvSpPr txBox="1"/>
          <p:nvPr/>
        </p:nvSpPr>
        <p:spPr>
          <a:xfrm>
            <a:off x="1463040" y="5276088"/>
            <a:ext cx="4206240" cy="786384"/>
          </a:xfrm>
          <a:prstGeom prst="rect">
            <a:avLst/>
          </a:prstGeom>
          <a:noFill/>
          <a:ln/>
        </p:spPr>
        <p:txBody>
          <a:bodyPr wrap="square" lIns="0" tIns="0" rIns="0" bIns="0" rtlCol="0" anchor="ctr"/>
          <a:lstStyle/>
          <a:p>
            <a:pPr indent="0" marL="0">
              <a:buNone/>
            </a:pPr>
            <a:r>
              <a:rPr lang="en-US" sz="1400" i="1" dirty="0">
                <a:solidFill>
                  <a:srgbClr val="0F1B2D"/>
                </a:solidFill>
                <a:latin typeface="Cambria" pitchFamily="34" charset="0"/>
                <a:ea typeface="Cambria" pitchFamily="34" charset="-122"/>
                <a:cs typeface="Cambria" pitchFamily="34" charset="-120"/>
              </a:rPr>
              <a:t>“Integrating into email … keeping threads might be useful.”</a:t>
            </a:r>
            <a:endParaRPr lang="en-US" sz="1400" dirty="0"/>
          </a:p>
        </p:txBody>
      </p:sp>
      <p:pic>
        <p:nvPicPr>
          <p:cNvPr id="32" name="anim_4_ar" descr="preencoded.png">    </p:cNvPr>
          <p:cNvPicPr>
            <a:picLocks noChangeAspect="1"/>
          </p:cNvPicPr>
          <p:nvPr/>
        </p:nvPicPr>
        <p:blipFill>
          <a:blip r:embed="rId10"/>
          <a:stretch>
            <a:fillRect/>
          </a:stretch>
        </p:blipFill>
        <p:spPr>
          <a:xfrm>
            <a:off x="5806440" y="5577840"/>
            <a:ext cx="182880" cy="182880"/>
          </a:xfrm>
          <a:prstGeom prst="rect">
            <a:avLst/>
          </a:prstGeom>
        </p:spPr>
      </p:pic>
      <p:sp>
        <p:nvSpPr>
          <p:cNvPr id="33" name="anim_4_a"/>
          <p:cNvSpPr txBox="1"/>
          <p:nvPr/>
        </p:nvSpPr>
        <p:spPr>
          <a:xfrm>
            <a:off x="6172200" y="5276088"/>
            <a:ext cx="5303520" cy="786384"/>
          </a:xfrm>
          <a:prstGeom prst="rect">
            <a:avLst/>
          </a:prstGeom>
          <a:noFill/>
          <a:ln/>
        </p:spPr>
        <p:txBody>
          <a:bodyPr wrap="square" lIns="0" tIns="0" rIns="0" bIns="0" rtlCol="0" anchor="ctr"/>
          <a:lstStyle/>
          <a:p>
            <a:pPr indent="0" marL="0">
              <a:buNone/>
            </a:pPr>
            <a:r>
              <a:rPr lang="en-US" sz="1400" dirty="0">
                <a:solidFill>
                  <a:srgbClr val="1E2633"/>
                </a:solidFill>
                <a:latin typeface="Calibri" pitchFamily="34" charset="0"/>
                <a:ea typeface="Calibri" pitchFamily="34" charset="-122"/>
                <a:cs typeface="Calibri" pitchFamily="34" charset="-120"/>
              </a:rPr>
              <a:t>Landlord communication log (Want tier): every notice, reply and call lands on the issue timeline.</a:t>
            </a:r>
            <a:endParaRPr lang="en-US" sz="1400" dirty="0"/>
          </a:p>
        </p:txBody>
      </p:sp>
      <p:sp>
        <p:nvSpPr>
          <p:cNvPr id="34"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18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18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18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18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nodeType="withEffect">
                                  <p:stCondLst>
                                    <p:cond delay="18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18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nodeType="withEffect">
                                  <p:stCondLst>
                                    <p:cond delay="36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nodeType="withEffect">
                                  <p:stCondLst>
                                    <p:cond delay="36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36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nodeType="withEffect">
                                  <p:stCondLst>
                                    <p:cond delay="36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36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36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54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nodeType="withEffect">
                                  <p:stCondLst>
                                    <p:cond delay="54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nodeType="withEffect">
                                  <p:stCondLst>
                                    <p:cond delay="54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nodeType="withEffect">
                                  <p:stCondLst>
                                    <p:cond delay="54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nodeType="withEffect">
                                  <p:stCondLst>
                                    <p:cond delay="54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nodeType="withEffect">
                                  <p:stCondLst>
                                    <p:cond delay="54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nodeType="withEffect">
                                  <p:stCondLst>
                                    <p:cond delay="72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nodeType="withEffect">
                                  <p:stCondLst>
                                    <p:cond delay="72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par>
                                <p:cTn id="82" presetID="10" presetClass="entr" presetSubtype="0" fill="hold" nodeType="withEffect">
                                  <p:stCondLst>
                                    <p:cond delay="72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50"/>
                                        <p:tgtEl>
                                          <p:spTgt spid="30"/>
                                        </p:tgtEl>
                                      </p:cBhvr>
                                    </p:animEffect>
                                  </p:childTnLst>
                                </p:cTn>
                              </p:par>
                              <p:par>
                                <p:cTn id="85" presetID="10" presetClass="entr" presetSubtype="0" fill="hold" nodeType="withEffect">
                                  <p:stCondLst>
                                    <p:cond delay="72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nodeType="withEffect">
                                  <p:stCondLst>
                                    <p:cond delay="72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par>
                                <p:cTn id="91" presetID="10" presetClass="entr" presetSubtype="0" fill="hold" nodeType="withEffect">
                                  <p:stCondLst>
                                    <p:cond delay="72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02  ·  PROBLEM</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The law is clear. Proving it is hard</a:t>
            </a:r>
            <a:endParaRPr lang="en-US" sz="3400" dirty="0"/>
          </a:p>
        </p:txBody>
      </p:sp>
      <p:sp>
        <p:nvSpPr>
          <p:cNvPr id="4" name="anim_0_story"/>
          <p:cNvSpPr txBox="1"/>
          <p:nvPr/>
        </p:nvSpPr>
        <p:spPr>
          <a:xfrm>
            <a:off x="548640" y="1783080"/>
            <a:ext cx="5120640" cy="1097280"/>
          </a:xfrm>
          <a:prstGeom prst="rect">
            <a:avLst/>
          </a:prstGeom>
          <a:noFill/>
          <a:ln/>
        </p:spPr>
        <p:txBody>
          <a:bodyPr wrap="square" lIns="0" tIns="0" rIns="0" bIns="0" rtlCol="0" anchor="ctr"/>
          <a:lstStyle/>
          <a:p>
            <a:pPr indent="0" marL="0">
              <a:buNone/>
            </a:pPr>
            <a:r>
              <a:rPr lang="en-US" sz="2000" dirty="0">
                <a:solidFill>
                  <a:srgbClr val="1E2633"/>
                </a:solidFill>
                <a:latin typeface="Cambria" pitchFamily="34" charset="0"/>
                <a:ea typeface="Cambria" pitchFamily="34" charset="-122"/>
                <a:cs typeface="Cambria" pitchFamily="34" charset="-120"/>
              </a:rPr>
              <a:t>November in Boston. The heat stops. You text the landlord. Two weeks later you're sleeping in a jacket.</a:t>
            </a:r>
            <a:endParaRPr lang="en-US" sz="2000" dirty="0"/>
          </a:p>
        </p:txBody>
      </p:sp>
      <p:sp>
        <p:nvSpPr>
          <p:cNvPr id="5" name="anim_0_body"/>
          <p:cNvSpPr txBox="1"/>
          <p:nvPr/>
        </p:nvSpPr>
        <p:spPr>
          <a:xfrm>
            <a:off x="548640" y="3017520"/>
            <a:ext cx="5120640" cy="1005840"/>
          </a:xfrm>
          <a:prstGeom prst="rect">
            <a:avLst/>
          </a:prstGeom>
          <a:noFill/>
          <a:ln/>
        </p:spPr>
        <p:txBody>
          <a:bodyPr wrap="square" lIns="0" tIns="0" rIns="0" bIns="0" rtlCol="0" anchor="ctr"/>
          <a:lstStyle/>
          <a:p>
            <a:pPr indent="0" marL="0">
              <a:buNone/>
            </a:pPr>
            <a:r>
              <a:rPr lang="en-US" sz="1500" dirty="0">
                <a:solidFill>
                  <a:srgbClr val="5B6676"/>
                </a:solidFill>
                <a:latin typeface="Calibri" pitchFamily="34" charset="0"/>
                <a:ea typeface="Calibri" pitchFamily="34" charset="-122"/>
                <a:cs typeface="Calibri" pitchFamily="34" charset="-120"/>
              </a:rPr>
              <a:t>Massachusetts has clear heat rules and repair deadlines. But the tenant still has to show how cold it was, for how long, and when the landlord was told.</a:t>
            </a:r>
            <a:endParaRPr lang="en-US" sz="1500" dirty="0"/>
          </a:p>
        </p:txBody>
      </p:sp>
      <p:sp>
        <p:nvSpPr>
          <p:cNvPr id="6" name="anim_1_qbox"/>
          <p:cNvSpPr/>
          <p:nvPr/>
        </p:nvSpPr>
        <p:spPr>
          <a:xfrm>
            <a:off x="548640" y="4343400"/>
            <a:ext cx="5120640" cy="1325880"/>
          </a:xfrm>
          <a:prstGeom prst="roundRect">
            <a:avLst>
              <a:gd name="adj" fmla="val 6897"/>
            </a:avLst>
          </a:prstGeom>
          <a:solidFill>
            <a:srgbClr val="FBE3D9"/>
          </a:solidFill>
          <a:ln w="12700">
            <a:solidFill>
              <a:srgbClr val="FBE3D9"/>
            </a:solidFill>
            <a:prstDash val="solid"/>
          </a:ln>
        </p:spPr>
      </p:sp>
      <p:sp>
        <p:nvSpPr>
          <p:cNvPr id="7" name="anim_1_q"/>
          <p:cNvSpPr txBox="1"/>
          <p:nvPr/>
        </p:nvSpPr>
        <p:spPr>
          <a:xfrm>
            <a:off x="777240" y="4343400"/>
            <a:ext cx="4663440" cy="1325880"/>
          </a:xfrm>
          <a:prstGeom prst="rect">
            <a:avLst/>
          </a:prstGeom>
          <a:noFill/>
          <a:ln/>
        </p:spPr>
        <p:txBody>
          <a:bodyPr wrap="square" lIns="0" tIns="0" rIns="0" bIns="0" rtlCol="0" anchor="ctr"/>
          <a:lstStyle/>
          <a:p>
            <a:pPr indent="0" marL="0">
              <a:buNone/>
            </a:pPr>
            <a:r>
              <a:rPr lang="en-US" sz="2000" i="1" dirty="0">
                <a:solidFill>
                  <a:srgbClr val="9C3A1E"/>
                </a:solidFill>
                <a:latin typeface="Cambria" pitchFamily="34" charset="0"/>
                <a:ea typeface="Cambria" pitchFamily="34" charset="-122"/>
                <a:cs typeface="Cambria" pitchFamily="34" charset="-120"/>
              </a:rPr>
              <a:t>None of that helps if the only record is “it was cold.”</a:t>
            </a:r>
            <a:endParaRPr lang="en-US" sz="2000" dirty="0"/>
          </a:p>
        </p:txBody>
      </p:sp>
      <p:sp>
        <p:nvSpPr>
          <p:cNvPr id="8" name="Text 6"/>
          <p:cNvSpPr txBox="1"/>
          <p:nvPr/>
        </p:nvSpPr>
        <p:spPr>
          <a:xfrm>
            <a:off x="548640" y="5897880"/>
            <a:ext cx="5120640" cy="274320"/>
          </a:xfrm>
          <a:prstGeom prst="rect">
            <a:avLst/>
          </a:prstGeom>
          <a:noFill/>
          <a:ln/>
        </p:spPr>
        <p:txBody>
          <a:bodyPr wrap="square" lIns="0" tIns="0" rIns="0" bIns="0" rtlCol="0" anchor="ctr"/>
          <a:lstStyle/>
          <a:p>
            <a:pPr indent="0" marL="0">
              <a:buNone/>
            </a:pPr>
            <a:r>
              <a:rPr lang="en-US" sz="1000" dirty="0">
                <a:solidFill>
                  <a:srgbClr val="8A96A8"/>
                </a:solidFill>
                <a:latin typeface="Calibri" pitchFamily="34" charset="0"/>
                <a:ea typeface="Calibri" pitchFamily="34" charset="-122"/>
                <a:cs typeface="Calibri" pitchFamily="34" charset="-120"/>
              </a:rPr>
              <a:t>Sources: 105 CMR 410.180 · MGL c.111 §127L</a:t>
            </a:r>
            <a:endParaRPr lang="en-US" sz="1000" dirty="0"/>
          </a:p>
        </p:txBody>
      </p:sp>
      <p:sp>
        <p:nvSpPr>
          <p:cNvPr id="9" name="anim_2_box"/>
          <p:cNvSpPr/>
          <p:nvPr/>
        </p:nvSpPr>
        <p:spPr>
          <a:xfrm>
            <a:off x="6172200" y="1783080"/>
            <a:ext cx="2651760" cy="2057400"/>
          </a:xfrm>
          <a:prstGeom prst="roundRect">
            <a:avLst>
              <a:gd name="adj" fmla="val 4444"/>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10" name="anim_2_dot"/>
          <p:cNvSpPr/>
          <p:nvPr/>
        </p:nvSpPr>
        <p:spPr>
          <a:xfrm>
            <a:off x="6446520" y="2075688"/>
            <a:ext cx="146304" cy="146304"/>
          </a:xfrm>
          <a:prstGeom prst="ellipse">
            <a:avLst/>
          </a:prstGeom>
          <a:solidFill>
            <a:srgbClr val="E4572E"/>
          </a:solidFill>
          <a:ln w="12700">
            <a:solidFill>
              <a:srgbClr val="E4572E"/>
            </a:solidFill>
            <a:prstDash val="solid"/>
          </a:ln>
        </p:spPr>
      </p:sp>
      <p:sp>
        <p:nvSpPr>
          <p:cNvPr id="11" name="anim_2_n"/>
          <p:cNvSpPr txBox="1"/>
          <p:nvPr/>
        </p:nvSpPr>
        <p:spPr>
          <a:xfrm>
            <a:off x="6446520" y="2286000"/>
            <a:ext cx="224028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68° / 64°</a:t>
            </a:r>
            <a:endParaRPr lang="en-US" sz="3200" dirty="0"/>
          </a:p>
        </p:txBody>
      </p:sp>
      <p:sp>
        <p:nvSpPr>
          <p:cNvPr id="12" name="anim_2_l"/>
          <p:cNvSpPr txBox="1"/>
          <p:nvPr/>
        </p:nvSpPr>
        <p:spPr>
          <a:xfrm>
            <a:off x="6446520" y="2990088"/>
            <a:ext cx="2240280" cy="731520"/>
          </a:xfrm>
          <a:prstGeom prst="rect">
            <a:avLst/>
          </a:prstGeom>
          <a:noFill/>
          <a:ln/>
        </p:spPr>
        <p:txBody>
          <a:bodyPr wrap="square" lIns="0" tIns="0" rIns="0" bIns="0" rtlCol="0" anchor="t"/>
          <a:lstStyle/>
          <a:p>
            <a:pPr indent="0" marL="0">
              <a:buNone/>
            </a:pPr>
            <a:r>
              <a:rPr lang="en-US" sz="1200" dirty="0">
                <a:solidFill>
                  <a:srgbClr val="C9D6E8"/>
                </a:solidFill>
                <a:latin typeface="Calibri" pitchFamily="34" charset="0"/>
                <a:ea typeface="Calibri" pitchFamily="34" charset="-122"/>
                <a:cs typeface="Calibri" pitchFamily="34" charset="-120"/>
              </a:rPr>
              <a:t>Minimum: 68°F 7 AM–11 PM, 64°F overnight · Sept 15–May 31</a:t>
            </a:r>
            <a:endParaRPr lang="en-US" sz="1200" dirty="0"/>
          </a:p>
        </p:txBody>
      </p:sp>
      <p:sp>
        <p:nvSpPr>
          <p:cNvPr id="13" name="anim_3_box"/>
          <p:cNvSpPr/>
          <p:nvPr/>
        </p:nvSpPr>
        <p:spPr>
          <a:xfrm>
            <a:off x="8961120" y="1783080"/>
            <a:ext cx="2651760" cy="2057400"/>
          </a:xfrm>
          <a:prstGeom prst="roundRect">
            <a:avLst>
              <a:gd name="adj" fmla="val 4444"/>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14" name="anim_3_dot"/>
          <p:cNvSpPr/>
          <p:nvPr/>
        </p:nvSpPr>
        <p:spPr>
          <a:xfrm>
            <a:off x="9235440" y="2075688"/>
            <a:ext cx="146304" cy="146304"/>
          </a:xfrm>
          <a:prstGeom prst="ellipse">
            <a:avLst/>
          </a:prstGeom>
          <a:solidFill>
            <a:srgbClr val="F2A541"/>
          </a:solidFill>
          <a:ln w="12700">
            <a:solidFill>
              <a:srgbClr val="F2A541"/>
            </a:solidFill>
            <a:prstDash val="solid"/>
          </a:ln>
        </p:spPr>
      </p:sp>
      <p:sp>
        <p:nvSpPr>
          <p:cNvPr id="15" name="anim_3_n"/>
          <p:cNvSpPr txBox="1"/>
          <p:nvPr/>
        </p:nvSpPr>
        <p:spPr>
          <a:xfrm>
            <a:off x="9235440" y="2286000"/>
            <a:ext cx="224028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78°</a:t>
            </a:r>
            <a:endParaRPr lang="en-US" sz="3200" dirty="0"/>
          </a:p>
        </p:txBody>
      </p:sp>
      <p:sp>
        <p:nvSpPr>
          <p:cNvPr id="16" name="anim_3_l"/>
          <p:cNvSpPr txBox="1"/>
          <p:nvPr/>
        </p:nvSpPr>
        <p:spPr>
          <a:xfrm>
            <a:off x="9235440" y="2990088"/>
            <a:ext cx="2240280" cy="731520"/>
          </a:xfrm>
          <a:prstGeom prst="rect">
            <a:avLst/>
          </a:prstGeom>
          <a:noFill/>
          <a:ln/>
        </p:spPr>
        <p:txBody>
          <a:bodyPr wrap="square" lIns="0" tIns="0" rIns="0" bIns="0" rtlCol="0" anchor="t"/>
          <a:lstStyle/>
          <a:p>
            <a:pPr indent="0" marL="0">
              <a:buNone/>
            </a:pPr>
            <a:r>
              <a:rPr lang="en-US" sz="1200" dirty="0">
                <a:solidFill>
                  <a:srgbClr val="C9D6E8"/>
                </a:solidFill>
                <a:latin typeface="Calibri" pitchFamily="34" charset="0"/>
                <a:ea typeface="Calibri" pitchFamily="34" charset="-122"/>
                <a:cs typeface="Calibri" pitchFamily="34" charset="-120"/>
              </a:rPr>
              <a:t>Maximum in any room during heating season</a:t>
            </a:r>
            <a:endParaRPr lang="en-US" sz="1200" dirty="0"/>
          </a:p>
        </p:txBody>
      </p:sp>
      <p:sp>
        <p:nvSpPr>
          <p:cNvPr id="17" name="anim_4_box"/>
          <p:cNvSpPr/>
          <p:nvPr/>
        </p:nvSpPr>
        <p:spPr>
          <a:xfrm>
            <a:off x="6172200" y="4023360"/>
            <a:ext cx="2651760" cy="2057400"/>
          </a:xfrm>
          <a:prstGeom prst="roundRect">
            <a:avLst>
              <a:gd name="adj" fmla="val 4444"/>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18" name="anim_4_dot"/>
          <p:cNvSpPr/>
          <p:nvPr/>
        </p:nvSpPr>
        <p:spPr>
          <a:xfrm>
            <a:off x="6446520" y="4315968"/>
            <a:ext cx="146304" cy="146304"/>
          </a:xfrm>
          <a:prstGeom prst="ellipse">
            <a:avLst/>
          </a:prstGeom>
          <a:solidFill>
            <a:srgbClr val="3A86C8"/>
          </a:solidFill>
          <a:ln w="12700">
            <a:solidFill>
              <a:srgbClr val="3A86C8"/>
            </a:solidFill>
            <a:prstDash val="solid"/>
          </a:ln>
        </p:spPr>
      </p:sp>
      <p:sp>
        <p:nvSpPr>
          <p:cNvPr id="19" name="anim_4_n"/>
          <p:cNvSpPr txBox="1"/>
          <p:nvPr/>
        </p:nvSpPr>
        <p:spPr>
          <a:xfrm>
            <a:off x="6446520" y="4526280"/>
            <a:ext cx="224028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5 ft / 5 ft</a:t>
            </a:r>
            <a:endParaRPr lang="en-US" sz="3200" dirty="0"/>
          </a:p>
        </p:txBody>
      </p:sp>
      <p:sp>
        <p:nvSpPr>
          <p:cNvPr id="20" name="anim_4_l"/>
          <p:cNvSpPr txBox="1"/>
          <p:nvPr/>
        </p:nvSpPr>
        <p:spPr>
          <a:xfrm>
            <a:off x="6446520" y="5230368"/>
            <a:ext cx="2240280" cy="731520"/>
          </a:xfrm>
          <a:prstGeom prst="rect">
            <a:avLst/>
          </a:prstGeom>
          <a:noFill/>
          <a:ln/>
        </p:spPr>
        <p:txBody>
          <a:bodyPr wrap="square" lIns="0" tIns="0" rIns="0" bIns="0" rtlCol="0" anchor="t"/>
          <a:lstStyle/>
          <a:p>
            <a:pPr indent="0" marL="0">
              <a:buNone/>
            </a:pPr>
            <a:r>
              <a:rPr lang="en-US" sz="1200" dirty="0">
                <a:solidFill>
                  <a:srgbClr val="C9D6E8"/>
                </a:solidFill>
                <a:latin typeface="Calibri" pitchFamily="34" charset="0"/>
                <a:ea typeface="Calibri" pitchFamily="34" charset="-122"/>
                <a:cs typeface="Calibri" pitchFamily="34" charset="-120"/>
              </a:rPr>
              <a:t>Measured 5 ft above the floor, more than 5 ft from an exterior wall</a:t>
            </a:r>
            <a:endParaRPr lang="en-US" sz="1200" dirty="0"/>
          </a:p>
        </p:txBody>
      </p:sp>
      <p:sp>
        <p:nvSpPr>
          <p:cNvPr id="21" name="anim_5_box"/>
          <p:cNvSpPr/>
          <p:nvPr/>
        </p:nvSpPr>
        <p:spPr>
          <a:xfrm>
            <a:off x="8961120" y="4023360"/>
            <a:ext cx="2651760" cy="2057400"/>
          </a:xfrm>
          <a:prstGeom prst="roundRect">
            <a:avLst>
              <a:gd name="adj" fmla="val 4444"/>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22" name="anim_5_dot"/>
          <p:cNvSpPr/>
          <p:nvPr/>
        </p:nvSpPr>
        <p:spPr>
          <a:xfrm>
            <a:off x="9235440" y="4315968"/>
            <a:ext cx="146304" cy="146304"/>
          </a:xfrm>
          <a:prstGeom prst="ellipse">
            <a:avLst/>
          </a:prstGeom>
          <a:solidFill>
            <a:srgbClr val="8FA8C8"/>
          </a:solidFill>
          <a:ln w="12700">
            <a:solidFill>
              <a:srgbClr val="8FA8C8"/>
            </a:solidFill>
            <a:prstDash val="solid"/>
          </a:ln>
        </p:spPr>
      </p:sp>
      <p:sp>
        <p:nvSpPr>
          <p:cNvPr id="23" name="anim_5_n"/>
          <p:cNvSpPr txBox="1"/>
          <p:nvPr/>
        </p:nvSpPr>
        <p:spPr>
          <a:xfrm>
            <a:off x="9235440" y="4526280"/>
            <a:ext cx="224028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5 / 14 days</a:t>
            </a:r>
            <a:endParaRPr lang="en-US" sz="3200" dirty="0"/>
          </a:p>
        </p:txBody>
      </p:sp>
      <p:sp>
        <p:nvSpPr>
          <p:cNvPr id="24" name="anim_5_l"/>
          <p:cNvSpPr txBox="1"/>
          <p:nvPr/>
        </p:nvSpPr>
        <p:spPr>
          <a:xfrm>
            <a:off x="9235440" y="5230368"/>
            <a:ext cx="2240280" cy="731520"/>
          </a:xfrm>
          <a:prstGeom prst="rect">
            <a:avLst/>
          </a:prstGeom>
          <a:noFill/>
          <a:ln/>
        </p:spPr>
        <p:txBody>
          <a:bodyPr wrap="square" lIns="0" tIns="0" rIns="0" bIns="0" rtlCol="0" anchor="t"/>
          <a:lstStyle/>
          <a:p>
            <a:pPr indent="0" marL="0">
              <a:buNone/>
            </a:pPr>
            <a:r>
              <a:rPr lang="en-US" sz="1200" dirty="0">
                <a:solidFill>
                  <a:srgbClr val="C9D6E8"/>
                </a:solidFill>
                <a:latin typeface="Calibri" pitchFamily="34" charset="0"/>
                <a:ea typeface="Calibri" pitchFamily="34" charset="-122"/>
                <a:cs typeface="Calibri" pitchFamily="34" charset="-120"/>
              </a:rPr>
              <a:t>To start / finish repairs once a violation is certified and the landlord is notified in writing (§127L)</a:t>
            </a:r>
            <a:endParaRPr lang="en-US" sz="12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18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18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36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nodeType="withEffect">
                                  <p:stCondLst>
                                    <p:cond delay="36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nodeType="withEffect">
                                  <p:stCondLst>
                                    <p:cond delay="36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nodeType="withEffect">
                                  <p:stCondLst>
                                    <p:cond delay="36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nodeType="withEffect">
                                  <p:stCondLst>
                                    <p:cond delay="54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nodeType="withEffect">
                                  <p:stCondLst>
                                    <p:cond delay="54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54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54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nodeType="withEffect">
                                  <p:stCondLst>
                                    <p:cond delay="72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nodeType="withEffect">
                                  <p:stCondLst>
                                    <p:cond delay="72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par>
                                <p:cTn id="46" presetID="10" presetClass="entr" presetSubtype="0" fill="hold" nodeType="withEffect">
                                  <p:stCondLst>
                                    <p:cond delay="72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nodeType="withEffect">
                                  <p:stCondLst>
                                    <p:cond delay="72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par>
                                <p:cTn id="52" presetID="10" presetClass="entr" presetSubtype="0" fill="hold" nodeType="withEffect">
                                  <p:stCondLst>
                                    <p:cond delay="90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50"/>
                                        <p:tgtEl>
                                          <p:spTgt spid="21"/>
                                        </p:tgtEl>
                                      </p:cBhvr>
                                    </p:animEffect>
                                  </p:childTnLst>
                                </p:cTn>
                              </p:par>
                              <p:par>
                                <p:cTn id="55" presetID="10" presetClass="entr" presetSubtype="0" fill="hold" nodeType="withEffect">
                                  <p:stCondLst>
                                    <p:cond delay="90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50"/>
                                        <p:tgtEl>
                                          <p:spTgt spid="22"/>
                                        </p:tgtEl>
                                      </p:cBhvr>
                                    </p:animEffect>
                                  </p:childTnLst>
                                </p:cTn>
                              </p:par>
                              <p:par>
                                <p:cTn id="58" presetID="10" presetClass="entr" presetSubtype="0" fill="hold" nodeType="withEffect">
                                  <p:stCondLst>
                                    <p:cond delay="90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90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03  ·  EVIDENCE RESEARCH</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What evidence actually helps a tenant</a:t>
            </a:r>
            <a:endParaRPr lang="en-US" sz="3400" dirty="0"/>
          </a:p>
        </p:txBody>
      </p:sp>
      <p:graphicFrame>
        <p:nvGraphicFramePr>
          <p:cNvPr id="4" name="anim_0_tbl"/>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926080"/>
                <a:gridCol w="4690872"/>
                <a:gridCol w="3474720"/>
              </a:tblGrid>
              <a:tr h="53035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helps a claim</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F1B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F1B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 Habitable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F1B2D"/>
                    </a:solidFill>
                  </a:tcPr>
                </a:tc>
              </a:tr>
              <a:tr h="530352">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Dated written notice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Creates the paper trail; the §127L repair clock runs from written notice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Notice generator + send log</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r>
              <a:tr h="530352">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How long, how cold</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Inspectors ask about duration and severity</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Append-only log + chart vs. 68/64</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Thermostat + radiator photo</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Shows the heating system itself, not just the room</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CameraX, SHA-256 hash at capture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r>
              <a:tr h="530352">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5 ft / 5 ft placement</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Where the law says to measure (105 CMR 410.180)</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Placement photo at sensor setup</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Outdoor context</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A cold room means more when it was freezing outside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Open-Meteo overlay on every chart</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r>
              <a:tr h="530352">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ISD / Board of Health inspection</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The official measurement; a certified violation starts the §127L clock</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Escalate → inspection checklist + logged request</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r>
            </a:tbl>
          </a:graphicData>
        </a:graphic>
      </p:graphicFrame>
      <p:sp>
        <p:nvSpPr>
          <p:cNvPr id="5" name="anim_1_src"/>
          <p:cNvSpPr txBox="1"/>
          <p:nvPr/>
        </p:nvSpPr>
        <p:spPr>
          <a:xfrm>
            <a:off x="548640" y="5715000"/>
            <a:ext cx="11064240" cy="274320"/>
          </a:xfrm>
          <a:prstGeom prst="rect">
            <a:avLst/>
          </a:prstGeom>
          <a:noFill/>
          <a:ln/>
        </p:spPr>
        <p:txBody>
          <a:bodyPr wrap="square" lIns="0" tIns="0" rIns="0" bIns="0" rtlCol="0" anchor="ctr"/>
          <a:lstStyle/>
          <a:p>
            <a:pPr indent="0" marL="0">
              <a:buNone/>
            </a:pPr>
            <a:r>
              <a:rPr lang="en-US" sz="1100" i="1" dirty="0">
                <a:solidFill>
                  <a:srgbClr val="5B6676"/>
                </a:solidFill>
                <a:latin typeface="Calibri" pitchFamily="34" charset="0"/>
                <a:ea typeface="Calibri" pitchFamily="34" charset="-122"/>
                <a:cs typeface="Calibri" pitchFamily="34" charset="-120"/>
              </a:rPr>
              <a:t>Sources: MassLegalHelp, Legal Tactics Ch. 8 · 105 CMR 410.180 · MGL c.111 §127L. Product research, not legal advice</a:t>
            </a:r>
            <a:endParaRPr lang="en-US" sz="1100" dirty="0"/>
          </a:p>
        </p:txBody>
      </p:sp>
      <p:sp>
        <p:nvSpPr>
          <p:cNvPr id="6"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18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04  ·  CORE JOURNEY</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The main flow and key screens</a:t>
            </a:r>
            <a:endParaRPr lang="en-US" sz="3400" dirty="0"/>
          </a:p>
        </p:txBody>
      </p:sp>
      <p:sp>
        <p:nvSpPr>
          <p:cNvPr id="4" name="anim_0_st0"/>
          <p:cNvSpPr/>
          <p:nvPr/>
        </p:nvSpPr>
        <p:spPr>
          <a:xfrm>
            <a:off x="548640" y="1645920"/>
            <a:ext cx="1261872" cy="713232"/>
          </a:xfrm>
          <a:prstGeom prst="roundRect">
            <a:avLst>
              <a:gd name="adj" fmla="val 12821"/>
            </a:avLst>
          </a:prstGeom>
          <a:solidFill>
            <a:srgbClr val="0F1B2D"/>
          </a:solidFill>
          <a:ln w="12700">
            <a:solidFill>
              <a:srgbClr val="0F1B2D"/>
            </a:solidFill>
            <a:prstDash val="solid"/>
          </a:ln>
        </p:spPr>
      </p:sp>
      <p:sp>
        <p:nvSpPr>
          <p:cNvPr id="5" name="anim_0_stt0"/>
          <p:cNvSpPr txBox="1"/>
          <p:nvPr/>
        </p:nvSpPr>
        <p:spPr>
          <a:xfrm>
            <a:off x="548640" y="1645920"/>
            <a:ext cx="1261872" cy="713232"/>
          </a:xfrm>
          <a:prstGeom prst="rect">
            <a:avLst/>
          </a:prstGeom>
          <a:noFill/>
          <a:ln/>
        </p:spPr>
        <p:txBody>
          <a:bodyPr wrap="square" lIns="0" tIns="0" rIns="0" bIns="0" rtlCol="0" anchor="ctr"/>
          <a:lstStyle/>
          <a:p>
            <a:pPr algn="ctr" indent="0" marL="0">
              <a:buNone/>
            </a:pPr>
            <a:r>
              <a:rPr lang="en-US" sz="1000" b="1" dirty="0">
                <a:solidFill>
                  <a:srgbClr val="E4572E"/>
                </a:solidFill>
                <a:latin typeface="Calibri" pitchFamily="34" charset="0"/>
                <a:ea typeface="Calibri" pitchFamily="34" charset="-122"/>
                <a:cs typeface="Calibri" pitchFamily="34" charset="-120"/>
              </a:rPr>
              <a:t>01</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Account</a:t>
            </a:r>
            <a:endParaRPr lang="en-US" sz="1000" dirty="0"/>
          </a:p>
        </p:txBody>
      </p:sp>
      <p:sp>
        <p:nvSpPr>
          <p:cNvPr id="6" name="anim_0_st1"/>
          <p:cNvSpPr/>
          <p:nvPr/>
        </p:nvSpPr>
        <p:spPr>
          <a:xfrm>
            <a:off x="1952244" y="1645920"/>
            <a:ext cx="1261872" cy="713232"/>
          </a:xfrm>
          <a:prstGeom prst="roundRect">
            <a:avLst>
              <a:gd name="adj" fmla="val 12821"/>
            </a:avLst>
          </a:prstGeom>
          <a:solidFill>
            <a:srgbClr val="0F1B2D"/>
          </a:solidFill>
          <a:ln w="12700">
            <a:solidFill>
              <a:srgbClr val="0F1B2D"/>
            </a:solidFill>
            <a:prstDash val="solid"/>
          </a:ln>
        </p:spPr>
      </p:sp>
      <p:sp>
        <p:nvSpPr>
          <p:cNvPr id="7" name="anim_0_stt1"/>
          <p:cNvSpPr txBox="1"/>
          <p:nvPr/>
        </p:nvSpPr>
        <p:spPr>
          <a:xfrm>
            <a:off x="1952244" y="1645920"/>
            <a:ext cx="1261872" cy="713232"/>
          </a:xfrm>
          <a:prstGeom prst="rect">
            <a:avLst/>
          </a:prstGeom>
          <a:noFill/>
          <a:ln/>
        </p:spPr>
        <p:txBody>
          <a:bodyPr wrap="square" lIns="0" tIns="0" rIns="0" bIns="0" rtlCol="0" anchor="ctr"/>
          <a:lstStyle/>
          <a:p>
            <a:pPr algn="ctr" indent="0" marL="0">
              <a:buNone/>
            </a:pPr>
            <a:r>
              <a:rPr lang="en-US" sz="1000" b="1" dirty="0">
                <a:solidFill>
                  <a:srgbClr val="E4572E"/>
                </a:solidFill>
                <a:latin typeface="Calibri" pitchFamily="34" charset="0"/>
                <a:ea typeface="Calibri" pitchFamily="34" charset="-122"/>
                <a:cs typeface="Calibri" pitchFamily="34" charset="-120"/>
              </a:rPr>
              <a:t>02</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Apartment</a:t>
            </a:r>
            <a:endParaRPr lang="en-US" sz="1000" dirty="0"/>
          </a:p>
        </p:txBody>
      </p:sp>
      <p:sp>
        <p:nvSpPr>
          <p:cNvPr id="8" name="anim_0_st2"/>
          <p:cNvSpPr/>
          <p:nvPr/>
        </p:nvSpPr>
        <p:spPr>
          <a:xfrm>
            <a:off x="3355848" y="1645920"/>
            <a:ext cx="1261872" cy="713232"/>
          </a:xfrm>
          <a:prstGeom prst="roundRect">
            <a:avLst>
              <a:gd name="adj" fmla="val 12821"/>
            </a:avLst>
          </a:prstGeom>
          <a:solidFill>
            <a:srgbClr val="0F1B2D"/>
          </a:solidFill>
          <a:ln w="12700">
            <a:solidFill>
              <a:srgbClr val="0F1B2D"/>
            </a:solidFill>
            <a:prstDash val="solid"/>
          </a:ln>
        </p:spPr>
      </p:sp>
      <p:sp>
        <p:nvSpPr>
          <p:cNvPr id="9" name="anim_0_stt2"/>
          <p:cNvSpPr txBox="1"/>
          <p:nvPr/>
        </p:nvSpPr>
        <p:spPr>
          <a:xfrm>
            <a:off x="3355848" y="1645920"/>
            <a:ext cx="1261872" cy="713232"/>
          </a:xfrm>
          <a:prstGeom prst="rect">
            <a:avLst/>
          </a:prstGeom>
          <a:noFill/>
          <a:ln/>
        </p:spPr>
        <p:txBody>
          <a:bodyPr wrap="square" lIns="0" tIns="0" rIns="0" bIns="0" rtlCol="0" anchor="ctr"/>
          <a:lstStyle/>
          <a:p>
            <a:pPr algn="ctr" indent="0" marL="0">
              <a:buNone/>
            </a:pPr>
            <a:r>
              <a:rPr lang="en-US" sz="1000" b="1" dirty="0">
                <a:solidFill>
                  <a:srgbClr val="E4572E"/>
                </a:solidFill>
                <a:latin typeface="Calibri" pitchFamily="34" charset="0"/>
                <a:ea typeface="Calibri" pitchFamily="34" charset="-122"/>
                <a:cs typeface="Calibri" pitchFamily="34" charset="-120"/>
              </a:rPr>
              <a:t>03</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Sensor / sim</a:t>
            </a:r>
            <a:endParaRPr lang="en-US" sz="1000" dirty="0"/>
          </a:p>
        </p:txBody>
      </p:sp>
      <p:sp>
        <p:nvSpPr>
          <p:cNvPr id="10" name="anim_0_st3"/>
          <p:cNvSpPr/>
          <p:nvPr/>
        </p:nvSpPr>
        <p:spPr>
          <a:xfrm>
            <a:off x="4759452" y="1645920"/>
            <a:ext cx="1261872" cy="713232"/>
          </a:xfrm>
          <a:prstGeom prst="roundRect">
            <a:avLst>
              <a:gd name="adj" fmla="val 12821"/>
            </a:avLst>
          </a:prstGeom>
          <a:solidFill>
            <a:srgbClr val="E4572E"/>
          </a:solidFill>
          <a:ln w="12700">
            <a:solidFill>
              <a:srgbClr val="E4572E"/>
            </a:solidFill>
            <a:prstDash val="solid"/>
          </a:ln>
        </p:spPr>
      </p:sp>
      <p:sp>
        <p:nvSpPr>
          <p:cNvPr id="11" name="anim_0_stt3"/>
          <p:cNvSpPr txBox="1"/>
          <p:nvPr/>
        </p:nvSpPr>
        <p:spPr>
          <a:xfrm>
            <a:off x="4759452" y="1645920"/>
            <a:ext cx="1261872" cy="713232"/>
          </a:xfrm>
          <a:prstGeom prst="rect">
            <a:avLst/>
          </a:prstGeom>
          <a:noFill/>
          <a:ln/>
        </p:spPr>
        <p:txBody>
          <a:bodyPr wrap="square" lIns="0" tIns="0" rIns="0" bIns="0" rtlCol="0" anchor="ctr"/>
          <a:lstStyle/>
          <a:p>
            <a:pPr algn="ctr" indent="0" marL="0">
              <a:buNone/>
            </a:pPr>
            <a:r>
              <a:rPr lang="en-US" sz="1000" b="1" dirty="0">
                <a:solidFill>
                  <a:srgbClr val="FFE1D6"/>
                </a:solidFill>
                <a:latin typeface="Calibri" pitchFamily="34" charset="0"/>
                <a:ea typeface="Calibri" pitchFamily="34" charset="-122"/>
                <a:cs typeface="Calibri" pitchFamily="34" charset="-120"/>
              </a:rPr>
              <a:t>04</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Chart</a:t>
            </a:r>
            <a:endParaRPr lang="en-US" sz="1000" dirty="0"/>
          </a:p>
        </p:txBody>
      </p:sp>
      <p:sp>
        <p:nvSpPr>
          <p:cNvPr id="12" name="anim_0_st4"/>
          <p:cNvSpPr/>
          <p:nvPr/>
        </p:nvSpPr>
        <p:spPr>
          <a:xfrm>
            <a:off x="6163056" y="1645920"/>
            <a:ext cx="1261872" cy="713232"/>
          </a:xfrm>
          <a:prstGeom prst="roundRect">
            <a:avLst>
              <a:gd name="adj" fmla="val 12821"/>
            </a:avLst>
          </a:prstGeom>
          <a:solidFill>
            <a:srgbClr val="0F1B2D"/>
          </a:solidFill>
          <a:ln w="12700">
            <a:solidFill>
              <a:srgbClr val="0F1B2D"/>
            </a:solidFill>
            <a:prstDash val="solid"/>
          </a:ln>
        </p:spPr>
      </p:sp>
      <p:sp>
        <p:nvSpPr>
          <p:cNvPr id="13" name="anim_0_stt4"/>
          <p:cNvSpPr txBox="1"/>
          <p:nvPr/>
        </p:nvSpPr>
        <p:spPr>
          <a:xfrm>
            <a:off x="6163056" y="1645920"/>
            <a:ext cx="1261872" cy="713232"/>
          </a:xfrm>
          <a:prstGeom prst="rect">
            <a:avLst/>
          </a:prstGeom>
          <a:noFill/>
          <a:ln/>
        </p:spPr>
        <p:txBody>
          <a:bodyPr wrap="square" lIns="0" tIns="0" rIns="0" bIns="0" rtlCol="0" anchor="ctr"/>
          <a:lstStyle/>
          <a:p>
            <a:pPr algn="ctr" indent="0" marL="0">
              <a:buNone/>
            </a:pPr>
            <a:r>
              <a:rPr lang="en-US" sz="1000" b="1" dirty="0">
                <a:solidFill>
                  <a:srgbClr val="E4572E"/>
                </a:solidFill>
                <a:latin typeface="Calibri" pitchFamily="34" charset="0"/>
                <a:ea typeface="Calibri" pitchFamily="34" charset="-122"/>
                <a:cs typeface="Calibri" pitchFamily="34" charset="-120"/>
              </a:rPr>
              <a:t>05</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Auto incident</a:t>
            </a:r>
            <a:endParaRPr lang="en-US" sz="1000" dirty="0"/>
          </a:p>
        </p:txBody>
      </p:sp>
      <p:sp>
        <p:nvSpPr>
          <p:cNvPr id="14" name="anim_0_st5"/>
          <p:cNvSpPr/>
          <p:nvPr/>
        </p:nvSpPr>
        <p:spPr>
          <a:xfrm>
            <a:off x="7566660" y="1645920"/>
            <a:ext cx="1261872" cy="713232"/>
          </a:xfrm>
          <a:prstGeom prst="roundRect">
            <a:avLst>
              <a:gd name="adj" fmla="val 12821"/>
            </a:avLst>
          </a:prstGeom>
          <a:solidFill>
            <a:srgbClr val="0F1B2D"/>
          </a:solidFill>
          <a:ln w="12700">
            <a:solidFill>
              <a:srgbClr val="0F1B2D"/>
            </a:solidFill>
            <a:prstDash val="solid"/>
          </a:ln>
        </p:spPr>
      </p:sp>
      <p:sp>
        <p:nvSpPr>
          <p:cNvPr id="15" name="anim_0_stt5"/>
          <p:cNvSpPr txBox="1"/>
          <p:nvPr/>
        </p:nvSpPr>
        <p:spPr>
          <a:xfrm>
            <a:off x="7566660" y="1645920"/>
            <a:ext cx="1261872" cy="713232"/>
          </a:xfrm>
          <a:prstGeom prst="rect">
            <a:avLst/>
          </a:prstGeom>
          <a:noFill/>
          <a:ln/>
        </p:spPr>
        <p:txBody>
          <a:bodyPr wrap="square" lIns="0" tIns="0" rIns="0" bIns="0" rtlCol="0" anchor="ctr"/>
          <a:lstStyle/>
          <a:p>
            <a:pPr algn="ctr" indent="0" marL="0">
              <a:buNone/>
            </a:pPr>
            <a:r>
              <a:rPr lang="en-US" sz="1000" b="1" dirty="0">
                <a:solidFill>
                  <a:srgbClr val="E4572E"/>
                </a:solidFill>
                <a:latin typeface="Calibri" pitchFamily="34" charset="0"/>
                <a:ea typeface="Calibri" pitchFamily="34" charset="-122"/>
                <a:cs typeface="Calibri" pitchFamily="34" charset="-120"/>
              </a:rPr>
              <a:t>06</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Photos</a:t>
            </a:r>
            <a:endParaRPr lang="en-US" sz="1000" dirty="0"/>
          </a:p>
        </p:txBody>
      </p:sp>
      <p:sp>
        <p:nvSpPr>
          <p:cNvPr id="16" name="anim_0_st6"/>
          <p:cNvSpPr/>
          <p:nvPr/>
        </p:nvSpPr>
        <p:spPr>
          <a:xfrm>
            <a:off x="8970264" y="1645920"/>
            <a:ext cx="1261872" cy="713232"/>
          </a:xfrm>
          <a:prstGeom prst="roundRect">
            <a:avLst>
              <a:gd name="adj" fmla="val 12821"/>
            </a:avLst>
          </a:prstGeom>
          <a:solidFill>
            <a:srgbClr val="0F1B2D"/>
          </a:solidFill>
          <a:ln w="12700">
            <a:solidFill>
              <a:srgbClr val="0F1B2D"/>
            </a:solidFill>
            <a:prstDash val="solid"/>
          </a:ln>
        </p:spPr>
      </p:sp>
      <p:sp>
        <p:nvSpPr>
          <p:cNvPr id="17" name="anim_0_stt6"/>
          <p:cNvSpPr txBox="1"/>
          <p:nvPr/>
        </p:nvSpPr>
        <p:spPr>
          <a:xfrm>
            <a:off x="8970264" y="1645920"/>
            <a:ext cx="1261872" cy="713232"/>
          </a:xfrm>
          <a:prstGeom prst="rect">
            <a:avLst/>
          </a:prstGeom>
          <a:noFill/>
          <a:ln/>
        </p:spPr>
        <p:txBody>
          <a:bodyPr wrap="square" lIns="0" tIns="0" rIns="0" bIns="0" rtlCol="0" anchor="ctr"/>
          <a:lstStyle/>
          <a:p>
            <a:pPr algn="ctr" indent="0" marL="0">
              <a:buNone/>
            </a:pPr>
            <a:r>
              <a:rPr lang="en-US" sz="1000" b="1" dirty="0">
                <a:solidFill>
                  <a:srgbClr val="E4572E"/>
                </a:solidFill>
                <a:latin typeface="Calibri" pitchFamily="34" charset="0"/>
                <a:ea typeface="Calibri" pitchFamily="34" charset="-122"/>
                <a:cs typeface="Calibri" pitchFamily="34" charset="-120"/>
              </a:rPr>
              <a:t>07</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Notice</a:t>
            </a:r>
            <a:endParaRPr lang="en-US" sz="1000" dirty="0"/>
          </a:p>
        </p:txBody>
      </p:sp>
      <p:sp>
        <p:nvSpPr>
          <p:cNvPr id="18" name="anim_0_st7"/>
          <p:cNvSpPr/>
          <p:nvPr/>
        </p:nvSpPr>
        <p:spPr>
          <a:xfrm>
            <a:off x="10373868" y="1645920"/>
            <a:ext cx="1261872" cy="713232"/>
          </a:xfrm>
          <a:prstGeom prst="roundRect">
            <a:avLst>
              <a:gd name="adj" fmla="val 12821"/>
            </a:avLst>
          </a:prstGeom>
          <a:solidFill>
            <a:srgbClr val="0F1B2D"/>
          </a:solidFill>
          <a:ln w="12700">
            <a:solidFill>
              <a:srgbClr val="0F1B2D"/>
            </a:solidFill>
            <a:prstDash val="solid"/>
          </a:ln>
        </p:spPr>
      </p:sp>
      <p:sp>
        <p:nvSpPr>
          <p:cNvPr id="19" name="anim_0_stt7"/>
          <p:cNvSpPr txBox="1"/>
          <p:nvPr/>
        </p:nvSpPr>
        <p:spPr>
          <a:xfrm>
            <a:off x="10373868" y="1645920"/>
            <a:ext cx="1261872" cy="713232"/>
          </a:xfrm>
          <a:prstGeom prst="rect">
            <a:avLst/>
          </a:prstGeom>
          <a:noFill/>
          <a:ln/>
        </p:spPr>
        <p:txBody>
          <a:bodyPr wrap="square" lIns="0" tIns="0" rIns="0" bIns="0" rtlCol="0" anchor="ctr"/>
          <a:lstStyle/>
          <a:p>
            <a:pPr algn="ctr" indent="0" marL="0">
              <a:buNone/>
            </a:pPr>
            <a:r>
              <a:rPr lang="en-US" sz="1000" b="1" dirty="0">
                <a:solidFill>
                  <a:srgbClr val="E4572E"/>
                </a:solidFill>
                <a:latin typeface="Calibri" pitchFamily="34" charset="0"/>
                <a:ea typeface="Calibri" pitchFamily="34" charset="-122"/>
                <a:cs typeface="Calibri" pitchFamily="34" charset="-120"/>
              </a:rPr>
              <a:t>08</a:t>
            </a:r>
            <a:endParaRPr lang="en-US" sz="1000" dirty="0"/>
          </a:p>
          <a:p>
            <a:pPr algn="ctr" indent="0" marL="0">
              <a:buNone/>
            </a:pPr>
            <a:r>
              <a:rPr lang="en-US" sz="1300" dirty="0">
                <a:solidFill>
                  <a:srgbClr val="FFFFFF"/>
                </a:solidFill>
                <a:latin typeface="Calibri" pitchFamily="34" charset="0"/>
                <a:ea typeface="Calibri" pitchFamily="34" charset="-122"/>
                <a:cs typeface="Calibri" pitchFamily="34" charset="-120"/>
              </a:rPr>
              <a:t>PDF packet</a:t>
            </a:r>
            <a:endParaRPr lang="en-US" sz="1000" dirty="0"/>
          </a:p>
        </p:txBody>
      </p:sp>
      <p:sp>
        <p:nvSpPr>
          <p:cNvPr id="20" name="anim_1_ph"/>
          <p:cNvSpPr/>
          <p:nvPr/>
        </p:nvSpPr>
        <p:spPr>
          <a:xfrm>
            <a:off x="548640" y="2697480"/>
            <a:ext cx="2148840" cy="3520440"/>
          </a:xfrm>
          <a:prstGeom prst="roundRect">
            <a:avLst>
              <a:gd name="adj" fmla="val 9362"/>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21" name="anim_1_scr"/>
          <p:cNvSpPr/>
          <p:nvPr/>
        </p:nvSpPr>
        <p:spPr>
          <a:xfrm>
            <a:off x="621792" y="2770632"/>
            <a:ext cx="2002536" cy="3374136"/>
          </a:xfrm>
          <a:prstGeom prst="roundRect">
            <a:avLst>
              <a:gd name="adj" fmla="val 7306"/>
            </a:avLst>
          </a:prstGeom>
          <a:solidFill>
            <a:srgbClr val="FFFFFF"/>
          </a:solidFill>
          <a:ln w="12700">
            <a:solidFill>
              <a:srgbClr val="FFFFFF"/>
            </a:solidFill>
            <a:prstDash val="solid"/>
          </a:ln>
        </p:spPr>
      </p:sp>
      <p:sp>
        <p:nvSpPr>
          <p:cNvPr id="22" name="anim_1_ttl"/>
          <p:cNvSpPr txBox="1"/>
          <p:nvPr/>
        </p:nvSpPr>
        <p:spPr>
          <a:xfrm>
            <a:off x="749808" y="2880360"/>
            <a:ext cx="1746504" cy="274320"/>
          </a:xfrm>
          <a:prstGeom prst="rect">
            <a:avLst/>
          </a:prstGeom>
          <a:noFill/>
          <a:ln/>
        </p:spPr>
        <p:txBody>
          <a:bodyPr wrap="square" lIns="0" tIns="0" rIns="0" bIns="0" rtlCol="0" anchor="ctr"/>
          <a:lstStyle/>
          <a:p>
            <a:pPr indent="0" marL="0">
              <a:buNone/>
            </a:pPr>
            <a:r>
              <a:rPr lang="en-US" sz="1000" b="1" dirty="0">
                <a:solidFill>
                  <a:srgbClr val="0F1B2D"/>
                </a:solidFill>
                <a:latin typeface="Calibri" pitchFamily="34" charset="0"/>
                <a:ea typeface="Calibri" pitchFamily="34" charset="-122"/>
                <a:cs typeface="Calibri" pitchFamily="34" charset="-120"/>
              </a:rPr>
              <a:t>12 Pratt St · Apt 3</a:t>
            </a:r>
            <a:endParaRPr lang="en-US" sz="1000" dirty="0"/>
          </a:p>
        </p:txBody>
      </p:sp>
      <p:sp>
        <p:nvSpPr>
          <p:cNvPr id="23" name="anim_1_big"/>
          <p:cNvSpPr txBox="1"/>
          <p:nvPr/>
        </p:nvSpPr>
        <p:spPr>
          <a:xfrm>
            <a:off x="749808" y="3200400"/>
            <a:ext cx="1746504" cy="411480"/>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61.4°F</a:t>
            </a:r>
            <a:endParaRPr lang="en-US" sz="2400" dirty="0"/>
          </a:p>
        </p:txBody>
      </p:sp>
      <p:sp>
        <p:nvSpPr>
          <p:cNvPr id="24" name="anim_1_chip"/>
          <p:cNvSpPr/>
          <p:nvPr/>
        </p:nvSpPr>
        <p:spPr>
          <a:xfrm>
            <a:off x="749808" y="3657600"/>
            <a:ext cx="1417320" cy="219456"/>
          </a:xfrm>
          <a:prstGeom prst="roundRect">
            <a:avLst>
              <a:gd name="adj" fmla="val 50000"/>
            </a:avLst>
          </a:prstGeom>
          <a:solidFill>
            <a:srgbClr val="FBE3D9"/>
          </a:solidFill>
          <a:ln w="12700">
            <a:solidFill>
              <a:srgbClr val="FBE3D9"/>
            </a:solidFill>
            <a:prstDash val="solid"/>
          </a:ln>
        </p:spPr>
      </p:sp>
      <p:sp>
        <p:nvSpPr>
          <p:cNvPr id="25" name="anim_1_chipt"/>
          <p:cNvSpPr txBox="1"/>
          <p:nvPr/>
        </p:nvSpPr>
        <p:spPr>
          <a:xfrm>
            <a:off x="749808" y="3657600"/>
            <a:ext cx="1417320" cy="219456"/>
          </a:xfrm>
          <a:prstGeom prst="rect">
            <a:avLst/>
          </a:prstGeom>
          <a:noFill/>
          <a:ln/>
        </p:spPr>
        <p:txBody>
          <a:bodyPr wrap="square" lIns="0" tIns="0" rIns="0" bIns="0" rtlCol="0" anchor="ctr"/>
          <a:lstStyle/>
          <a:p>
            <a:pPr algn="ctr" indent="0" marL="0">
              <a:buNone/>
            </a:pPr>
            <a:r>
              <a:rPr lang="en-US" sz="800" dirty="0">
                <a:solidFill>
                  <a:srgbClr val="9C3A1E"/>
                </a:solidFill>
                <a:latin typeface="Calibri" pitchFamily="34" charset="0"/>
                <a:ea typeface="Calibri" pitchFamily="34" charset="-122"/>
                <a:cs typeface="Calibri" pitchFamily="34" charset="-120"/>
              </a:rPr>
              <a:t>Below 68°F day limit</a:t>
            </a:r>
            <a:endParaRPr lang="en-US" sz="800" dirty="0"/>
          </a:p>
        </p:txBody>
      </p:sp>
      <p:graphicFrame>
        <p:nvGraphicFramePr>
          <p:cNvPr id="26" name="anim_1_ch" descr=""/>
          <p:cNvGraphicFramePr/>
          <p:nvPr/>
        </p:nvGraphicFramePr>
        <p:xfrm>
          <a:off x="704088" y="3931920"/>
          <a:ext cx="1837944" cy="1051560"/>
        </p:xfrm>
        <a:graphic xmlns:a="http://schemas.openxmlformats.org/drawingml/2006/main">
          <a:graphicData uri="http://schemas.openxmlformats.org/drawingml/2006/chart">
            <c:chart xmlns:c="http://schemas.openxmlformats.org/drawingml/2006/chart" r:id="rId1"/>
          </a:graphicData>
        </a:graphic>
      </p:graphicFrame>
      <p:sp>
        <p:nvSpPr>
          <p:cNvPr id="27" name="anim_1_is0"/>
          <p:cNvSpPr/>
          <p:nvPr/>
        </p:nvSpPr>
        <p:spPr>
          <a:xfrm>
            <a:off x="749808" y="5074920"/>
            <a:ext cx="1746504" cy="310896"/>
          </a:xfrm>
          <a:prstGeom prst="roundRect">
            <a:avLst>
              <a:gd name="adj" fmla="val 17647"/>
            </a:avLst>
          </a:prstGeom>
          <a:solidFill>
            <a:srgbClr val="F3F5F8"/>
          </a:solidFill>
          <a:ln w="12700">
            <a:solidFill>
              <a:srgbClr val="F3F5F8"/>
            </a:solidFill>
            <a:prstDash val="solid"/>
          </a:ln>
        </p:spPr>
      </p:sp>
      <p:sp>
        <p:nvSpPr>
          <p:cNvPr id="28" name="anim_1_ist0"/>
          <p:cNvSpPr txBox="1"/>
          <p:nvPr/>
        </p:nvSpPr>
        <p:spPr>
          <a:xfrm>
            <a:off x="841248" y="5074920"/>
            <a:ext cx="1563624" cy="310896"/>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No heat · living room</a:t>
            </a:r>
            <a:endParaRPr lang="en-US" sz="900" dirty="0"/>
          </a:p>
        </p:txBody>
      </p:sp>
      <p:sp>
        <p:nvSpPr>
          <p:cNvPr id="29" name="anim_1_is1"/>
          <p:cNvSpPr/>
          <p:nvPr/>
        </p:nvSpPr>
        <p:spPr>
          <a:xfrm>
            <a:off x="749808" y="5458968"/>
            <a:ext cx="1746504" cy="310896"/>
          </a:xfrm>
          <a:prstGeom prst="roundRect">
            <a:avLst>
              <a:gd name="adj" fmla="val 17647"/>
            </a:avLst>
          </a:prstGeom>
          <a:solidFill>
            <a:srgbClr val="F3F5F8"/>
          </a:solidFill>
          <a:ln w="12700">
            <a:solidFill>
              <a:srgbClr val="F3F5F8"/>
            </a:solidFill>
            <a:prstDash val="solid"/>
          </a:ln>
        </p:spPr>
      </p:sp>
      <p:sp>
        <p:nvSpPr>
          <p:cNvPr id="30" name="anim_1_ist1"/>
          <p:cNvSpPr txBox="1"/>
          <p:nvPr/>
        </p:nvSpPr>
        <p:spPr>
          <a:xfrm>
            <a:off x="841248" y="5458968"/>
            <a:ext cx="1563624" cy="310896"/>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Leak · bathroom</a:t>
            </a:r>
            <a:endParaRPr lang="en-US" sz="900" dirty="0"/>
          </a:p>
        </p:txBody>
      </p:sp>
      <p:sp>
        <p:nvSpPr>
          <p:cNvPr id="31" name="anim_1_cap"/>
          <p:cNvSpPr txBox="1"/>
          <p:nvPr/>
        </p:nvSpPr>
        <p:spPr>
          <a:xfrm>
            <a:off x="2834640" y="2697480"/>
            <a:ext cx="1417320" cy="3520440"/>
          </a:xfrm>
          <a:prstGeom prst="rect">
            <a:avLst/>
          </a:prstGeom>
          <a:noFill/>
          <a:ln/>
        </p:spPr>
        <p:txBody>
          <a:bodyPr wrap="square" lIns="0" tIns="0" rIns="0" bIns="0" rtlCol="0" anchor="t"/>
          <a:lstStyle/>
          <a:p>
            <a:pPr indent="0" marL="0">
              <a:spcAft>
                <a:spcPts val="400"/>
              </a:spcAft>
              <a:buNone/>
            </a:pPr>
            <a:r>
              <a:rPr lang="en-US" sz="1600" b="1" dirty="0">
                <a:solidFill>
                  <a:srgbClr val="0F1B2D"/>
                </a:solidFill>
                <a:latin typeface="Calibri" pitchFamily="34" charset="0"/>
                <a:ea typeface="Calibri" pitchFamily="34" charset="-122"/>
                <a:cs typeface="Calibri" pitchFamily="34" charset="-120"/>
              </a:rPr>
              <a:t>Home</a:t>
            </a:r>
            <a:endParaRPr lang="en-US" sz="1600" dirty="0"/>
          </a:p>
          <a:p>
            <a:pPr indent="0" marL="0">
              <a:spcAft>
                <a:spcPts val="400"/>
              </a:spcAft>
              <a:buNone/>
            </a:pPr>
            <a:r>
              <a:rPr lang="en-US" sz="1300" dirty="0">
                <a:solidFill>
                  <a:srgbClr val="5B6676"/>
                </a:solidFill>
                <a:latin typeface="Calibri" pitchFamily="34" charset="0"/>
                <a:ea typeface="Calibri" pitchFamily="34" charset="-122"/>
                <a:cs typeface="Calibri" pitchFamily="34" charset="-120"/>
              </a:rPr>
              <a:t>Chart first. Current temperature, open issues, a below-limit chip.</a:t>
            </a:r>
            <a:endParaRPr lang="en-US" sz="1600" dirty="0"/>
          </a:p>
        </p:txBody>
      </p:sp>
      <p:sp>
        <p:nvSpPr>
          <p:cNvPr id="32" name="anim_2_ph"/>
          <p:cNvSpPr/>
          <p:nvPr/>
        </p:nvSpPr>
        <p:spPr>
          <a:xfrm>
            <a:off x="4343400" y="2697480"/>
            <a:ext cx="2148840" cy="3520440"/>
          </a:xfrm>
          <a:prstGeom prst="roundRect">
            <a:avLst>
              <a:gd name="adj" fmla="val 9362"/>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33" name="anim_2_scr"/>
          <p:cNvSpPr/>
          <p:nvPr/>
        </p:nvSpPr>
        <p:spPr>
          <a:xfrm>
            <a:off x="4416552" y="2770632"/>
            <a:ext cx="2002536" cy="3374136"/>
          </a:xfrm>
          <a:prstGeom prst="roundRect">
            <a:avLst>
              <a:gd name="adj" fmla="val 7306"/>
            </a:avLst>
          </a:prstGeom>
          <a:solidFill>
            <a:srgbClr val="FFFFFF"/>
          </a:solidFill>
          <a:ln w="12700">
            <a:solidFill>
              <a:srgbClr val="FFFFFF"/>
            </a:solidFill>
            <a:prstDash val="solid"/>
          </a:ln>
        </p:spPr>
      </p:sp>
      <p:sp>
        <p:nvSpPr>
          <p:cNvPr id="34" name="anim_2_ttl"/>
          <p:cNvSpPr txBox="1"/>
          <p:nvPr/>
        </p:nvSpPr>
        <p:spPr>
          <a:xfrm>
            <a:off x="4544568" y="2880360"/>
            <a:ext cx="1746504" cy="274320"/>
          </a:xfrm>
          <a:prstGeom prst="rect">
            <a:avLst/>
          </a:prstGeom>
          <a:noFill/>
          <a:ln/>
        </p:spPr>
        <p:txBody>
          <a:bodyPr wrap="square" lIns="0" tIns="0" rIns="0" bIns="0" rtlCol="0" anchor="ctr"/>
          <a:lstStyle/>
          <a:p>
            <a:pPr indent="0" marL="0">
              <a:buNone/>
            </a:pPr>
            <a:r>
              <a:rPr lang="en-US" sz="1000" b="1" dirty="0">
                <a:solidFill>
                  <a:srgbClr val="0F1B2D"/>
                </a:solidFill>
                <a:latin typeface="Calibri" pitchFamily="34" charset="0"/>
                <a:ea typeface="Calibri" pitchFamily="34" charset="-122"/>
                <a:cs typeface="Calibri" pitchFamily="34" charset="-120"/>
              </a:rPr>
              <a:t>No heat · living room</a:t>
            </a:r>
            <a:endParaRPr lang="en-US" sz="1000" dirty="0"/>
          </a:p>
        </p:txBody>
      </p:sp>
      <p:sp>
        <p:nvSpPr>
          <p:cNvPr id="35" name="anim_2_st"/>
          <p:cNvSpPr/>
          <p:nvPr/>
        </p:nvSpPr>
        <p:spPr>
          <a:xfrm>
            <a:off x="4544568" y="3200400"/>
            <a:ext cx="1746504" cy="237744"/>
          </a:xfrm>
          <a:prstGeom prst="roundRect">
            <a:avLst>
              <a:gd name="adj" fmla="val 23077"/>
            </a:avLst>
          </a:prstGeom>
          <a:solidFill>
            <a:srgbClr val="E3EEF8"/>
          </a:solidFill>
          <a:ln w="12700">
            <a:solidFill>
              <a:srgbClr val="E3EEF8"/>
            </a:solidFill>
            <a:prstDash val="solid"/>
          </a:ln>
        </p:spPr>
      </p:sp>
      <p:sp>
        <p:nvSpPr>
          <p:cNvPr id="36" name="anim_2_stt"/>
          <p:cNvSpPr txBox="1"/>
          <p:nvPr/>
        </p:nvSpPr>
        <p:spPr>
          <a:xfrm>
            <a:off x="4544568" y="3200400"/>
            <a:ext cx="1746504" cy="237744"/>
          </a:xfrm>
          <a:prstGeom prst="rect">
            <a:avLst/>
          </a:prstGeom>
          <a:noFill/>
          <a:ln/>
        </p:spPr>
        <p:txBody>
          <a:bodyPr wrap="square" lIns="0" tIns="0" rIns="0" bIns="0" rtlCol="0" anchor="ctr"/>
          <a:lstStyle/>
          <a:p>
            <a:pPr algn="ctr" indent="0" marL="0">
              <a:buNone/>
            </a:pPr>
            <a:r>
              <a:rPr lang="en-US" sz="800" dirty="0">
                <a:solidFill>
                  <a:srgbClr val="1F5C93"/>
                </a:solidFill>
                <a:latin typeface="Calibri" pitchFamily="34" charset="0"/>
                <a:ea typeface="Calibri" pitchFamily="34" charset="-122"/>
                <a:cs typeface="Calibri" pitchFamily="34" charset="-120"/>
              </a:rPr>
              <a:t>Notice sent · inspection requested</a:t>
            </a:r>
            <a:endParaRPr lang="en-US" sz="800" dirty="0"/>
          </a:p>
        </p:txBody>
      </p:sp>
      <p:sp>
        <p:nvSpPr>
          <p:cNvPr id="37" name="anim_2_tl"/>
          <p:cNvSpPr/>
          <p:nvPr/>
        </p:nvSpPr>
        <p:spPr>
          <a:xfrm>
            <a:off x="4608576" y="3611880"/>
            <a:ext cx="0" cy="1600200"/>
          </a:xfrm>
          <a:prstGeom prst="line">
            <a:avLst/>
          </a:prstGeom>
          <a:noFill/>
          <a:ln w="19050">
            <a:solidFill>
              <a:srgbClr val="DCE1E8"/>
            </a:solidFill>
            <a:prstDash val="solid"/>
          </a:ln>
        </p:spPr>
      </p:sp>
      <p:sp>
        <p:nvSpPr>
          <p:cNvPr id="38" name="anim_2_d0"/>
          <p:cNvSpPr/>
          <p:nvPr/>
        </p:nvSpPr>
        <p:spPr>
          <a:xfrm>
            <a:off x="4544568" y="3566160"/>
            <a:ext cx="128016" cy="128016"/>
          </a:xfrm>
          <a:prstGeom prst="ellipse">
            <a:avLst/>
          </a:prstGeom>
          <a:solidFill>
            <a:srgbClr val="0F1B2D"/>
          </a:solidFill>
          <a:ln w="12700">
            <a:solidFill>
              <a:srgbClr val="FFFFFF"/>
            </a:solidFill>
            <a:prstDash val="solid"/>
          </a:ln>
        </p:spPr>
      </p:sp>
      <p:sp>
        <p:nvSpPr>
          <p:cNvPr id="39" name="anim_2_e0"/>
          <p:cNvSpPr txBox="1"/>
          <p:nvPr/>
        </p:nvSpPr>
        <p:spPr>
          <a:xfrm>
            <a:off x="4773168" y="3502152"/>
            <a:ext cx="1517904" cy="384048"/>
          </a:xfrm>
          <a:prstGeom prst="rect">
            <a:avLst/>
          </a:prstGeom>
          <a:noFill/>
          <a:ln/>
        </p:spPr>
        <p:txBody>
          <a:bodyPr wrap="square" lIns="0" tIns="0" rIns="0" bIns="0" rtlCol="0" anchor="t"/>
          <a:lstStyle/>
          <a:p>
            <a:pPr indent="0" marL="0">
              <a:buNone/>
            </a:pPr>
            <a:r>
              <a:rPr lang="en-US" sz="750" dirty="0">
                <a:solidFill>
                  <a:srgbClr val="5B6676"/>
                </a:solidFill>
                <a:latin typeface="Calibri" pitchFamily="34" charset="0"/>
                <a:ea typeface="Calibri" pitchFamily="34" charset="-122"/>
                <a:cs typeface="Calibri" pitchFamily="34" charset="-120"/>
              </a:rPr>
              <a:t>Nov 2 · 10:10 PM</a:t>
            </a:r>
            <a:endParaRPr lang="en-US" sz="750" dirty="0"/>
          </a:p>
          <a:p>
            <a:pPr indent="0" marL="0">
              <a:buNone/>
            </a:pPr>
            <a:r>
              <a:rPr lang="en-US" sz="900" dirty="0">
                <a:solidFill>
                  <a:srgbClr val="1E2633"/>
                </a:solidFill>
                <a:latin typeface="Calibri" pitchFamily="34" charset="0"/>
                <a:ea typeface="Calibri" pitchFamily="34" charset="-122"/>
                <a:cs typeface="Calibri" pitchFamily="34" charset="-120"/>
              </a:rPr>
              <a:t>Below 64°F (auto)</a:t>
            </a:r>
            <a:endParaRPr lang="en-US" sz="750" dirty="0"/>
          </a:p>
        </p:txBody>
      </p:sp>
      <p:sp>
        <p:nvSpPr>
          <p:cNvPr id="40" name="anim_2_d1"/>
          <p:cNvSpPr/>
          <p:nvPr/>
        </p:nvSpPr>
        <p:spPr>
          <a:xfrm>
            <a:off x="4544568" y="3995928"/>
            <a:ext cx="128016" cy="128016"/>
          </a:xfrm>
          <a:prstGeom prst="ellipse">
            <a:avLst/>
          </a:prstGeom>
          <a:solidFill>
            <a:srgbClr val="0F1B2D"/>
          </a:solidFill>
          <a:ln w="12700">
            <a:solidFill>
              <a:srgbClr val="FFFFFF"/>
            </a:solidFill>
            <a:prstDash val="solid"/>
          </a:ln>
        </p:spPr>
      </p:sp>
      <p:sp>
        <p:nvSpPr>
          <p:cNvPr id="41" name="anim_2_e1"/>
          <p:cNvSpPr txBox="1"/>
          <p:nvPr/>
        </p:nvSpPr>
        <p:spPr>
          <a:xfrm>
            <a:off x="4773168" y="3931920"/>
            <a:ext cx="1517904" cy="384048"/>
          </a:xfrm>
          <a:prstGeom prst="rect">
            <a:avLst/>
          </a:prstGeom>
          <a:noFill/>
          <a:ln/>
        </p:spPr>
        <p:txBody>
          <a:bodyPr wrap="square" lIns="0" tIns="0" rIns="0" bIns="0" rtlCol="0" anchor="t"/>
          <a:lstStyle/>
          <a:p>
            <a:pPr indent="0" marL="0">
              <a:buNone/>
            </a:pPr>
            <a:r>
              <a:rPr lang="en-US" sz="750" dirty="0">
                <a:solidFill>
                  <a:srgbClr val="5B6676"/>
                </a:solidFill>
                <a:latin typeface="Calibri" pitchFamily="34" charset="0"/>
                <a:ea typeface="Calibri" pitchFamily="34" charset="-122"/>
                <a:cs typeface="Calibri" pitchFamily="34" charset="-120"/>
              </a:rPr>
              <a:t>Nov 3 · 8:30 AM</a:t>
            </a:r>
            <a:endParaRPr lang="en-US" sz="750" dirty="0"/>
          </a:p>
          <a:p>
            <a:pPr indent="0" marL="0">
              <a:buNone/>
            </a:pPr>
            <a:r>
              <a:rPr lang="en-US" sz="900" dirty="0">
                <a:solidFill>
                  <a:srgbClr val="1E2633"/>
                </a:solidFill>
                <a:latin typeface="Calibri" pitchFamily="34" charset="0"/>
                <a:ea typeface="Calibri" pitchFamily="34" charset="-122"/>
                <a:cs typeface="Calibri" pitchFamily="34" charset="-120"/>
              </a:rPr>
              <a:t>Thermostat photo · hashed</a:t>
            </a:r>
            <a:endParaRPr lang="en-US" sz="750" dirty="0"/>
          </a:p>
        </p:txBody>
      </p:sp>
      <p:sp>
        <p:nvSpPr>
          <p:cNvPr id="42" name="anim_2_d2"/>
          <p:cNvSpPr/>
          <p:nvPr/>
        </p:nvSpPr>
        <p:spPr>
          <a:xfrm>
            <a:off x="4544568" y="4425696"/>
            <a:ext cx="128016" cy="128016"/>
          </a:xfrm>
          <a:prstGeom prst="ellipse">
            <a:avLst/>
          </a:prstGeom>
          <a:solidFill>
            <a:srgbClr val="0F1B2D"/>
          </a:solidFill>
          <a:ln w="12700">
            <a:solidFill>
              <a:srgbClr val="FFFFFF"/>
            </a:solidFill>
            <a:prstDash val="solid"/>
          </a:ln>
        </p:spPr>
      </p:sp>
      <p:sp>
        <p:nvSpPr>
          <p:cNvPr id="43" name="anim_2_e2"/>
          <p:cNvSpPr txBox="1"/>
          <p:nvPr/>
        </p:nvSpPr>
        <p:spPr>
          <a:xfrm>
            <a:off x="4773168" y="4361688"/>
            <a:ext cx="1517904" cy="384048"/>
          </a:xfrm>
          <a:prstGeom prst="rect">
            <a:avLst/>
          </a:prstGeom>
          <a:noFill/>
          <a:ln/>
        </p:spPr>
        <p:txBody>
          <a:bodyPr wrap="square" lIns="0" tIns="0" rIns="0" bIns="0" rtlCol="0" anchor="t"/>
          <a:lstStyle/>
          <a:p>
            <a:pPr indent="0" marL="0">
              <a:buNone/>
            </a:pPr>
            <a:r>
              <a:rPr lang="en-US" sz="750" dirty="0">
                <a:solidFill>
                  <a:srgbClr val="5B6676"/>
                </a:solidFill>
                <a:latin typeface="Calibri" pitchFamily="34" charset="0"/>
                <a:ea typeface="Calibri" pitchFamily="34" charset="-122"/>
                <a:cs typeface="Calibri" pitchFamily="34" charset="-120"/>
              </a:rPr>
              <a:t>Nov 3 · 9:00 AM</a:t>
            </a:r>
            <a:endParaRPr lang="en-US" sz="750" dirty="0"/>
          </a:p>
          <a:p>
            <a:pPr indent="0" marL="0">
              <a:buNone/>
            </a:pPr>
            <a:r>
              <a:rPr lang="en-US" sz="900" dirty="0">
                <a:solidFill>
                  <a:srgbClr val="1E2633"/>
                </a:solidFill>
                <a:latin typeface="Calibri" pitchFamily="34" charset="0"/>
                <a:ea typeface="Calibri" pitchFamily="34" charset="-122"/>
                <a:cs typeface="Calibri" pitchFamily="34" charset="-120"/>
              </a:rPr>
              <a:t>Notice emailed</a:t>
            </a:r>
            <a:endParaRPr lang="en-US" sz="750" dirty="0"/>
          </a:p>
        </p:txBody>
      </p:sp>
      <p:sp>
        <p:nvSpPr>
          <p:cNvPr id="44" name="anim_2_d3"/>
          <p:cNvSpPr/>
          <p:nvPr/>
        </p:nvSpPr>
        <p:spPr>
          <a:xfrm>
            <a:off x="4544568" y="4855464"/>
            <a:ext cx="128016" cy="128016"/>
          </a:xfrm>
          <a:prstGeom prst="ellipse">
            <a:avLst/>
          </a:prstGeom>
          <a:solidFill>
            <a:srgbClr val="E4572E"/>
          </a:solidFill>
          <a:ln w="12700">
            <a:solidFill>
              <a:srgbClr val="FFFFFF"/>
            </a:solidFill>
            <a:prstDash val="solid"/>
          </a:ln>
        </p:spPr>
      </p:sp>
      <p:sp>
        <p:nvSpPr>
          <p:cNvPr id="45" name="anim_2_e3"/>
          <p:cNvSpPr txBox="1"/>
          <p:nvPr/>
        </p:nvSpPr>
        <p:spPr>
          <a:xfrm>
            <a:off x="4773168" y="4791456"/>
            <a:ext cx="1517904" cy="384048"/>
          </a:xfrm>
          <a:prstGeom prst="rect">
            <a:avLst/>
          </a:prstGeom>
          <a:noFill/>
          <a:ln/>
        </p:spPr>
        <p:txBody>
          <a:bodyPr wrap="square" lIns="0" tIns="0" rIns="0" bIns="0" rtlCol="0" anchor="t"/>
          <a:lstStyle/>
          <a:p>
            <a:pPr indent="0" marL="0">
              <a:buNone/>
            </a:pPr>
            <a:r>
              <a:rPr lang="en-US" sz="750" dirty="0">
                <a:solidFill>
                  <a:srgbClr val="5B6676"/>
                </a:solidFill>
                <a:latin typeface="Calibri" pitchFamily="34" charset="0"/>
                <a:ea typeface="Calibri" pitchFamily="34" charset="-122"/>
                <a:cs typeface="Calibri" pitchFamily="34" charset="-120"/>
              </a:rPr>
              <a:t>Nov 8 · 11:00 AM</a:t>
            </a:r>
            <a:endParaRPr lang="en-US" sz="750" dirty="0"/>
          </a:p>
          <a:p>
            <a:pPr indent="0" marL="0">
              <a:buNone/>
            </a:pPr>
            <a:r>
              <a:rPr lang="en-US" sz="900" dirty="0">
                <a:solidFill>
                  <a:srgbClr val="1E2633"/>
                </a:solidFill>
                <a:latin typeface="Calibri" pitchFamily="34" charset="0"/>
                <a:ea typeface="Calibri" pitchFamily="34" charset="-122"/>
                <a:cs typeface="Calibri" pitchFamily="34" charset="-120"/>
              </a:rPr>
              <a:t>ISD inspection requested</a:t>
            </a:r>
            <a:endParaRPr lang="en-US" sz="750" dirty="0"/>
          </a:p>
        </p:txBody>
      </p:sp>
      <p:sp>
        <p:nvSpPr>
          <p:cNvPr id="46" name="anim_2_btn"/>
          <p:cNvSpPr/>
          <p:nvPr/>
        </p:nvSpPr>
        <p:spPr>
          <a:xfrm>
            <a:off x="4544568" y="5440680"/>
            <a:ext cx="1746504" cy="329184"/>
          </a:xfrm>
          <a:prstGeom prst="roundRect">
            <a:avLst>
              <a:gd name="adj" fmla="val 22222"/>
            </a:avLst>
          </a:prstGeom>
          <a:solidFill>
            <a:srgbClr val="0F1B2D"/>
          </a:solidFill>
          <a:ln w="12700">
            <a:solidFill>
              <a:srgbClr val="0F1B2D"/>
            </a:solidFill>
            <a:prstDash val="solid"/>
          </a:ln>
        </p:spPr>
      </p:sp>
      <p:sp>
        <p:nvSpPr>
          <p:cNvPr id="47" name="anim_2_btnt"/>
          <p:cNvSpPr txBox="1"/>
          <p:nvPr/>
        </p:nvSpPr>
        <p:spPr>
          <a:xfrm>
            <a:off x="4544568" y="5440680"/>
            <a:ext cx="174650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Escalate → Reminder</a:t>
            </a:r>
            <a:endParaRPr lang="en-US" sz="900" dirty="0"/>
          </a:p>
        </p:txBody>
      </p:sp>
      <p:sp>
        <p:nvSpPr>
          <p:cNvPr id="48" name="anim_2_cap"/>
          <p:cNvSpPr txBox="1"/>
          <p:nvPr/>
        </p:nvSpPr>
        <p:spPr>
          <a:xfrm>
            <a:off x="6629400" y="2697480"/>
            <a:ext cx="1417320" cy="3520440"/>
          </a:xfrm>
          <a:prstGeom prst="rect">
            <a:avLst/>
          </a:prstGeom>
          <a:noFill/>
          <a:ln/>
        </p:spPr>
        <p:txBody>
          <a:bodyPr wrap="square" lIns="0" tIns="0" rIns="0" bIns="0" rtlCol="0" anchor="t"/>
          <a:lstStyle/>
          <a:p>
            <a:pPr indent="0" marL="0">
              <a:spcAft>
                <a:spcPts val="400"/>
              </a:spcAft>
              <a:buNone/>
            </a:pPr>
            <a:r>
              <a:rPr lang="en-US" sz="1600" b="1" dirty="0">
                <a:solidFill>
                  <a:srgbClr val="0F1B2D"/>
                </a:solidFill>
                <a:latin typeface="Calibri" pitchFamily="34" charset="0"/>
                <a:ea typeface="Calibri" pitchFamily="34" charset="-122"/>
                <a:cs typeface="Calibri" pitchFamily="34" charset="-120"/>
              </a:rPr>
              <a:t>Issue</a:t>
            </a:r>
            <a:endParaRPr lang="en-US" sz="1600" dirty="0"/>
          </a:p>
          <a:p>
            <a:pPr indent="0" marL="0">
              <a:spcAft>
                <a:spcPts val="400"/>
              </a:spcAft>
              <a:buNone/>
            </a:pPr>
            <a:r>
              <a:rPr lang="en-US" sz="1300" dirty="0">
                <a:solidFill>
                  <a:srgbClr val="5B6676"/>
                </a:solidFill>
                <a:latin typeface="Calibri" pitchFamily="34" charset="0"/>
                <a:ea typeface="Calibri" pitchFamily="34" charset="-122"/>
                <a:cs typeface="Calibri" pitchFamily="34" charset="-120"/>
              </a:rPr>
              <a:t>Timeline of sensor, photo, notice, inspection. Escalate shows its next step.</a:t>
            </a:r>
            <a:endParaRPr lang="en-US" sz="1600" dirty="0"/>
          </a:p>
        </p:txBody>
      </p:sp>
      <p:sp>
        <p:nvSpPr>
          <p:cNvPr id="49" name="anim_3_ph"/>
          <p:cNvSpPr/>
          <p:nvPr/>
        </p:nvSpPr>
        <p:spPr>
          <a:xfrm>
            <a:off x="8138160" y="2697480"/>
            <a:ext cx="2148840" cy="3520440"/>
          </a:xfrm>
          <a:prstGeom prst="roundRect">
            <a:avLst>
              <a:gd name="adj" fmla="val 9362"/>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50" name="anim_3_scr"/>
          <p:cNvSpPr/>
          <p:nvPr/>
        </p:nvSpPr>
        <p:spPr>
          <a:xfrm>
            <a:off x="8211312" y="2770632"/>
            <a:ext cx="2002536" cy="3374136"/>
          </a:xfrm>
          <a:prstGeom prst="roundRect">
            <a:avLst>
              <a:gd name="adj" fmla="val 7306"/>
            </a:avLst>
          </a:prstGeom>
          <a:solidFill>
            <a:srgbClr val="FFFFFF"/>
          </a:solidFill>
          <a:ln w="12700">
            <a:solidFill>
              <a:srgbClr val="FFFFFF"/>
            </a:solidFill>
            <a:prstDash val="solid"/>
          </a:ln>
        </p:spPr>
      </p:sp>
      <p:sp>
        <p:nvSpPr>
          <p:cNvPr id="51" name="anim_3_ttl"/>
          <p:cNvSpPr txBox="1"/>
          <p:nvPr/>
        </p:nvSpPr>
        <p:spPr>
          <a:xfrm>
            <a:off x="8339328" y="2880360"/>
            <a:ext cx="1746504" cy="274320"/>
          </a:xfrm>
          <a:prstGeom prst="rect">
            <a:avLst/>
          </a:prstGeom>
          <a:noFill/>
          <a:ln/>
        </p:spPr>
        <p:txBody>
          <a:bodyPr wrap="square" lIns="0" tIns="0" rIns="0" bIns="0" rtlCol="0" anchor="ctr"/>
          <a:lstStyle/>
          <a:p>
            <a:pPr indent="0" marL="0">
              <a:buNone/>
            </a:pPr>
            <a:r>
              <a:rPr lang="en-US" sz="1000" b="1" dirty="0">
                <a:solidFill>
                  <a:srgbClr val="0F1B2D"/>
                </a:solidFill>
                <a:latin typeface="Calibri" pitchFamily="34" charset="0"/>
                <a:ea typeface="Calibri" pitchFamily="34" charset="-122"/>
                <a:cs typeface="Calibri" pitchFamily="34" charset="-120"/>
              </a:rPr>
              <a:t>Evidence packet</a:t>
            </a:r>
            <a:endParaRPr lang="en-US" sz="1000" dirty="0"/>
          </a:p>
        </p:txBody>
      </p:sp>
      <p:sp>
        <p:nvSpPr>
          <p:cNvPr id="52" name="anim_3_cb0"/>
          <p:cNvSpPr/>
          <p:nvPr/>
        </p:nvSpPr>
        <p:spPr>
          <a:xfrm>
            <a:off x="8339328" y="3246120"/>
            <a:ext cx="164592" cy="164592"/>
          </a:xfrm>
          <a:prstGeom prst="roundRect">
            <a:avLst>
              <a:gd name="adj" fmla="val 16667"/>
            </a:avLst>
          </a:prstGeom>
          <a:solidFill>
            <a:srgbClr val="2E9E6B"/>
          </a:solidFill>
          <a:ln w="12700">
            <a:solidFill>
              <a:srgbClr val="2E9E6B"/>
            </a:solidFill>
            <a:prstDash val="solid"/>
          </a:ln>
        </p:spPr>
      </p:sp>
      <p:sp>
        <p:nvSpPr>
          <p:cNvPr id="53" name="anim_3_ck0"/>
          <p:cNvSpPr txBox="1"/>
          <p:nvPr/>
        </p:nvSpPr>
        <p:spPr>
          <a:xfrm>
            <a:off x="8339328" y="3246120"/>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4" name="anim_3_it0"/>
          <p:cNvSpPr txBox="1"/>
          <p:nvPr/>
        </p:nvSpPr>
        <p:spPr>
          <a:xfrm>
            <a:off x="8595360" y="3200400"/>
            <a:ext cx="1490472" cy="256032"/>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Chart vs. 68/64 limit</a:t>
            </a:r>
            <a:endParaRPr lang="en-US" sz="900" dirty="0"/>
          </a:p>
        </p:txBody>
      </p:sp>
      <p:sp>
        <p:nvSpPr>
          <p:cNvPr id="55" name="anim_3_cb1"/>
          <p:cNvSpPr/>
          <p:nvPr/>
        </p:nvSpPr>
        <p:spPr>
          <a:xfrm>
            <a:off x="8339328" y="3575304"/>
            <a:ext cx="164592" cy="164592"/>
          </a:xfrm>
          <a:prstGeom prst="roundRect">
            <a:avLst>
              <a:gd name="adj" fmla="val 16667"/>
            </a:avLst>
          </a:prstGeom>
          <a:solidFill>
            <a:srgbClr val="2E9E6B"/>
          </a:solidFill>
          <a:ln w="12700">
            <a:solidFill>
              <a:srgbClr val="2E9E6B"/>
            </a:solidFill>
            <a:prstDash val="solid"/>
          </a:ln>
        </p:spPr>
      </p:sp>
      <p:sp>
        <p:nvSpPr>
          <p:cNvPr id="56" name="anim_3_ck1"/>
          <p:cNvSpPr txBox="1"/>
          <p:nvPr/>
        </p:nvSpPr>
        <p:spPr>
          <a:xfrm>
            <a:off x="8339328" y="3575304"/>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7" name="anim_3_it1"/>
          <p:cNvSpPr txBox="1"/>
          <p:nvPr/>
        </p:nvSpPr>
        <p:spPr>
          <a:xfrm>
            <a:off x="8595360" y="3529584"/>
            <a:ext cx="1490472" cy="256032"/>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Outdoor weather</a:t>
            </a:r>
            <a:endParaRPr lang="en-US" sz="900" dirty="0"/>
          </a:p>
        </p:txBody>
      </p:sp>
      <p:sp>
        <p:nvSpPr>
          <p:cNvPr id="58" name="anim_3_cb2"/>
          <p:cNvSpPr/>
          <p:nvPr/>
        </p:nvSpPr>
        <p:spPr>
          <a:xfrm>
            <a:off x="8339328" y="3904488"/>
            <a:ext cx="164592" cy="164592"/>
          </a:xfrm>
          <a:prstGeom prst="roundRect">
            <a:avLst>
              <a:gd name="adj" fmla="val 16667"/>
            </a:avLst>
          </a:prstGeom>
          <a:solidFill>
            <a:srgbClr val="2E9E6B"/>
          </a:solidFill>
          <a:ln w="12700">
            <a:solidFill>
              <a:srgbClr val="2E9E6B"/>
            </a:solidFill>
            <a:prstDash val="solid"/>
          </a:ln>
        </p:spPr>
      </p:sp>
      <p:sp>
        <p:nvSpPr>
          <p:cNvPr id="59" name="anim_3_ck2"/>
          <p:cNvSpPr txBox="1"/>
          <p:nvPr/>
        </p:nvSpPr>
        <p:spPr>
          <a:xfrm>
            <a:off x="8339328" y="3904488"/>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0" name="anim_3_it2"/>
          <p:cNvSpPr txBox="1"/>
          <p:nvPr/>
        </p:nvSpPr>
        <p:spPr>
          <a:xfrm>
            <a:off x="8595360" y="3858768"/>
            <a:ext cx="1490472" cy="256032"/>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Photos (4) + hashes</a:t>
            </a:r>
            <a:endParaRPr lang="en-US" sz="900" dirty="0"/>
          </a:p>
        </p:txBody>
      </p:sp>
      <p:sp>
        <p:nvSpPr>
          <p:cNvPr id="61" name="anim_3_cb3"/>
          <p:cNvSpPr/>
          <p:nvPr/>
        </p:nvSpPr>
        <p:spPr>
          <a:xfrm>
            <a:off x="8339328" y="4233672"/>
            <a:ext cx="164592" cy="164592"/>
          </a:xfrm>
          <a:prstGeom prst="roundRect">
            <a:avLst>
              <a:gd name="adj" fmla="val 16667"/>
            </a:avLst>
          </a:prstGeom>
          <a:solidFill>
            <a:srgbClr val="2E9E6B"/>
          </a:solidFill>
          <a:ln w="12700">
            <a:solidFill>
              <a:srgbClr val="2E9E6B"/>
            </a:solidFill>
            <a:prstDash val="solid"/>
          </a:ln>
        </p:spPr>
      </p:sp>
      <p:sp>
        <p:nvSpPr>
          <p:cNvPr id="62" name="anim_3_ck3"/>
          <p:cNvSpPr txBox="1"/>
          <p:nvPr/>
        </p:nvSpPr>
        <p:spPr>
          <a:xfrm>
            <a:off x="8339328" y="4233672"/>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3" name="anim_3_it3"/>
          <p:cNvSpPr txBox="1"/>
          <p:nvPr/>
        </p:nvSpPr>
        <p:spPr>
          <a:xfrm>
            <a:off x="8595360" y="4187952"/>
            <a:ext cx="1490472" cy="256032"/>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Notice + send log</a:t>
            </a:r>
            <a:endParaRPr lang="en-US" sz="900" dirty="0"/>
          </a:p>
        </p:txBody>
      </p:sp>
      <p:sp>
        <p:nvSpPr>
          <p:cNvPr id="64" name="anim_3_cb4"/>
          <p:cNvSpPr/>
          <p:nvPr/>
        </p:nvSpPr>
        <p:spPr>
          <a:xfrm>
            <a:off x="8339328" y="4562856"/>
            <a:ext cx="164592" cy="164592"/>
          </a:xfrm>
          <a:prstGeom prst="roundRect">
            <a:avLst>
              <a:gd name="adj" fmla="val 16667"/>
            </a:avLst>
          </a:prstGeom>
          <a:solidFill>
            <a:srgbClr val="2E9E6B"/>
          </a:solidFill>
          <a:ln w="12700">
            <a:solidFill>
              <a:srgbClr val="2E9E6B"/>
            </a:solidFill>
            <a:prstDash val="solid"/>
          </a:ln>
        </p:spPr>
      </p:sp>
      <p:sp>
        <p:nvSpPr>
          <p:cNvPr id="65" name="anim_3_ck4"/>
          <p:cNvSpPr txBox="1"/>
          <p:nvPr/>
        </p:nvSpPr>
        <p:spPr>
          <a:xfrm>
            <a:off x="8339328" y="4562856"/>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6" name="anim_3_it4"/>
          <p:cNvSpPr txBox="1"/>
          <p:nvPr/>
        </p:nvSpPr>
        <p:spPr>
          <a:xfrm>
            <a:off x="8595360" y="4517136"/>
            <a:ext cx="1490472" cy="256032"/>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Flags &amp; data gaps</a:t>
            </a:r>
            <a:endParaRPr lang="en-US" sz="900" dirty="0"/>
          </a:p>
        </p:txBody>
      </p:sp>
      <p:sp>
        <p:nvSpPr>
          <p:cNvPr id="67" name="anim_3_cb5"/>
          <p:cNvSpPr/>
          <p:nvPr/>
        </p:nvSpPr>
        <p:spPr>
          <a:xfrm>
            <a:off x="8339328" y="4892040"/>
            <a:ext cx="164592" cy="164592"/>
          </a:xfrm>
          <a:prstGeom prst="roundRect">
            <a:avLst>
              <a:gd name="adj" fmla="val 16667"/>
            </a:avLst>
          </a:prstGeom>
          <a:solidFill>
            <a:srgbClr val="2E9E6B"/>
          </a:solidFill>
          <a:ln w="12700">
            <a:solidFill>
              <a:srgbClr val="2E9E6B"/>
            </a:solidFill>
            <a:prstDash val="solid"/>
          </a:ln>
        </p:spPr>
      </p:sp>
      <p:sp>
        <p:nvSpPr>
          <p:cNvPr id="68" name="anim_3_ck5"/>
          <p:cNvSpPr txBox="1"/>
          <p:nvPr/>
        </p:nvSpPr>
        <p:spPr>
          <a:xfrm>
            <a:off x="8339328" y="4892040"/>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69" name="anim_3_it5"/>
          <p:cNvSpPr txBox="1"/>
          <p:nvPr/>
        </p:nvSpPr>
        <p:spPr>
          <a:xfrm>
            <a:off x="8595360" y="4846320"/>
            <a:ext cx="1490472" cy="256032"/>
          </a:xfrm>
          <a:prstGeom prst="rect">
            <a:avLst/>
          </a:prstGeom>
          <a:noFill/>
          <a:ln/>
        </p:spPr>
        <p:txBody>
          <a:bodyPr wrap="square" lIns="0" tIns="0" rIns="0" bIns="0" rtlCol="0" anchor="ctr"/>
          <a:lstStyle/>
          <a:p>
            <a:pPr indent="0" marL="0">
              <a:buNone/>
            </a:pPr>
            <a:r>
              <a:rPr lang="en-US" sz="900" dirty="0">
                <a:solidFill>
                  <a:srgbClr val="1E2633"/>
                </a:solidFill>
                <a:latin typeface="Calibri" pitchFamily="34" charset="0"/>
                <a:ea typeface="Calibri" pitchFamily="34" charset="-122"/>
                <a:cs typeface="Calibri" pitchFamily="34" charset="-120"/>
              </a:rPr>
              <a:t>Placement photo</a:t>
            </a:r>
            <a:endParaRPr lang="en-US" sz="900" dirty="0"/>
          </a:p>
        </p:txBody>
      </p:sp>
      <p:sp>
        <p:nvSpPr>
          <p:cNvPr id="70" name="anim_3_btn"/>
          <p:cNvSpPr/>
          <p:nvPr/>
        </p:nvSpPr>
        <p:spPr>
          <a:xfrm>
            <a:off x="8339328" y="5440680"/>
            <a:ext cx="1746504" cy="329184"/>
          </a:xfrm>
          <a:prstGeom prst="roundRect">
            <a:avLst>
              <a:gd name="adj" fmla="val 22222"/>
            </a:avLst>
          </a:prstGeom>
          <a:solidFill>
            <a:srgbClr val="E4572E"/>
          </a:solidFill>
          <a:ln w="12700">
            <a:solidFill>
              <a:srgbClr val="E4572E"/>
            </a:solidFill>
            <a:prstDash val="solid"/>
          </a:ln>
        </p:spPr>
      </p:sp>
      <p:sp>
        <p:nvSpPr>
          <p:cNvPr id="71" name="anim_3_btnt"/>
          <p:cNvSpPr txBox="1"/>
          <p:nvPr/>
        </p:nvSpPr>
        <p:spPr>
          <a:xfrm>
            <a:off x="8339328" y="5440680"/>
            <a:ext cx="174650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Generate PDF</a:t>
            </a:r>
            <a:endParaRPr lang="en-US" sz="900" dirty="0"/>
          </a:p>
        </p:txBody>
      </p:sp>
      <p:sp>
        <p:nvSpPr>
          <p:cNvPr id="72" name="anim_3_cap"/>
          <p:cNvSpPr txBox="1"/>
          <p:nvPr/>
        </p:nvSpPr>
        <p:spPr>
          <a:xfrm>
            <a:off x="10424160" y="2697480"/>
            <a:ext cx="1417320" cy="3520440"/>
          </a:xfrm>
          <a:prstGeom prst="rect">
            <a:avLst/>
          </a:prstGeom>
          <a:noFill/>
          <a:ln/>
        </p:spPr>
        <p:txBody>
          <a:bodyPr wrap="square" lIns="0" tIns="0" rIns="0" bIns="0" rtlCol="0" anchor="t"/>
          <a:lstStyle/>
          <a:p>
            <a:pPr indent="0" marL="0">
              <a:spcAft>
                <a:spcPts val="400"/>
              </a:spcAft>
              <a:buNone/>
            </a:pPr>
            <a:r>
              <a:rPr lang="en-US" sz="1600" b="1" dirty="0">
                <a:solidFill>
                  <a:srgbClr val="0F1B2D"/>
                </a:solidFill>
                <a:latin typeface="Calibri" pitchFamily="34" charset="0"/>
                <a:ea typeface="Calibri" pitchFamily="34" charset="-122"/>
                <a:cs typeface="Calibri" pitchFamily="34" charset="-120"/>
              </a:rPr>
              <a:t>Packet</a:t>
            </a:r>
            <a:endParaRPr lang="en-US" sz="1600" dirty="0"/>
          </a:p>
          <a:p>
            <a:pPr indent="0" marL="0">
              <a:spcAft>
                <a:spcPts val="400"/>
              </a:spcAft>
              <a:buNone/>
            </a:pPr>
            <a:r>
              <a:rPr lang="en-US" sz="1300" dirty="0">
                <a:solidFill>
                  <a:srgbClr val="5B6676"/>
                </a:solidFill>
                <a:latin typeface="Calibri" pitchFamily="34" charset="0"/>
                <a:ea typeface="Calibri" pitchFamily="34" charset="-122"/>
                <a:cs typeface="Calibri" pitchFamily="34" charset="-120"/>
              </a:rPr>
              <a:t>One PDF: chart, weather, photos, notice, flags and a hash manifest.</a:t>
            </a:r>
            <a:endParaRPr lang="en-US" sz="1600" dirty="0"/>
          </a:p>
        </p:txBody>
      </p:sp>
      <p:sp>
        <p:nvSpPr>
          <p:cNvPr id="73"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18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18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18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nodeType="withEffect">
                                  <p:stCondLst>
                                    <p:cond delay="18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nodeType="withEffect">
                                  <p:stCondLst>
                                    <p:cond delay="18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nodeType="withEffect">
                                  <p:stCondLst>
                                    <p:cond delay="18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nodeType="withEffect">
                                  <p:stCondLst>
                                    <p:cond delay="18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nodeType="withEffect">
                                  <p:stCondLst>
                                    <p:cond delay="18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nodeType="withEffect">
                                  <p:stCondLst>
                                    <p:cond delay="18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nodeType="withEffect">
                                  <p:stCondLst>
                                    <p:cond delay="18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par>
                                <p:cTn id="82" presetID="10" presetClass="entr" presetSubtype="0" fill="hold" nodeType="withEffect">
                                  <p:stCondLst>
                                    <p:cond delay="18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50"/>
                                        <p:tgtEl>
                                          <p:spTgt spid="30"/>
                                        </p:tgtEl>
                                      </p:cBhvr>
                                    </p:animEffect>
                                  </p:childTnLst>
                                </p:cTn>
                              </p:par>
                              <p:par>
                                <p:cTn id="85" presetID="10" presetClass="entr" presetSubtype="0" fill="hold" nodeType="withEffect">
                                  <p:stCondLst>
                                    <p:cond delay="18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nodeType="withEffect">
                                  <p:stCondLst>
                                    <p:cond delay="36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par>
                                <p:cTn id="91" presetID="10" presetClass="entr" presetSubtype="0" fill="hold" nodeType="withEffect">
                                  <p:stCondLst>
                                    <p:cond delay="36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50"/>
                                        <p:tgtEl>
                                          <p:spTgt spid="33"/>
                                        </p:tgtEl>
                                      </p:cBhvr>
                                    </p:animEffect>
                                  </p:childTnLst>
                                </p:cTn>
                              </p:par>
                              <p:par>
                                <p:cTn id="94" presetID="10" presetClass="entr" presetSubtype="0" fill="hold" nodeType="withEffect">
                                  <p:stCondLst>
                                    <p:cond delay="36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50"/>
                                        <p:tgtEl>
                                          <p:spTgt spid="34"/>
                                        </p:tgtEl>
                                      </p:cBhvr>
                                    </p:animEffect>
                                  </p:childTnLst>
                                </p:cTn>
                              </p:par>
                              <p:par>
                                <p:cTn id="97" presetID="10" presetClass="entr" presetSubtype="0" fill="hold" nodeType="withEffect">
                                  <p:stCondLst>
                                    <p:cond delay="36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450"/>
                                        <p:tgtEl>
                                          <p:spTgt spid="35"/>
                                        </p:tgtEl>
                                      </p:cBhvr>
                                    </p:animEffect>
                                  </p:childTnLst>
                                </p:cTn>
                              </p:par>
                              <p:par>
                                <p:cTn id="100" presetID="10" presetClass="entr" presetSubtype="0" fill="hold" nodeType="withEffect">
                                  <p:stCondLst>
                                    <p:cond delay="36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450"/>
                                        <p:tgtEl>
                                          <p:spTgt spid="36"/>
                                        </p:tgtEl>
                                      </p:cBhvr>
                                    </p:animEffect>
                                  </p:childTnLst>
                                </p:cTn>
                              </p:par>
                              <p:par>
                                <p:cTn id="103" presetID="10" presetClass="entr" presetSubtype="0" fill="hold" nodeType="withEffect">
                                  <p:stCondLst>
                                    <p:cond delay="36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450"/>
                                        <p:tgtEl>
                                          <p:spTgt spid="37"/>
                                        </p:tgtEl>
                                      </p:cBhvr>
                                    </p:animEffect>
                                  </p:childTnLst>
                                </p:cTn>
                              </p:par>
                              <p:par>
                                <p:cTn id="106" presetID="10" presetClass="entr" presetSubtype="0" fill="hold" nodeType="withEffect">
                                  <p:stCondLst>
                                    <p:cond delay="36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450"/>
                                        <p:tgtEl>
                                          <p:spTgt spid="38"/>
                                        </p:tgtEl>
                                      </p:cBhvr>
                                    </p:animEffect>
                                  </p:childTnLst>
                                </p:cTn>
                              </p:par>
                              <p:par>
                                <p:cTn id="109" presetID="10" presetClass="entr" presetSubtype="0" fill="hold" nodeType="withEffect">
                                  <p:stCondLst>
                                    <p:cond delay="36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450"/>
                                        <p:tgtEl>
                                          <p:spTgt spid="39"/>
                                        </p:tgtEl>
                                      </p:cBhvr>
                                    </p:animEffect>
                                  </p:childTnLst>
                                </p:cTn>
                              </p:par>
                              <p:par>
                                <p:cTn id="112" presetID="10" presetClass="entr" presetSubtype="0" fill="hold" nodeType="withEffect">
                                  <p:stCondLst>
                                    <p:cond delay="360"/>
                                  </p:stCondLst>
                                  <p:childTnLst>
                                    <p:set>
                                      <p:cBhvr>
                                        <p:cTn id="113" dur="1" fill="hold">
                                          <p:stCondLst>
                                            <p:cond delay="0"/>
                                          </p:stCondLst>
                                        </p:cTn>
                                        <p:tgtEl>
                                          <p:spTgt spid="40"/>
                                        </p:tgtEl>
                                        <p:attrNameLst>
                                          <p:attrName>style.visibility</p:attrName>
                                        </p:attrNameLst>
                                      </p:cBhvr>
                                      <p:to>
                                        <p:strVal val="visible"/>
                                      </p:to>
                                    </p:set>
                                    <p:animEffect transition="in" filter="fade">
                                      <p:cBhvr>
                                        <p:cTn id="114" dur="450"/>
                                        <p:tgtEl>
                                          <p:spTgt spid="40"/>
                                        </p:tgtEl>
                                      </p:cBhvr>
                                    </p:animEffect>
                                  </p:childTnLst>
                                </p:cTn>
                              </p:par>
                              <p:par>
                                <p:cTn id="115" presetID="10" presetClass="entr" presetSubtype="0" fill="hold" nodeType="withEffect">
                                  <p:stCondLst>
                                    <p:cond delay="360"/>
                                  </p:stCondLst>
                                  <p:childTnLst>
                                    <p:set>
                                      <p:cBhvr>
                                        <p:cTn id="116" dur="1" fill="hold">
                                          <p:stCondLst>
                                            <p:cond delay="0"/>
                                          </p:stCondLst>
                                        </p:cTn>
                                        <p:tgtEl>
                                          <p:spTgt spid="41"/>
                                        </p:tgtEl>
                                        <p:attrNameLst>
                                          <p:attrName>style.visibility</p:attrName>
                                        </p:attrNameLst>
                                      </p:cBhvr>
                                      <p:to>
                                        <p:strVal val="visible"/>
                                      </p:to>
                                    </p:set>
                                    <p:animEffect transition="in" filter="fade">
                                      <p:cBhvr>
                                        <p:cTn id="117" dur="450"/>
                                        <p:tgtEl>
                                          <p:spTgt spid="41"/>
                                        </p:tgtEl>
                                      </p:cBhvr>
                                    </p:animEffect>
                                  </p:childTnLst>
                                </p:cTn>
                              </p:par>
                              <p:par>
                                <p:cTn id="118" presetID="10" presetClass="entr" presetSubtype="0" fill="hold" nodeType="withEffect">
                                  <p:stCondLst>
                                    <p:cond delay="360"/>
                                  </p:stCondLst>
                                  <p:childTnLst>
                                    <p:set>
                                      <p:cBhvr>
                                        <p:cTn id="119" dur="1" fill="hold">
                                          <p:stCondLst>
                                            <p:cond delay="0"/>
                                          </p:stCondLst>
                                        </p:cTn>
                                        <p:tgtEl>
                                          <p:spTgt spid="42"/>
                                        </p:tgtEl>
                                        <p:attrNameLst>
                                          <p:attrName>style.visibility</p:attrName>
                                        </p:attrNameLst>
                                      </p:cBhvr>
                                      <p:to>
                                        <p:strVal val="visible"/>
                                      </p:to>
                                    </p:set>
                                    <p:animEffect transition="in" filter="fade">
                                      <p:cBhvr>
                                        <p:cTn id="120" dur="450"/>
                                        <p:tgtEl>
                                          <p:spTgt spid="42"/>
                                        </p:tgtEl>
                                      </p:cBhvr>
                                    </p:animEffect>
                                  </p:childTnLst>
                                </p:cTn>
                              </p:par>
                              <p:par>
                                <p:cTn id="121" presetID="10" presetClass="entr" presetSubtype="0" fill="hold" nodeType="withEffect">
                                  <p:stCondLst>
                                    <p:cond delay="360"/>
                                  </p:stCondLst>
                                  <p:childTnLst>
                                    <p:set>
                                      <p:cBhvr>
                                        <p:cTn id="122" dur="1" fill="hold">
                                          <p:stCondLst>
                                            <p:cond delay="0"/>
                                          </p:stCondLst>
                                        </p:cTn>
                                        <p:tgtEl>
                                          <p:spTgt spid="43"/>
                                        </p:tgtEl>
                                        <p:attrNameLst>
                                          <p:attrName>style.visibility</p:attrName>
                                        </p:attrNameLst>
                                      </p:cBhvr>
                                      <p:to>
                                        <p:strVal val="visible"/>
                                      </p:to>
                                    </p:set>
                                    <p:animEffect transition="in" filter="fade">
                                      <p:cBhvr>
                                        <p:cTn id="123" dur="450"/>
                                        <p:tgtEl>
                                          <p:spTgt spid="43"/>
                                        </p:tgtEl>
                                      </p:cBhvr>
                                    </p:animEffect>
                                  </p:childTnLst>
                                </p:cTn>
                              </p:par>
                              <p:par>
                                <p:cTn id="124" presetID="10" presetClass="entr" presetSubtype="0" fill="hold" nodeType="withEffect">
                                  <p:stCondLst>
                                    <p:cond delay="36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450"/>
                                        <p:tgtEl>
                                          <p:spTgt spid="44"/>
                                        </p:tgtEl>
                                      </p:cBhvr>
                                    </p:animEffect>
                                  </p:childTnLst>
                                </p:cTn>
                              </p:par>
                              <p:par>
                                <p:cTn id="127" presetID="10" presetClass="entr" presetSubtype="0" fill="hold" nodeType="withEffect">
                                  <p:stCondLst>
                                    <p:cond delay="360"/>
                                  </p:stCondLst>
                                  <p:childTnLst>
                                    <p:set>
                                      <p:cBhvr>
                                        <p:cTn id="128" dur="1" fill="hold">
                                          <p:stCondLst>
                                            <p:cond delay="0"/>
                                          </p:stCondLst>
                                        </p:cTn>
                                        <p:tgtEl>
                                          <p:spTgt spid="45"/>
                                        </p:tgtEl>
                                        <p:attrNameLst>
                                          <p:attrName>style.visibility</p:attrName>
                                        </p:attrNameLst>
                                      </p:cBhvr>
                                      <p:to>
                                        <p:strVal val="visible"/>
                                      </p:to>
                                    </p:set>
                                    <p:animEffect transition="in" filter="fade">
                                      <p:cBhvr>
                                        <p:cTn id="129" dur="450"/>
                                        <p:tgtEl>
                                          <p:spTgt spid="45"/>
                                        </p:tgtEl>
                                      </p:cBhvr>
                                    </p:animEffect>
                                  </p:childTnLst>
                                </p:cTn>
                              </p:par>
                              <p:par>
                                <p:cTn id="130" presetID="10" presetClass="entr" presetSubtype="0" fill="hold" nodeType="withEffect">
                                  <p:stCondLst>
                                    <p:cond delay="360"/>
                                  </p:stCondLst>
                                  <p:childTnLst>
                                    <p:set>
                                      <p:cBhvr>
                                        <p:cTn id="131" dur="1" fill="hold">
                                          <p:stCondLst>
                                            <p:cond delay="0"/>
                                          </p:stCondLst>
                                        </p:cTn>
                                        <p:tgtEl>
                                          <p:spTgt spid="46"/>
                                        </p:tgtEl>
                                        <p:attrNameLst>
                                          <p:attrName>style.visibility</p:attrName>
                                        </p:attrNameLst>
                                      </p:cBhvr>
                                      <p:to>
                                        <p:strVal val="visible"/>
                                      </p:to>
                                    </p:set>
                                    <p:animEffect transition="in" filter="fade">
                                      <p:cBhvr>
                                        <p:cTn id="132" dur="450"/>
                                        <p:tgtEl>
                                          <p:spTgt spid="46"/>
                                        </p:tgtEl>
                                      </p:cBhvr>
                                    </p:animEffect>
                                  </p:childTnLst>
                                </p:cTn>
                              </p:par>
                              <p:par>
                                <p:cTn id="133" presetID="10" presetClass="entr" presetSubtype="0" fill="hold" nodeType="withEffect">
                                  <p:stCondLst>
                                    <p:cond delay="36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450"/>
                                        <p:tgtEl>
                                          <p:spTgt spid="47"/>
                                        </p:tgtEl>
                                      </p:cBhvr>
                                    </p:animEffect>
                                  </p:childTnLst>
                                </p:cTn>
                              </p:par>
                              <p:par>
                                <p:cTn id="136" presetID="10" presetClass="entr" presetSubtype="0" fill="hold" nodeType="withEffect">
                                  <p:stCondLst>
                                    <p:cond delay="360"/>
                                  </p:stCondLst>
                                  <p:childTnLst>
                                    <p:set>
                                      <p:cBhvr>
                                        <p:cTn id="137" dur="1" fill="hold">
                                          <p:stCondLst>
                                            <p:cond delay="0"/>
                                          </p:stCondLst>
                                        </p:cTn>
                                        <p:tgtEl>
                                          <p:spTgt spid="48"/>
                                        </p:tgtEl>
                                        <p:attrNameLst>
                                          <p:attrName>style.visibility</p:attrName>
                                        </p:attrNameLst>
                                      </p:cBhvr>
                                      <p:to>
                                        <p:strVal val="visible"/>
                                      </p:to>
                                    </p:set>
                                    <p:animEffect transition="in" filter="fade">
                                      <p:cBhvr>
                                        <p:cTn id="138" dur="450"/>
                                        <p:tgtEl>
                                          <p:spTgt spid="48"/>
                                        </p:tgtEl>
                                      </p:cBhvr>
                                    </p:animEffect>
                                  </p:childTnLst>
                                </p:cTn>
                              </p:par>
                              <p:par>
                                <p:cTn id="139" presetID="10" presetClass="entr" presetSubtype="0" fill="hold" nodeType="withEffect">
                                  <p:stCondLst>
                                    <p:cond delay="540"/>
                                  </p:stCondLst>
                                  <p:childTnLst>
                                    <p:set>
                                      <p:cBhvr>
                                        <p:cTn id="140" dur="1" fill="hold">
                                          <p:stCondLst>
                                            <p:cond delay="0"/>
                                          </p:stCondLst>
                                        </p:cTn>
                                        <p:tgtEl>
                                          <p:spTgt spid="49"/>
                                        </p:tgtEl>
                                        <p:attrNameLst>
                                          <p:attrName>style.visibility</p:attrName>
                                        </p:attrNameLst>
                                      </p:cBhvr>
                                      <p:to>
                                        <p:strVal val="visible"/>
                                      </p:to>
                                    </p:set>
                                    <p:animEffect transition="in" filter="fade">
                                      <p:cBhvr>
                                        <p:cTn id="141" dur="450"/>
                                        <p:tgtEl>
                                          <p:spTgt spid="49"/>
                                        </p:tgtEl>
                                      </p:cBhvr>
                                    </p:animEffect>
                                  </p:childTnLst>
                                </p:cTn>
                              </p:par>
                              <p:par>
                                <p:cTn id="142" presetID="10" presetClass="entr" presetSubtype="0" fill="hold" nodeType="withEffect">
                                  <p:stCondLst>
                                    <p:cond delay="54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450"/>
                                        <p:tgtEl>
                                          <p:spTgt spid="50"/>
                                        </p:tgtEl>
                                      </p:cBhvr>
                                    </p:animEffect>
                                  </p:childTnLst>
                                </p:cTn>
                              </p:par>
                              <p:par>
                                <p:cTn id="145" presetID="10" presetClass="entr" presetSubtype="0" fill="hold" nodeType="withEffect">
                                  <p:stCondLst>
                                    <p:cond delay="540"/>
                                  </p:stCondLst>
                                  <p:childTnLst>
                                    <p:set>
                                      <p:cBhvr>
                                        <p:cTn id="146" dur="1" fill="hold">
                                          <p:stCondLst>
                                            <p:cond delay="0"/>
                                          </p:stCondLst>
                                        </p:cTn>
                                        <p:tgtEl>
                                          <p:spTgt spid="51"/>
                                        </p:tgtEl>
                                        <p:attrNameLst>
                                          <p:attrName>style.visibility</p:attrName>
                                        </p:attrNameLst>
                                      </p:cBhvr>
                                      <p:to>
                                        <p:strVal val="visible"/>
                                      </p:to>
                                    </p:set>
                                    <p:animEffect transition="in" filter="fade">
                                      <p:cBhvr>
                                        <p:cTn id="147" dur="450"/>
                                        <p:tgtEl>
                                          <p:spTgt spid="51"/>
                                        </p:tgtEl>
                                      </p:cBhvr>
                                    </p:animEffect>
                                  </p:childTnLst>
                                </p:cTn>
                              </p:par>
                              <p:par>
                                <p:cTn id="148" presetID="10" presetClass="entr" presetSubtype="0" fill="hold" nodeType="withEffect">
                                  <p:stCondLst>
                                    <p:cond delay="54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450"/>
                                        <p:tgtEl>
                                          <p:spTgt spid="52"/>
                                        </p:tgtEl>
                                      </p:cBhvr>
                                    </p:animEffect>
                                  </p:childTnLst>
                                </p:cTn>
                              </p:par>
                              <p:par>
                                <p:cTn id="151" presetID="10" presetClass="entr" presetSubtype="0" fill="hold" nodeType="withEffect">
                                  <p:stCondLst>
                                    <p:cond delay="540"/>
                                  </p:stCondLst>
                                  <p:childTnLst>
                                    <p:set>
                                      <p:cBhvr>
                                        <p:cTn id="152" dur="1" fill="hold">
                                          <p:stCondLst>
                                            <p:cond delay="0"/>
                                          </p:stCondLst>
                                        </p:cTn>
                                        <p:tgtEl>
                                          <p:spTgt spid="53"/>
                                        </p:tgtEl>
                                        <p:attrNameLst>
                                          <p:attrName>style.visibility</p:attrName>
                                        </p:attrNameLst>
                                      </p:cBhvr>
                                      <p:to>
                                        <p:strVal val="visible"/>
                                      </p:to>
                                    </p:set>
                                    <p:animEffect transition="in" filter="fade">
                                      <p:cBhvr>
                                        <p:cTn id="153" dur="450"/>
                                        <p:tgtEl>
                                          <p:spTgt spid="53"/>
                                        </p:tgtEl>
                                      </p:cBhvr>
                                    </p:animEffect>
                                  </p:childTnLst>
                                </p:cTn>
                              </p:par>
                              <p:par>
                                <p:cTn id="154" presetID="10" presetClass="entr" presetSubtype="0" fill="hold" nodeType="withEffect">
                                  <p:stCondLst>
                                    <p:cond delay="540"/>
                                  </p:stCondLst>
                                  <p:childTnLst>
                                    <p:set>
                                      <p:cBhvr>
                                        <p:cTn id="155" dur="1" fill="hold">
                                          <p:stCondLst>
                                            <p:cond delay="0"/>
                                          </p:stCondLst>
                                        </p:cTn>
                                        <p:tgtEl>
                                          <p:spTgt spid="54"/>
                                        </p:tgtEl>
                                        <p:attrNameLst>
                                          <p:attrName>style.visibility</p:attrName>
                                        </p:attrNameLst>
                                      </p:cBhvr>
                                      <p:to>
                                        <p:strVal val="visible"/>
                                      </p:to>
                                    </p:set>
                                    <p:animEffect transition="in" filter="fade">
                                      <p:cBhvr>
                                        <p:cTn id="156" dur="450"/>
                                        <p:tgtEl>
                                          <p:spTgt spid="54"/>
                                        </p:tgtEl>
                                      </p:cBhvr>
                                    </p:animEffect>
                                  </p:childTnLst>
                                </p:cTn>
                              </p:par>
                              <p:par>
                                <p:cTn id="157" presetID="10" presetClass="entr" presetSubtype="0" fill="hold" nodeType="withEffect">
                                  <p:stCondLst>
                                    <p:cond delay="540"/>
                                  </p:stCondLst>
                                  <p:childTnLst>
                                    <p:set>
                                      <p:cBhvr>
                                        <p:cTn id="158" dur="1" fill="hold">
                                          <p:stCondLst>
                                            <p:cond delay="0"/>
                                          </p:stCondLst>
                                        </p:cTn>
                                        <p:tgtEl>
                                          <p:spTgt spid="55"/>
                                        </p:tgtEl>
                                        <p:attrNameLst>
                                          <p:attrName>style.visibility</p:attrName>
                                        </p:attrNameLst>
                                      </p:cBhvr>
                                      <p:to>
                                        <p:strVal val="visible"/>
                                      </p:to>
                                    </p:set>
                                    <p:animEffect transition="in" filter="fade">
                                      <p:cBhvr>
                                        <p:cTn id="159" dur="450"/>
                                        <p:tgtEl>
                                          <p:spTgt spid="55"/>
                                        </p:tgtEl>
                                      </p:cBhvr>
                                    </p:animEffect>
                                  </p:childTnLst>
                                </p:cTn>
                              </p:par>
                              <p:par>
                                <p:cTn id="160" presetID="10" presetClass="entr" presetSubtype="0" fill="hold" nodeType="withEffect">
                                  <p:stCondLst>
                                    <p:cond delay="540"/>
                                  </p:stCondLst>
                                  <p:childTnLst>
                                    <p:set>
                                      <p:cBhvr>
                                        <p:cTn id="161" dur="1" fill="hold">
                                          <p:stCondLst>
                                            <p:cond delay="0"/>
                                          </p:stCondLst>
                                        </p:cTn>
                                        <p:tgtEl>
                                          <p:spTgt spid="56"/>
                                        </p:tgtEl>
                                        <p:attrNameLst>
                                          <p:attrName>style.visibility</p:attrName>
                                        </p:attrNameLst>
                                      </p:cBhvr>
                                      <p:to>
                                        <p:strVal val="visible"/>
                                      </p:to>
                                    </p:set>
                                    <p:animEffect transition="in" filter="fade">
                                      <p:cBhvr>
                                        <p:cTn id="162" dur="450"/>
                                        <p:tgtEl>
                                          <p:spTgt spid="56"/>
                                        </p:tgtEl>
                                      </p:cBhvr>
                                    </p:animEffect>
                                  </p:childTnLst>
                                </p:cTn>
                              </p:par>
                              <p:par>
                                <p:cTn id="163" presetID="10" presetClass="entr" presetSubtype="0" fill="hold" nodeType="withEffect">
                                  <p:stCondLst>
                                    <p:cond delay="540"/>
                                  </p:stCondLst>
                                  <p:childTnLst>
                                    <p:set>
                                      <p:cBhvr>
                                        <p:cTn id="164" dur="1" fill="hold">
                                          <p:stCondLst>
                                            <p:cond delay="0"/>
                                          </p:stCondLst>
                                        </p:cTn>
                                        <p:tgtEl>
                                          <p:spTgt spid="57"/>
                                        </p:tgtEl>
                                        <p:attrNameLst>
                                          <p:attrName>style.visibility</p:attrName>
                                        </p:attrNameLst>
                                      </p:cBhvr>
                                      <p:to>
                                        <p:strVal val="visible"/>
                                      </p:to>
                                    </p:set>
                                    <p:animEffect transition="in" filter="fade">
                                      <p:cBhvr>
                                        <p:cTn id="165" dur="450"/>
                                        <p:tgtEl>
                                          <p:spTgt spid="57"/>
                                        </p:tgtEl>
                                      </p:cBhvr>
                                    </p:animEffect>
                                  </p:childTnLst>
                                </p:cTn>
                              </p:par>
                              <p:par>
                                <p:cTn id="166" presetID="10" presetClass="entr" presetSubtype="0" fill="hold" nodeType="withEffect">
                                  <p:stCondLst>
                                    <p:cond delay="540"/>
                                  </p:stCondLst>
                                  <p:childTnLst>
                                    <p:set>
                                      <p:cBhvr>
                                        <p:cTn id="167" dur="1" fill="hold">
                                          <p:stCondLst>
                                            <p:cond delay="0"/>
                                          </p:stCondLst>
                                        </p:cTn>
                                        <p:tgtEl>
                                          <p:spTgt spid="58"/>
                                        </p:tgtEl>
                                        <p:attrNameLst>
                                          <p:attrName>style.visibility</p:attrName>
                                        </p:attrNameLst>
                                      </p:cBhvr>
                                      <p:to>
                                        <p:strVal val="visible"/>
                                      </p:to>
                                    </p:set>
                                    <p:animEffect transition="in" filter="fade">
                                      <p:cBhvr>
                                        <p:cTn id="168" dur="450"/>
                                        <p:tgtEl>
                                          <p:spTgt spid="58"/>
                                        </p:tgtEl>
                                      </p:cBhvr>
                                    </p:animEffect>
                                  </p:childTnLst>
                                </p:cTn>
                              </p:par>
                              <p:par>
                                <p:cTn id="169" presetID="10" presetClass="entr" presetSubtype="0" fill="hold" nodeType="withEffect">
                                  <p:stCondLst>
                                    <p:cond delay="540"/>
                                  </p:stCondLst>
                                  <p:childTnLst>
                                    <p:set>
                                      <p:cBhvr>
                                        <p:cTn id="170" dur="1" fill="hold">
                                          <p:stCondLst>
                                            <p:cond delay="0"/>
                                          </p:stCondLst>
                                        </p:cTn>
                                        <p:tgtEl>
                                          <p:spTgt spid="59"/>
                                        </p:tgtEl>
                                        <p:attrNameLst>
                                          <p:attrName>style.visibility</p:attrName>
                                        </p:attrNameLst>
                                      </p:cBhvr>
                                      <p:to>
                                        <p:strVal val="visible"/>
                                      </p:to>
                                    </p:set>
                                    <p:animEffect transition="in" filter="fade">
                                      <p:cBhvr>
                                        <p:cTn id="171" dur="450"/>
                                        <p:tgtEl>
                                          <p:spTgt spid="59"/>
                                        </p:tgtEl>
                                      </p:cBhvr>
                                    </p:animEffect>
                                  </p:childTnLst>
                                </p:cTn>
                              </p:par>
                              <p:par>
                                <p:cTn id="172" presetID="10" presetClass="entr" presetSubtype="0" fill="hold" nodeType="withEffect">
                                  <p:stCondLst>
                                    <p:cond delay="540"/>
                                  </p:stCondLst>
                                  <p:childTnLst>
                                    <p:set>
                                      <p:cBhvr>
                                        <p:cTn id="173" dur="1" fill="hold">
                                          <p:stCondLst>
                                            <p:cond delay="0"/>
                                          </p:stCondLst>
                                        </p:cTn>
                                        <p:tgtEl>
                                          <p:spTgt spid="60"/>
                                        </p:tgtEl>
                                        <p:attrNameLst>
                                          <p:attrName>style.visibility</p:attrName>
                                        </p:attrNameLst>
                                      </p:cBhvr>
                                      <p:to>
                                        <p:strVal val="visible"/>
                                      </p:to>
                                    </p:set>
                                    <p:animEffect transition="in" filter="fade">
                                      <p:cBhvr>
                                        <p:cTn id="174" dur="450"/>
                                        <p:tgtEl>
                                          <p:spTgt spid="60"/>
                                        </p:tgtEl>
                                      </p:cBhvr>
                                    </p:animEffect>
                                  </p:childTnLst>
                                </p:cTn>
                              </p:par>
                              <p:par>
                                <p:cTn id="175" presetID="10" presetClass="entr" presetSubtype="0" fill="hold" nodeType="withEffect">
                                  <p:stCondLst>
                                    <p:cond delay="540"/>
                                  </p:stCondLst>
                                  <p:childTnLst>
                                    <p:set>
                                      <p:cBhvr>
                                        <p:cTn id="176" dur="1" fill="hold">
                                          <p:stCondLst>
                                            <p:cond delay="0"/>
                                          </p:stCondLst>
                                        </p:cTn>
                                        <p:tgtEl>
                                          <p:spTgt spid="61"/>
                                        </p:tgtEl>
                                        <p:attrNameLst>
                                          <p:attrName>style.visibility</p:attrName>
                                        </p:attrNameLst>
                                      </p:cBhvr>
                                      <p:to>
                                        <p:strVal val="visible"/>
                                      </p:to>
                                    </p:set>
                                    <p:animEffect transition="in" filter="fade">
                                      <p:cBhvr>
                                        <p:cTn id="177" dur="450"/>
                                        <p:tgtEl>
                                          <p:spTgt spid="61"/>
                                        </p:tgtEl>
                                      </p:cBhvr>
                                    </p:animEffect>
                                  </p:childTnLst>
                                </p:cTn>
                              </p:par>
                              <p:par>
                                <p:cTn id="178" presetID="10" presetClass="entr" presetSubtype="0" fill="hold" nodeType="withEffect">
                                  <p:stCondLst>
                                    <p:cond delay="540"/>
                                  </p:stCondLst>
                                  <p:childTnLst>
                                    <p:set>
                                      <p:cBhvr>
                                        <p:cTn id="179" dur="1" fill="hold">
                                          <p:stCondLst>
                                            <p:cond delay="0"/>
                                          </p:stCondLst>
                                        </p:cTn>
                                        <p:tgtEl>
                                          <p:spTgt spid="62"/>
                                        </p:tgtEl>
                                        <p:attrNameLst>
                                          <p:attrName>style.visibility</p:attrName>
                                        </p:attrNameLst>
                                      </p:cBhvr>
                                      <p:to>
                                        <p:strVal val="visible"/>
                                      </p:to>
                                    </p:set>
                                    <p:animEffect transition="in" filter="fade">
                                      <p:cBhvr>
                                        <p:cTn id="180" dur="450"/>
                                        <p:tgtEl>
                                          <p:spTgt spid="62"/>
                                        </p:tgtEl>
                                      </p:cBhvr>
                                    </p:animEffect>
                                  </p:childTnLst>
                                </p:cTn>
                              </p:par>
                              <p:par>
                                <p:cTn id="181" presetID="10" presetClass="entr" presetSubtype="0" fill="hold" nodeType="withEffect">
                                  <p:stCondLst>
                                    <p:cond delay="540"/>
                                  </p:stCondLst>
                                  <p:childTnLst>
                                    <p:set>
                                      <p:cBhvr>
                                        <p:cTn id="182" dur="1" fill="hold">
                                          <p:stCondLst>
                                            <p:cond delay="0"/>
                                          </p:stCondLst>
                                        </p:cTn>
                                        <p:tgtEl>
                                          <p:spTgt spid="63"/>
                                        </p:tgtEl>
                                        <p:attrNameLst>
                                          <p:attrName>style.visibility</p:attrName>
                                        </p:attrNameLst>
                                      </p:cBhvr>
                                      <p:to>
                                        <p:strVal val="visible"/>
                                      </p:to>
                                    </p:set>
                                    <p:animEffect transition="in" filter="fade">
                                      <p:cBhvr>
                                        <p:cTn id="183" dur="450"/>
                                        <p:tgtEl>
                                          <p:spTgt spid="63"/>
                                        </p:tgtEl>
                                      </p:cBhvr>
                                    </p:animEffect>
                                  </p:childTnLst>
                                </p:cTn>
                              </p:par>
                              <p:par>
                                <p:cTn id="184" presetID="10" presetClass="entr" presetSubtype="0" fill="hold" nodeType="withEffect">
                                  <p:stCondLst>
                                    <p:cond delay="540"/>
                                  </p:stCondLst>
                                  <p:childTnLst>
                                    <p:set>
                                      <p:cBhvr>
                                        <p:cTn id="185" dur="1" fill="hold">
                                          <p:stCondLst>
                                            <p:cond delay="0"/>
                                          </p:stCondLst>
                                        </p:cTn>
                                        <p:tgtEl>
                                          <p:spTgt spid="64"/>
                                        </p:tgtEl>
                                        <p:attrNameLst>
                                          <p:attrName>style.visibility</p:attrName>
                                        </p:attrNameLst>
                                      </p:cBhvr>
                                      <p:to>
                                        <p:strVal val="visible"/>
                                      </p:to>
                                    </p:set>
                                    <p:animEffect transition="in" filter="fade">
                                      <p:cBhvr>
                                        <p:cTn id="186" dur="450"/>
                                        <p:tgtEl>
                                          <p:spTgt spid="64"/>
                                        </p:tgtEl>
                                      </p:cBhvr>
                                    </p:animEffect>
                                  </p:childTnLst>
                                </p:cTn>
                              </p:par>
                              <p:par>
                                <p:cTn id="187" presetID="10" presetClass="entr" presetSubtype="0" fill="hold" nodeType="withEffect">
                                  <p:stCondLst>
                                    <p:cond delay="540"/>
                                  </p:stCondLst>
                                  <p:childTnLst>
                                    <p:set>
                                      <p:cBhvr>
                                        <p:cTn id="188" dur="1" fill="hold">
                                          <p:stCondLst>
                                            <p:cond delay="0"/>
                                          </p:stCondLst>
                                        </p:cTn>
                                        <p:tgtEl>
                                          <p:spTgt spid="65"/>
                                        </p:tgtEl>
                                        <p:attrNameLst>
                                          <p:attrName>style.visibility</p:attrName>
                                        </p:attrNameLst>
                                      </p:cBhvr>
                                      <p:to>
                                        <p:strVal val="visible"/>
                                      </p:to>
                                    </p:set>
                                    <p:animEffect transition="in" filter="fade">
                                      <p:cBhvr>
                                        <p:cTn id="189" dur="450"/>
                                        <p:tgtEl>
                                          <p:spTgt spid="65"/>
                                        </p:tgtEl>
                                      </p:cBhvr>
                                    </p:animEffect>
                                  </p:childTnLst>
                                </p:cTn>
                              </p:par>
                              <p:par>
                                <p:cTn id="190" presetID="10" presetClass="entr" presetSubtype="0" fill="hold" nodeType="withEffect">
                                  <p:stCondLst>
                                    <p:cond delay="540"/>
                                  </p:stCondLst>
                                  <p:childTnLst>
                                    <p:set>
                                      <p:cBhvr>
                                        <p:cTn id="191" dur="1" fill="hold">
                                          <p:stCondLst>
                                            <p:cond delay="0"/>
                                          </p:stCondLst>
                                        </p:cTn>
                                        <p:tgtEl>
                                          <p:spTgt spid="66"/>
                                        </p:tgtEl>
                                        <p:attrNameLst>
                                          <p:attrName>style.visibility</p:attrName>
                                        </p:attrNameLst>
                                      </p:cBhvr>
                                      <p:to>
                                        <p:strVal val="visible"/>
                                      </p:to>
                                    </p:set>
                                    <p:animEffect transition="in" filter="fade">
                                      <p:cBhvr>
                                        <p:cTn id="192" dur="450"/>
                                        <p:tgtEl>
                                          <p:spTgt spid="66"/>
                                        </p:tgtEl>
                                      </p:cBhvr>
                                    </p:animEffect>
                                  </p:childTnLst>
                                </p:cTn>
                              </p:par>
                              <p:par>
                                <p:cTn id="193" presetID="10" presetClass="entr" presetSubtype="0" fill="hold" nodeType="withEffect">
                                  <p:stCondLst>
                                    <p:cond delay="540"/>
                                  </p:stCondLst>
                                  <p:childTnLst>
                                    <p:set>
                                      <p:cBhvr>
                                        <p:cTn id="194" dur="1" fill="hold">
                                          <p:stCondLst>
                                            <p:cond delay="0"/>
                                          </p:stCondLst>
                                        </p:cTn>
                                        <p:tgtEl>
                                          <p:spTgt spid="67"/>
                                        </p:tgtEl>
                                        <p:attrNameLst>
                                          <p:attrName>style.visibility</p:attrName>
                                        </p:attrNameLst>
                                      </p:cBhvr>
                                      <p:to>
                                        <p:strVal val="visible"/>
                                      </p:to>
                                    </p:set>
                                    <p:animEffect transition="in" filter="fade">
                                      <p:cBhvr>
                                        <p:cTn id="195" dur="450"/>
                                        <p:tgtEl>
                                          <p:spTgt spid="67"/>
                                        </p:tgtEl>
                                      </p:cBhvr>
                                    </p:animEffect>
                                  </p:childTnLst>
                                </p:cTn>
                              </p:par>
                              <p:par>
                                <p:cTn id="196" presetID="10" presetClass="entr" presetSubtype="0" fill="hold" nodeType="withEffect">
                                  <p:stCondLst>
                                    <p:cond delay="540"/>
                                  </p:stCondLst>
                                  <p:childTnLst>
                                    <p:set>
                                      <p:cBhvr>
                                        <p:cTn id="197" dur="1" fill="hold">
                                          <p:stCondLst>
                                            <p:cond delay="0"/>
                                          </p:stCondLst>
                                        </p:cTn>
                                        <p:tgtEl>
                                          <p:spTgt spid="68"/>
                                        </p:tgtEl>
                                        <p:attrNameLst>
                                          <p:attrName>style.visibility</p:attrName>
                                        </p:attrNameLst>
                                      </p:cBhvr>
                                      <p:to>
                                        <p:strVal val="visible"/>
                                      </p:to>
                                    </p:set>
                                    <p:animEffect transition="in" filter="fade">
                                      <p:cBhvr>
                                        <p:cTn id="198" dur="450"/>
                                        <p:tgtEl>
                                          <p:spTgt spid="68"/>
                                        </p:tgtEl>
                                      </p:cBhvr>
                                    </p:animEffect>
                                  </p:childTnLst>
                                </p:cTn>
                              </p:par>
                              <p:par>
                                <p:cTn id="199" presetID="10" presetClass="entr" presetSubtype="0" fill="hold" nodeType="withEffect">
                                  <p:stCondLst>
                                    <p:cond delay="540"/>
                                  </p:stCondLst>
                                  <p:childTnLst>
                                    <p:set>
                                      <p:cBhvr>
                                        <p:cTn id="200" dur="1" fill="hold">
                                          <p:stCondLst>
                                            <p:cond delay="0"/>
                                          </p:stCondLst>
                                        </p:cTn>
                                        <p:tgtEl>
                                          <p:spTgt spid="69"/>
                                        </p:tgtEl>
                                        <p:attrNameLst>
                                          <p:attrName>style.visibility</p:attrName>
                                        </p:attrNameLst>
                                      </p:cBhvr>
                                      <p:to>
                                        <p:strVal val="visible"/>
                                      </p:to>
                                    </p:set>
                                    <p:animEffect transition="in" filter="fade">
                                      <p:cBhvr>
                                        <p:cTn id="201" dur="450"/>
                                        <p:tgtEl>
                                          <p:spTgt spid="69"/>
                                        </p:tgtEl>
                                      </p:cBhvr>
                                    </p:animEffect>
                                  </p:childTnLst>
                                </p:cTn>
                              </p:par>
                              <p:par>
                                <p:cTn id="202" presetID="10" presetClass="entr" presetSubtype="0" fill="hold" nodeType="withEffect">
                                  <p:stCondLst>
                                    <p:cond delay="540"/>
                                  </p:stCondLst>
                                  <p:childTnLst>
                                    <p:set>
                                      <p:cBhvr>
                                        <p:cTn id="203" dur="1" fill="hold">
                                          <p:stCondLst>
                                            <p:cond delay="0"/>
                                          </p:stCondLst>
                                        </p:cTn>
                                        <p:tgtEl>
                                          <p:spTgt spid="70"/>
                                        </p:tgtEl>
                                        <p:attrNameLst>
                                          <p:attrName>style.visibility</p:attrName>
                                        </p:attrNameLst>
                                      </p:cBhvr>
                                      <p:to>
                                        <p:strVal val="visible"/>
                                      </p:to>
                                    </p:set>
                                    <p:animEffect transition="in" filter="fade">
                                      <p:cBhvr>
                                        <p:cTn id="204" dur="450"/>
                                        <p:tgtEl>
                                          <p:spTgt spid="70"/>
                                        </p:tgtEl>
                                      </p:cBhvr>
                                    </p:animEffect>
                                  </p:childTnLst>
                                </p:cTn>
                              </p:par>
                              <p:par>
                                <p:cTn id="205" presetID="10" presetClass="entr" presetSubtype="0" fill="hold" nodeType="withEffect">
                                  <p:stCondLst>
                                    <p:cond delay="540"/>
                                  </p:stCondLst>
                                  <p:childTnLst>
                                    <p:set>
                                      <p:cBhvr>
                                        <p:cTn id="206" dur="1" fill="hold">
                                          <p:stCondLst>
                                            <p:cond delay="0"/>
                                          </p:stCondLst>
                                        </p:cTn>
                                        <p:tgtEl>
                                          <p:spTgt spid="71"/>
                                        </p:tgtEl>
                                        <p:attrNameLst>
                                          <p:attrName>style.visibility</p:attrName>
                                        </p:attrNameLst>
                                      </p:cBhvr>
                                      <p:to>
                                        <p:strVal val="visible"/>
                                      </p:to>
                                    </p:set>
                                    <p:animEffect transition="in" filter="fade">
                                      <p:cBhvr>
                                        <p:cTn id="207" dur="450"/>
                                        <p:tgtEl>
                                          <p:spTgt spid="71"/>
                                        </p:tgtEl>
                                      </p:cBhvr>
                                    </p:animEffect>
                                  </p:childTnLst>
                                </p:cTn>
                              </p:par>
                              <p:par>
                                <p:cTn id="208" presetID="10" presetClass="entr" presetSubtype="0" fill="hold" nodeType="withEffect">
                                  <p:stCondLst>
                                    <p:cond delay="540"/>
                                  </p:stCondLst>
                                  <p:childTnLst>
                                    <p:set>
                                      <p:cBhvr>
                                        <p:cTn id="209" dur="1" fill="hold">
                                          <p:stCondLst>
                                            <p:cond delay="0"/>
                                          </p:stCondLst>
                                        </p:cTn>
                                        <p:tgtEl>
                                          <p:spTgt spid="72"/>
                                        </p:tgtEl>
                                        <p:attrNameLst>
                                          <p:attrName>style.visibility</p:attrName>
                                        </p:attrNameLst>
                                      </p:cBhvr>
                                      <p:to>
                                        <p:strVal val="visible"/>
                                      </p:to>
                                    </p:set>
                                    <p:animEffect transition="in" filter="fade">
                                      <p:cBhvr>
                                        <p:cTn id="210" dur="45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05  ·  CHARTS — SPRINT 1</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Charts come first</a:t>
            </a:r>
            <a:endParaRPr lang="en-US" sz="3400" dirty="0"/>
          </a:p>
        </p:txBody>
      </p:sp>
      <p:sp>
        <p:nvSpPr>
          <p:cNvPr id="4" name="anim_0_frame"/>
          <p:cNvSpPr/>
          <p:nvPr/>
        </p:nvSpPr>
        <p:spPr>
          <a:xfrm>
            <a:off x="548640" y="1645920"/>
            <a:ext cx="7543800" cy="4343400"/>
          </a:xfrm>
          <a:prstGeom prst="roundRect">
            <a:avLst>
              <a:gd name="adj" fmla="val 2105"/>
            </a:avLst>
          </a:prstGeom>
          <a:solidFill>
            <a:srgbClr val="FFFFFF"/>
          </a:solidFill>
          <a:ln w="9525">
            <a:solidFill>
              <a:srgbClr val="DCE1E8"/>
            </a:solidFill>
            <a:prstDash val="solid"/>
          </a:ln>
          <a:effectLst>
            <a:outerShdw sx="100000" sy="100000" kx="0" ky="0" algn="bl" rotWithShape="0" blurRad="101600" dist="25400" dir="5400000">
              <a:srgbClr val="0F1B2D">
                <a:alpha val="12000"/>
              </a:srgbClr>
            </a:outerShdw>
          </a:effectLst>
        </p:spPr>
      </p:sp>
      <p:sp>
        <p:nvSpPr>
          <p:cNvPr id="5" name="anim_0_cap"/>
          <p:cNvSpPr txBox="1"/>
          <p:nvPr/>
        </p:nvSpPr>
        <p:spPr>
          <a:xfrm>
            <a:off x="777240" y="1755648"/>
            <a:ext cx="7132320" cy="274320"/>
          </a:xfrm>
          <a:prstGeom prst="rect">
            <a:avLst/>
          </a:prstGeom>
          <a:noFill/>
          <a:ln/>
        </p:spPr>
        <p:txBody>
          <a:bodyPr wrap="square" lIns="0" tIns="0" rIns="0" bIns="0" rtlCol="0" anchor="ctr"/>
          <a:lstStyle/>
          <a:p>
            <a:pPr indent="0" marL="0">
              <a:buNone/>
            </a:pPr>
            <a:r>
              <a:rPr lang="en-US" sz="1100" dirty="0">
                <a:solidFill>
                  <a:srgbClr val="5B6676"/>
                </a:solidFill>
                <a:latin typeface="Calibri" pitchFamily="34" charset="0"/>
                <a:ea typeface="Calibri" pitchFamily="34" charset="-122"/>
                <a:cs typeface="Calibri" pitchFamily="34" charset="-120"/>
              </a:rPr>
              <a:t>12 Pratt St, Apt 3 · Nov 9, 6 PM – Nov 10, 10 AM · simulated sensor</a:t>
            </a:r>
            <a:endParaRPr lang="en-US" sz="1100" dirty="0"/>
          </a:p>
        </p:txBody>
      </p:sp>
      <p:graphicFrame>
        <p:nvGraphicFramePr>
          <p:cNvPr id="6" name="anim_1_chart" descr=""/>
          <p:cNvGraphicFramePr/>
          <p:nvPr/>
        </p:nvGraphicFramePr>
        <p:xfrm>
          <a:off x="685800" y="2377440"/>
          <a:ext cx="7269480" cy="3520440"/>
        </p:xfrm>
        <a:graphic xmlns:a="http://schemas.openxmlformats.org/drawingml/2006/main">
          <a:graphicData uri="http://schemas.openxmlformats.org/drawingml/2006/chart">
            <c:chart xmlns:c="http://schemas.openxmlformats.org/drawingml/2006/chart" r:id="rId1"/>
          </a:graphicData>
        </a:graphic>
      </p:graphicFrame>
      <p:sp>
        <p:nvSpPr>
          <p:cNvPr id="7" name="anim_1_lg0"/>
          <p:cNvSpPr/>
          <p:nvPr/>
        </p:nvSpPr>
        <p:spPr>
          <a:xfrm>
            <a:off x="777240" y="2176272"/>
            <a:ext cx="274320" cy="0"/>
          </a:xfrm>
          <a:prstGeom prst="line">
            <a:avLst/>
          </a:prstGeom>
          <a:noFill/>
          <a:ln w="31750">
            <a:solidFill>
              <a:srgbClr val="0F1B2D"/>
            </a:solidFill>
            <a:prstDash val="solid"/>
          </a:ln>
        </p:spPr>
      </p:sp>
      <p:sp>
        <p:nvSpPr>
          <p:cNvPr id="8" name="anim_1_lgt0"/>
          <p:cNvSpPr txBox="1"/>
          <p:nvPr/>
        </p:nvSpPr>
        <p:spPr>
          <a:xfrm>
            <a:off x="1124712" y="2048256"/>
            <a:ext cx="2011680" cy="256032"/>
          </a:xfrm>
          <a:prstGeom prst="rect">
            <a:avLst/>
          </a:prstGeom>
          <a:noFill/>
          <a:ln/>
        </p:spPr>
        <p:txBody>
          <a:bodyPr wrap="square" lIns="0" tIns="0" rIns="0" bIns="0" rtlCol="0" anchor="ctr"/>
          <a:lstStyle/>
          <a:p>
            <a:pPr indent="0" marL="0">
              <a:buNone/>
            </a:pPr>
            <a:r>
              <a:rPr lang="en-US" sz="1100" dirty="0">
                <a:solidFill>
                  <a:srgbClr val="1E2633"/>
                </a:solidFill>
                <a:latin typeface="Calibri" pitchFamily="34" charset="0"/>
                <a:ea typeface="Calibri" pitchFamily="34" charset="-122"/>
                <a:cs typeface="Calibri" pitchFamily="34" charset="-120"/>
              </a:rPr>
              <a:t>Indoor</a:t>
            </a:r>
            <a:endParaRPr lang="en-US" sz="1100" dirty="0"/>
          </a:p>
        </p:txBody>
      </p:sp>
      <p:sp>
        <p:nvSpPr>
          <p:cNvPr id="9" name="anim_1_lg1"/>
          <p:cNvSpPr/>
          <p:nvPr/>
        </p:nvSpPr>
        <p:spPr>
          <a:xfrm>
            <a:off x="1764792" y="2176272"/>
            <a:ext cx="274320" cy="0"/>
          </a:xfrm>
          <a:prstGeom prst="line">
            <a:avLst/>
          </a:prstGeom>
          <a:noFill/>
          <a:ln w="31750">
            <a:solidFill>
              <a:srgbClr val="E4572E"/>
            </a:solidFill>
            <a:prstDash val="solid"/>
          </a:ln>
        </p:spPr>
      </p:sp>
      <p:sp>
        <p:nvSpPr>
          <p:cNvPr id="10" name="anim_1_lgt1"/>
          <p:cNvSpPr txBox="1"/>
          <p:nvPr/>
        </p:nvSpPr>
        <p:spPr>
          <a:xfrm>
            <a:off x="2112264" y="2048256"/>
            <a:ext cx="2011680" cy="256032"/>
          </a:xfrm>
          <a:prstGeom prst="rect">
            <a:avLst/>
          </a:prstGeom>
          <a:noFill/>
          <a:ln/>
        </p:spPr>
        <p:txBody>
          <a:bodyPr wrap="square" lIns="0" tIns="0" rIns="0" bIns="0" rtlCol="0" anchor="ctr"/>
          <a:lstStyle/>
          <a:p>
            <a:pPr indent="0" marL="0">
              <a:buNone/>
            </a:pPr>
            <a:r>
              <a:rPr lang="en-US" sz="1100" dirty="0">
                <a:solidFill>
                  <a:srgbClr val="1E2633"/>
                </a:solidFill>
                <a:latin typeface="Calibri" pitchFamily="34" charset="0"/>
                <a:ea typeface="Calibri" pitchFamily="34" charset="-122"/>
                <a:cs typeface="Calibri" pitchFamily="34" charset="-120"/>
              </a:rPr>
              <a:t>MA limit 68 / 64</a:t>
            </a:r>
            <a:endParaRPr lang="en-US" sz="1100" dirty="0"/>
          </a:p>
        </p:txBody>
      </p:sp>
      <p:sp>
        <p:nvSpPr>
          <p:cNvPr id="11" name="anim_1_lg2"/>
          <p:cNvSpPr/>
          <p:nvPr/>
        </p:nvSpPr>
        <p:spPr>
          <a:xfrm>
            <a:off x="3438144" y="2176272"/>
            <a:ext cx="274320" cy="0"/>
          </a:xfrm>
          <a:prstGeom prst="line">
            <a:avLst/>
          </a:prstGeom>
          <a:noFill/>
          <a:ln w="31750">
            <a:solidFill>
              <a:srgbClr val="3A86C8"/>
            </a:solidFill>
            <a:prstDash val="solid"/>
          </a:ln>
        </p:spPr>
      </p:sp>
      <p:sp>
        <p:nvSpPr>
          <p:cNvPr id="12" name="anim_1_lgt2"/>
          <p:cNvSpPr txBox="1"/>
          <p:nvPr/>
        </p:nvSpPr>
        <p:spPr>
          <a:xfrm>
            <a:off x="3785616" y="2048256"/>
            <a:ext cx="2011680" cy="256032"/>
          </a:xfrm>
          <a:prstGeom prst="rect">
            <a:avLst/>
          </a:prstGeom>
          <a:noFill/>
          <a:ln/>
        </p:spPr>
        <p:txBody>
          <a:bodyPr wrap="square" lIns="0" tIns="0" rIns="0" bIns="0" rtlCol="0" anchor="ctr"/>
          <a:lstStyle/>
          <a:p>
            <a:pPr indent="0" marL="0">
              <a:buNone/>
            </a:pPr>
            <a:r>
              <a:rPr lang="en-US" sz="1100" dirty="0">
                <a:solidFill>
                  <a:srgbClr val="1E2633"/>
                </a:solidFill>
                <a:latin typeface="Calibri" pitchFamily="34" charset="0"/>
                <a:ea typeface="Calibri" pitchFamily="34" charset="-122"/>
                <a:cs typeface="Calibri" pitchFamily="34" charset="-120"/>
              </a:rPr>
              <a:t>Outdoor (Open-Meteo)</a:t>
            </a:r>
            <a:endParaRPr lang="en-US" sz="1100" dirty="0"/>
          </a:p>
        </p:txBody>
      </p:sp>
      <p:sp>
        <p:nvSpPr>
          <p:cNvPr id="13" name="anim_1_lg3"/>
          <p:cNvSpPr/>
          <p:nvPr/>
        </p:nvSpPr>
        <p:spPr>
          <a:xfrm>
            <a:off x="5431536" y="2093976"/>
            <a:ext cx="182880" cy="164592"/>
          </a:xfrm>
          <a:prstGeom prst="rect">
            <a:avLst/>
          </a:prstGeom>
          <a:solidFill>
            <a:srgbClr val="F7B9A3"/>
          </a:solidFill>
          <a:ln w="12700">
            <a:solidFill>
              <a:srgbClr val="F7B9A3"/>
            </a:solidFill>
            <a:prstDash val="solid"/>
          </a:ln>
        </p:spPr>
      </p:sp>
      <p:sp>
        <p:nvSpPr>
          <p:cNvPr id="14" name="anim_1_lgt3"/>
          <p:cNvSpPr txBox="1"/>
          <p:nvPr/>
        </p:nvSpPr>
        <p:spPr>
          <a:xfrm>
            <a:off x="5733288" y="2048256"/>
            <a:ext cx="2011680" cy="256032"/>
          </a:xfrm>
          <a:prstGeom prst="rect">
            <a:avLst/>
          </a:prstGeom>
          <a:noFill/>
          <a:ln/>
        </p:spPr>
        <p:txBody>
          <a:bodyPr wrap="square" lIns="0" tIns="0" rIns="0" bIns="0" rtlCol="0" anchor="ctr"/>
          <a:lstStyle/>
          <a:p>
            <a:pPr indent="0" marL="0">
              <a:buNone/>
            </a:pPr>
            <a:r>
              <a:rPr lang="en-US" sz="1100" dirty="0">
                <a:solidFill>
                  <a:srgbClr val="1E2633"/>
                </a:solidFill>
                <a:latin typeface="Calibri" pitchFamily="34" charset="0"/>
                <a:ea typeface="Calibri" pitchFamily="34" charset="-122"/>
                <a:cs typeface="Calibri" pitchFamily="34" charset="-120"/>
              </a:rPr>
              <a:t>Below the limit</a:t>
            </a:r>
            <a:endParaRPr lang="en-US" sz="1100" dirty="0"/>
          </a:p>
        </p:txBody>
      </p:sp>
      <p:sp>
        <p:nvSpPr>
          <p:cNvPr id="15" name="anim_2_c"/>
          <p:cNvSpPr/>
          <p:nvPr/>
        </p:nvSpPr>
        <p:spPr>
          <a:xfrm>
            <a:off x="8321040" y="1645920"/>
            <a:ext cx="3319272" cy="1344168"/>
          </a:xfrm>
          <a:prstGeom prst="roundRect">
            <a:avLst>
              <a:gd name="adj" fmla="val 6803"/>
            </a:avLst>
          </a:prstGeom>
          <a:solidFill>
            <a:srgbClr val="F3F5F8"/>
          </a:solidFill>
          <a:ln w="12700">
            <a:solidFill>
              <a:srgbClr val="F3F5F8"/>
            </a:solidFill>
            <a:prstDash val="solid"/>
          </a:ln>
        </p:spPr>
      </p:sp>
      <p:sp>
        <p:nvSpPr>
          <p:cNvPr id="16" name="anim_2_ic_c"/>
          <p:cNvSpPr/>
          <p:nvPr/>
        </p:nvSpPr>
        <p:spPr>
          <a:xfrm>
            <a:off x="8503920" y="1847088"/>
            <a:ext cx="457200" cy="457200"/>
          </a:xfrm>
          <a:prstGeom prst="ellipse">
            <a:avLst/>
          </a:prstGeom>
          <a:solidFill>
            <a:srgbClr val="0F1B2D"/>
          </a:solidFill>
          <a:ln w="12700">
            <a:solidFill>
              <a:srgbClr val="0F1B2D"/>
            </a:solidFill>
            <a:prstDash val="solid"/>
          </a:ln>
        </p:spPr>
      </p:sp>
      <p:pic>
        <p:nvPicPr>
          <p:cNvPr id="17" name="anim_2_ic_i" descr="preencoded.png">    </p:cNvPr>
          <p:cNvPicPr>
            <a:picLocks noChangeAspect="1"/>
          </p:cNvPicPr>
          <p:nvPr/>
        </p:nvPicPr>
        <p:blipFill>
          <a:blip r:embed="rId2"/>
          <a:stretch>
            <a:fillRect/>
          </a:stretch>
        </p:blipFill>
        <p:spPr>
          <a:xfrm>
            <a:off x="8613648" y="1956816"/>
            <a:ext cx="237744" cy="237744"/>
          </a:xfrm>
          <a:prstGeom prst="rect">
            <a:avLst/>
          </a:prstGeom>
        </p:spPr>
      </p:pic>
      <p:sp>
        <p:nvSpPr>
          <p:cNvPr id="18" name="anim_2_h"/>
          <p:cNvSpPr txBox="1"/>
          <p:nvPr/>
        </p:nvSpPr>
        <p:spPr>
          <a:xfrm>
            <a:off x="9098280" y="1828800"/>
            <a:ext cx="2423160" cy="36576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Library</a:t>
            </a:r>
            <a:endParaRPr lang="en-US" sz="1500" dirty="0"/>
          </a:p>
        </p:txBody>
      </p:sp>
      <p:sp>
        <p:nvSpPr>
          <p:cNvPr id="19" name="anim_2_b"/>
          <p:cNvSpPr txBox="1"/>
          <p:nvPr/>
        </p:nvSpPr>
        <p:spPr>
          <a:xfrm>
            <a:off x="9098280" y="2212848"/>
            <a:ext cx="2423160" cy="685800"/>
          </a:xfrm>
          <a:prstGeom prst="rect">
            <a:avLst/>
          </a:prstGeom>
          <a:noFill/>
          <a:ln/>
        </p:spPr>
        <p:txBody>
          <a:bodyPr wrap="square" lIns="0" tIns="0" rIns="0" bIns="0" rtlCol="0" anchor="t"/>
          <a:lstStyle/>
          <a:p>
            <a:pPr indent="0" marL="0">
              <a:buNone/>
            </a:pPr>
            <a:r>
              <a:rPr lang="en-US" sz="1250" dirty="0">
                <a:solidFill>
                  <a:srgbClr val="1E2633"/>
                </a:solidFill>
                <a:latin typeface="Calibri" pitchFamily="34" charset="0"/>
                <a:ea typeface="Calibri" pitchFamily="34" charset="-122"/>
                <a:cs typeface="Calibri" pitchFamily="34" charset="-120"/>
              </a:rPr>
              <a:t>Vico line chart in Compose. The same series is drawn into the PDF.</a:t>
            </a:r>
            <a:endParaRPr lang="en-US" sz="1250" dirty="0"/>
          </a:p>
        </p:txBody>
      </p:sp>
      <p:sp>
        <p:nvSpPr>
          <p:cNvPr id="20" name="anim_3_c"/>
          <p:cNvSpPr/>
          <p:nvPr/>
        </p:nvSpPr>
        <p:spPr>
          <a:xfrm>
            <a:off x="8321040" y="3127248"/>
            <a:ext cx="3319272" cy="1344168"/>
          </a:xfrm>
          <a:prstGeom prst="roundRect">
            <a:avLst>
              <a:gd name="adj" fmla="val 6803"/>
            </a:avLst>
          </a:prstGeom>
          <a:solidFill>
            <a:srgbClr val="F3F5F8"/>
          </a:solidFill>
          <a:ln w="12700">
            <a:solidFill>
              <a:srgbClr val="F3F5F8"/>
            </a:solidFill>
            <a:prstDash val="solid"/>
          </a:ln>
        </p:spPr>
      </p:sp>
      <p:sp>
        <p:nvSpPr>
          <p:cNvPr id="21" name="anim_3_ic_c"/>
          <p:cNvSpPr/>
          <p:nvPr/>
        </p:nvSpPr>
        <p:spPr>
          <a:xfrm>
            <a:off x="8503920" y="3328416"/>
            <a:ext cx="457200" cy="457200"/>
          </a:xfrm>
          <a:prstGeom prst="ellipse">
            <a:avLst/>
          </a:prstGeom>
          <a:solidFill>
            <a:srgbClr val="3A86C8"/>
          </a:solidFill>
          <a:ln w="12700">
            <a:solidFill>
              <a:srgbClr val="3A86C8"/>
            </a:solidFill>
            <a:prstDash val="solid"/>
          </a:ln>
        </p:spPr>
      </p:sp>
      <p:pic>
        <p:nvPicPr>
          <p:cNvPr id="22" name="anim_3_ic_i" descr="preencoded.png">    </p:cNvPr>
          <p:cNvPicPr>
            <a:picLocks noChangeAspect="1"/>
          </p:cNvPicPr>
          <p:nvPr/>
        </p:nvPicPr>
        <p:blipFill>
          <a:blip r:embed="rId3"/>
          <a:stretch>
            <a:fillRect/>
          </a:stretch>
        </p:blipFill>
        <p:spPr>
          <a:xfrm>
            <a:off x="8613648" y="3438144"/>
            <a:ext cx="237744" cy="237744"/>
          </a:xfrm>
          <a:prstGeom prst="rect">
            <a:avLst/>
          </a:prstGeom>
        </p:spPr>
      </p:pic>
      <p:sp>
        <p:nvSpPr>
          <p:cNvPr id="23" name="anim_3_h"/>
          <p:cNvSpPr txBox="1"/>
          <p:nvPr/>
        </p:nvSpPr>
        <p:spPr>
          <a:xfrm>
            <a:off x="9098280" y="3310128"/>
            <a:ext cx="2423160" cy="36576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Third-party API</a:t>
            </a:r>
            <a:endParaRPr lang="en-US" sz="1500" dirty="0"/>
          </a:p>
        </p:txBody>
      </p:sp>
      <p:sp>
        <p:nvSpPr>
          <p:cNvPr id="24" name="anim_3_b"/>
          <p:cNvSpPr txBox="1"/>
          <p:nvPr/>
        </p:nvSpPr>
        <p:spPr>
          <a:xfrm>
            <a:off x="9098280" y="3694176"/>
            <a:ext cx="2423160" cy="685800"/>
          </a:xfrm>
          <a:prstGeom prst="rect">
            <a:avLst/>
          </a:prstGeom>
          <a:noFill/>
          <a:ln/>
        </p:spPr>
        <p:txBody>
          <a:bodyPr wrap="square" lIns="0" tIns="0" rIns="0" bIns="0" rtlCol="0" anchor="t"/>
          <a:lstStyle/>
          <a:p>
            <a:pPr indent="0" marL="0">
              <a:buNone/>
            </a:pPr>
            <a:r>
              <a:rPr lang="en-US" sz="1250" dirty="0">
                <a:solidFill>
                  <a:srgbClr val="1E2633"/>
                </a:solidFill>
                <a:latin typeface="Calibri" pitchFamily="34" charset="0"/>
                <a:ea typeface="Calibri" pitchFamily="34" charset="-122"/>
                <a:cs typeface="Calibri" pitchFamily="34" charset="-120"/>
              </a:rPr>
              <a:t>Open-Meteo hourly weather. No key; cached in Room.</a:t>
            </a:r>
            <a:endParaRPr lang="en-US" sz="1250" dirty="0"/>
          </a:p>
        </p:txBody>
      </p:sp>
      <p:sp>
        <p:nvSpPr>
          <p:cNvPr id="25" name="anim_4_c"/>
          <p:cNvSpPr/>
          <p:nvPr/>
        </p:nvSpPr>
        <p:spPr>
          <a:xfrm>
            <a:off x="8321040" y="4608576"/>
            <a:ext cx="3319272" cy="1344168"/>
          </a:xfrm>
          <a:prstGeom prst="roundRect">
            <a:avLst>
              <a:gd name="adj" fmla="val 6803"/>
            </a:avLst>
          </a:prstGeom>
          <a:solidFill>
            <a:srgbClr val="F3F5F8"/>
          </a:solidFill>
          <a:ln w="12700">
            <a:solidFill>
              <a:srgbClr val="F3F5F8"/>
            </a:solidFill>
            <a:prstDash val="solid"/>
          </a:ln>
        </p:spPr>
      </p:sp>
      <p:sp>
        <p:nvSpPr>
          <p:cNvPr id="26" name="anim_4_ic_c"/>
          <p:cNvSpPr/>
          <p:nvPr/>
        </p:nvSpPr>
        <p:spPr>
          <a:xfrm>
            <a:off x="8503920" y="4809744"/>
            <a:ext cx="457200" cy="457200"/>
          </a:xfrm>
          <a:prstGeom prst="ellipse">
            <a:avLst/>
          </a:prstGeom>
          <a:solidFill>
            <a:srgbClr val="E4572E"/>
          </a:solidFill>
          <a:ln w="12700">
            <a:solidFill>
              <a:srgbClr val="E4572E"/>
            </a:solidFill>
            <a:prstDash val="solid"/>
          </a:ln>
        </p:spPr>
      </p:sp>
      <p:pic>
        <p:nvPicPr>
          <p:cNvPr id="27" name="anim_4_ic_i" descr="preencoded.png">    </p:cNvPr>
          <p:cNvPicPr>
            <a:picLocks noChangeAspect="1"/>
          </p:cNvPicPr>
          <p:nvPr/>
        </p:nvPicPr>
        <p:blipFill>
          <a:blip r:embed="rId4"/>
          <a:stretch>
            <a:fillRect/>
          </a:stretch>
        </p:blipFill>
        <p:spPr>
          <a:xfrm>
            <a:off x="8613648" y="4919472"/>
            <a:ext cx="237744" cy="237744"/>
          </a:xfrm>
          <a:prstGeom prst="rect">
            <a:avLst/>
          </a:prstGeom>
        </p:spPr>
      </p:pic>
      <p:sp>
        <p:nvSpPr>
          <p:cNvPr id="28" name="anim_4_h"/>
          <p:cNvSpPr txBox="1"/>
          <p:nvPr/>
        </p:nvSpPr>
        <p:spPr>
          <a:xfrm>
            <a:off x="9098280" y="4791456"/>
            <a:ext cx="2423160" cy="36576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Demo-ready</a:t>
            </a:r>
            <a:endParaRPr lang="en-US" sz="1500" dirty="0"/>
          </a:p>
        </p:txBody>
      </p:sp>
      <p:sp>
        <p:nvSpPr>
          <p:cNvPr id="29" name="anim_4_b"/>
          <p:cNvSpPr txBox="1"/>
          <p:nvPr/>
        </p:nvSpPr>
        <p:spPr>
          <a:xfrm>
            <a:off x="9098280" y="5175504"/>
            <a:ext cx="2423160" cy="685800"/>
          </a:xfrm>
          <a:prstGeom prst="rect">
            <a:avLst/>
          </a:prstGeom>
          <a:noFill/>
          <a:ln/>
        </p:spPr>
        <p:txBody>
          <a:bodyPr wrap="square" lIns="0" tIns="0" rIns="0" bIns="0" rtlCol="0" anchor="t"/>
          <a:lstStyle/>
          <a:p>
            <a:pPr indent="0" marL="0">
              <a:buNone/>
            </a:pPr>
            <a:r>
              <a:rPr lang="en-US" sz="1250" dirty="0">
                <a:solidFill>
                  <a:srgbClr val="1E2633"/>
                </a:solidFill>
                <a:latin typeface="Calibri" pitchFamily="34" charset="0"/>
                <a:ea typeface="Calibri" pitchFamily="34" charset="-122"/>
                <a:cs typeface="Calibri" pitchFamily="34" charset="-120"/>
              </a:rPr>
              <a:t>The simulator injects this night. Same pipeline as BLE.</a:t>
            </a:r>
            <a:endParaRPr lang="en-US" sz="1250" dirty="0"/>
          </a:p>
        </p:txBody>
      </p:sp>
      <p:sp>
        <p:nvSpPr>
          <p:cNvPr id="30" name="anim_5_foot"/>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250" b="1" dirty="0">
                <a:solidFill>
                  <a:srgbClr val="9C3A1E"/>
                </a:solidFill>
                <a:latin typeface="Calibri" pitchFamily="34" charset="0"/>
                <a:ea typeface="Calibri" pitchFamily="34" charset="-122"/>
                <a:cs typeface="Calibri" pitchFamily="34" charset="-120"/>
              </a:rPr>
              <a:t>Shaded: 13 hours below the limit. </a:t>
            </a:r>
            <a:pPr indent="0" marL="0">
              <a:buNone/>
            </a:pPr>
            <a:r>
              <a:rPr lang="en-US" sz="1250" dirty="0">
                <a:solidFill>
                  <a:srgbClr val="1E2633"/>
                </a:solidFill>
                <a:latin typeface="Calibri" pitchFamily="34" charset="0"/>
                <a:ea typeface="Calibri" pitchFamily="34" charset="-122"/>
                <a:cs typeface="Calibri" pitchFamily="34" charset="-120"/>
              </a:rPr>
              <a:t>The limit drops from 68°F to 64°F at 11 PM and goes back up at 7 AM, as the law says.</a:t>
            </a:r>
            <a:endParaRPr lang="en-US" sz="1250" dirty="0"/>
          </a:p>
        </p:txBody>
      </p:sp>
      <p:sp>
        <p:nvSpPr>
          <p:cNvPr id="31"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18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18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18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18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18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18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18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18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nodeType="withEffect">
                                  <p:stCondLst>
                                    <p:cond delay="18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36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nodeType="withEffect">
                                  <p:stCondLst>
                                    <p:cond delay="36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nodeType="withEffect">
                                  <p:stCondLst>
                                    <p:cond delay="36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36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nodeType="withEffect">
                                  <p:stCondLst>
                                    <p:cond delay="36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54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54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54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nodeType="withEffect">
                                  <p:stCondLst>
                                    <p:cond delay="54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nodeType="withEffect">
                                  <p:stCondLst>
                                    <p:cond delay="54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nodeType="withEffect">
                                  <p:stCondLst>
                                    <p:cond delay="72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nodeType="withEffect">
                                  <p:stCondLst>
                                    <p:cond delay="72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nodeType="withEffect">
                                  <p:stCondLst>
                                    <p:cond delay="7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nodeType="withEffect">
                                  <p:stCondLst>
                                    <p:cond delay="72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nodeType="withEffect">
                                  <p:stCondLst>
                                    <p:cond delay="72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par>
                                <p:cTn id="82" presetID="10" presetClass="entr" presetSubtype="0" fill="hold" nodeType="withEffect">
                                  <p:stCondLst>
                                    <p:cond delay="90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06  ·  ESCALATE, DEFINED</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What the Escalate button does</a:t>
            </a:r>
            <a:endParaRPr lang="en-US" sz="3400" dirty="0"/>
          </a:p>
        </p:txBody>
      </p:sp>
      <p:sp>
        <p:nvSpPr>
          <p:cNvPr id="4" name="anim_0_card"/>
          <p:cNvSpPr/>
          <p:nvPr/>
        </p:nvSpPr>
        <p:spPr>
          <a:xfrm>
            <a:off x="548640" y="1691640"/>
            <a:ext cx="3429000" cy="3794760"/>
          </a:xfrm>
          <a:prstGeom prst="roundRect">
            <a:avLst>
              <a:gd name="adj" fmla="val 3200"/>
            </a:avLst>
          </a:prstGeom>
          <a:solidFill>
            <a:srgbClr val="F3F5F8"/>
          </a:solidFill>
          <a:ln w="12700">
            <a:solidFill>
              <a:srgbClr val="F3F5F8"/>
            </a:solidFill>
            <a:prstDash val="solid"/>
          </a:ln>
        </p:spPr>
      </p:sp>
      <p:sp>
        <p:nvSpPr>
          <p:cNvPr id="5" name="anim_0_n"/>
          <p:cNvSpPr/>
          <p:nvPr/>
        </p:nvSpPr>
        <p:spPr>
          <a:xfrm>
            <a:off x="822960" y="1965960"/>
            <a:ext cx="566928" cy="566928"/>
          </a:xfrm>
          <a:prstGeom prst="ellipse">
            <a:avLst/>
          </a:prstGeom>
          <a:solidFill>
            <a:srgbClr val="0F1B2D"/>
          </a:solidFill>
          <a:ln w="12700">
            <a:solidFill>
              <a:srgbClr val="0F1B2D"/>
            </a:solidFill>
            <a:prstDash val="solid"/>
          </a:ln>
        </p:spPr>
      </p:sp>
      <p:sp>
        <p:nvSpPr>
          <p:cNvPr id="6" name="anim_0_nt"/>
          <p:cNvSpPr txBox="1"/>
          <p:nvPr/>
        </p:nvSpPr>
        <p:spPr>
          <a:xfrm>
            <a:off x="822960" y="19659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7" name="anim_0_h"/>
          <p:cNvSpPr txBox="1"/>
          <p:nvPr/>
        </p:nvSpPr>
        <p:spPr>
          <a:xfrm>
            <a:off x="822960" y="2697480"/>
            <a:ext cx="2880360" cy="411480"/>
          </a:xfrm>
          <a:prstGeom prst="rect">
            <a:avLst/>
          </a:prstGeom>
          <a:noFill/>
          <a:ln/>
        </p:spPr>
        <p:txBody>
          <a:bodyPr wrap="square" lIns="0" tIns="0" rIns="0" bIns="0" rtlCol="0" anchor="ctr"/>
          <a:lstStyle/>
          <a:p>
            <a:pPr indent="0" marL="0">
              <a:buNone/>
            </a:pPr>
            <a:r>
              <a:rPr lang="en-US" sz="2000" dirty="0">
                <a:solidFill>
                  <a:srgbClr val="0F1B2D"/>
                </a:solidFill>
                <a:latin typeface="Cambria" pitchFamily="34" charset="0"/>
                <a:ea typeface="Cambria" pitchFamily="34" charset="-122"/>
                <a:cs typeface="Cambria" pitchFamily="34" charset="-120"/>
              </a:rPr>
              <a:t>No notice yet</a:t>
            </a:r>
            <a:endParaRPr lang="en-US" sz="2000" dirty="0"/>
          </a:p>
        </p:txBody>
      </p:sp>
      <p:sp>
        <p:nvSpPr>
          <p:cNvPr id="8" name="anim_0_b"/>
          <p:cNvSpPr/>
          <p:nvPr/>
        </p:nvSpPr>
        <p:spPr>
          <a:xfrm>
            <a:off x="822960" y="3246120"/>
            <a:ext cx="2880360" cy="384048"/>
          </a:xfrm>
          <a:prstGeom prst="roundRect">
            <a:avLst>
              <a:gd name="adj" fmla="val 50000"/>
            </a:avLst>
          </a:prstGeom>
          <a:solidFill>
            <a:srgbClr val="FFFFFF"/>
          </a:solidFill>
          <a:ln w="12700">
            <a:solidFill>
              <a:srgbClr val="0F1B2D"/>
            </a:solidFill>
            <a:prstDash val="solid"/>
          </a:ln>
        </p:spPr>
      </p:sp>
      <p:sp>
        <p:nvSpPr>
          <p:cNvPr id="9" name="anim_0_bt"/>
          <p:cNvSpPr txBox="1"/>
          <p:nvPr/>
        </p:nvSpPr>
        <p:spPr>
          <a:xfrm>
            <a:off x="822960" y="3246120"/>
            <a:ext cx="2880360" cy="384048"/>
          </a:xfrm>
          <a:prstGeom prst="rect">
            <a:avLst/>
          </a:prstGeom>
          <a:noFill/>
          <a:ln/>
        </p:spPr>
        <p:txBody>
          <a:bodyPr wrap="square" lIns="0" tIns="0" rIns="0" bIns="0" rtlCol="0" anchor="ctr"/>
          <a:lstStyle/>
          <a:p>
            <a:pPr algn="ctr" indent="0" marL="0">
              <a:buNone/>
            </a:pPr>
            <a:r>
              <a:rPr lang="en-US" sz="1250" b="1" dirty="0">
                <a:solidFill>
                  <a:srgbClr val="0F1B2D"/>
                </a:solidFill>
                <a:latin typeface="Calibri" pitchFamily="34" charset="0"/>
                <a:ea typeface="Calibri" pitchFamily="34" charset="-122"/>
                <a:cs typeface="Calibri" pitchFamily="34" charset="-120"/>
              </a:rPr>
              <a:t>Send notice</a:t>
            </a:r>
            <a:endParaRPr lang="en-US" sz="1250" dirty="0"/>
          </a:p>
        </p:txBody>
      </p:sp>
      <p:sp>
        <p:nvSpPr>
          <p:cNvPr id="10" name="anim_0_d"/>
          <p:cNvSpPr txBox="1"/>
          <p:nvPr/>
        </p:nvSpPr>
        <p:spPr>
          <a:xfrm>
            <a:off x="822960" y="3794760"/>
            <a:ext cx="2880360" cy="1554480"/>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Dated letter from a template. Cites 105 CMR 410.180, stamped “not legal advice”. Sent by email or the share sheet and logged on the timeline.</a:t>
            </a:r>
            <a:endParaRPr lang="en-US" sz="1300" dirty="0"/>
          </a:p>
        </p:txBody>
      </p:sp>
      <p:pic>
        <p:nvPicPr>
          <p:cNvPr id="11" name="anim_0_ar" descr="preencoded.png">    </p:cNvPr>
          <p:cNvPicPr>
            <a:picLocks noChangeAspect="1"/>
          </p:cNvPicPr>
          <p:nvPr/>
        </p:nvPicPr>
        <p:blipFill>
          <a:blip r:embed="rId1"/>
          <a:stretch>
            <a:fillRect/>
          </a:stretch>
        </p:blipFill>
        <p:spPr>
          <a:xfrm>
            <a:off x="4050792" y="3429000"/>
            <a:ext cx="219456" cy="219456"/>
          </a:xfrm>
          <a:prstGeom prst="rect">
            <a:avLst/>
          </a:prstGeom>
        </p:spPr>
      </p:pic>
      <p:sp>
        <p:nvSpPr>
          <p:cNvPr id="12" name="anim_1_card"/>
          <p:cNvSpPr/>
          <p:nvPr/>
        </p:nvSpPr>
        <p:spPr>
          <a:xfrm>
            <a:off x="4343400" y="1691640"/>
            <a:ext cx="3429000" cy="3794760"/>
          </a:xfrm>
          <a:prstGeom prst="roundRect">
            <a:avLst>
              <a:gd name="adj" fmla="val 3200"/>
            </a:avLst>
          </a:prstGeom>
          <a:solidFill>
            <a:srgbClr val="F3F5F8"/>
          </a:solidFill>
          <a:ln w="12700">
            <a:solidFill>
              <a:srgbClr val="F3F5F8"/>
            </a:solidFill>
            <a:prstDash val="solid"/>
          </a:ln>
        </p:spPr>
      </p:sp>
      <p:sp>
        <p:nvSpPr>
          <p:cNvPr id="13" name="anim_1_n"/>
          <p:cNvSpPr/>
          <p:nvPr/>
        </p:nvSpPr>
        <p:spPr>
          <a:xfrm>
            <a:off x="4617720" y="1965960"/>
            <a:ext cx="566928" cy="566928"/>
          </a:xfrm>
          <a:prstGeom prst="ellipse">
            <a:avLst/>
          </a:prstGeom>
          <a:solidFill>
            <a:srgbClr val="0F1B2D"/>
          </a:solidFill>
          <a:ln w="12700">
            <a:solidFill>
              <a:srgbClr val="0F1B2D"/>
            </a:solidFill>
            <a:prstDash val="solid"/>
          </a:ln>
        </p:spPr>
      </p:sp>
      <p:sp>
        <p:nvSpPr>
          <p:cNvPr id="14" name="anim_1_nt"/>
          <p:cNvSpPr txBox="1"/>
          <p:nvPr/>
        </p:nvSpPr>
        <p:spPr>
          <a:xfrm>
            <a:off x="4617720" y="19659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5" name="anim_1_h"/>
          <p:cNvSpPr txBox="1"/>
          <p:nvPr/>
        </p:nvSpPr>
        <p:spPr>
          <a:xfrm>
            <a:off x="4617720" y="2697480"/>
            <a:ext cx="2880360" cy="411480"/>
          </a:xfrm>
          <a:prstGeom prst="rect">
            <a:avLst/>
          </a:prstGeom>
          <a:noFill/>
          <a:ln/>
        </p:spPr>
        <p:txBody>
          <a:bodyPr wrap="square" lIns="0" tIns="0" rIns="0" bIns="0" rtlCol="0" anchor="ctr"/>
          <a:lstStyle/>
          <a:p>
            <a:pPr indent="0" marL="0">
              <a:buNone/>
            </a:pPr>
            <a:r>
              <a:rPr lang="en-US" sz="2000" dirty="0">
                <a:solidFill>
                  <a:srgbClr val="0F1B2D"/>
                </a:solidFill>
                <a:latin typeface="Cambria" pitchFamily="34" charset="0"/>
                <a:ea typeface="Cambria" pitchFamily="34" charset="-122"/>
                <a:cs typeface="Cambria" pitchFamily="34" charset="-120"/>
              </a:rPr>
              <a:t>Notice sent, not fixed</a:t>
            </a:r>
            <a:endParaRPr lang="en-US" sz="2000" dirty="0"/>
          </a:p>
        </p:txBody>
      </p:sp>
      <p:sp>
        <p:nvSpPr>
          <p:cNvPr id="16" name="anim_1_b"/>
          <p:cNvSpPr/>
          <p:nvPr/>
        </p:nvSpPr>
        <p:spPr>
          <a:xfrm>
            <a:off x="4617720" y="3246120"/>
            <a:ext cx="2880360" cy="384048"/>
          </a:xfrm>
          <a:prstGeom prst="roundRect">
            <a:avLst>
              <a:gd name="adj" fmla="val 50000"/>
            </a:avLst>
          </a:prstGeom>
          <a:solidFill>
            <a:srgbClr val="FFFFFF"/>
          </a:solidFill>
          <a:ln w="12700">
            <a:solidFill>
              <a:srgbClr val="0F1B2D"/>
            </a:solidFill>
            <a:prstDash val="solid"/>
          </a:ln>
        </p:spPr>
      </p:sp>
      <p:sp>
        <p:nvSpPr>
          <p:cNvPr id="17" name="anim_1_bt"/>
          <p:cNvSpPr txBox="1"/>
          <p:nvPr/>
        </p:nvSpPr>
        <p:spPr>
          <a:xfrm>
            <a:off x="4617720" y="3246120"/>
            <a:ext cx="2880360" cy="384048"/>
          </a:xfrm>
          <a:prstGeom prst="rect">
            <a:avLst/>
          </a:prstGeom>
          <a:noFill/>
          <a:ln/>
        </p:spPr>
        <p:txBody>
          <a:bodyPr wrap="square" lIns="0" tIns="0" rIns="0" bIns="0" rtlCol="0" anchor="ctr"/>
          <a:lstStyle/>
          <a:p>
            <a:pPr algn="ctr" indent="0" marL="0">
              <a:buNone/>
            </a:pPr>
            <a:r>
              <a:rPr lang="en-US" sz="1250" b="1" dirty="0">
                <a:solidFill>
                  <a:srgbClr val="0F1B2D"/>
                </a:solidFill>
                <a:latin typeface="Calibri" pitchFamily="34" charset="0"/>
                <a:ea typeface="Calibri" pitchFamily="34" charset="-122"/>
                <a:cs typeface="Calibri" pitchFamily="34" charset="-120"/>
              </a:rPr>
              <a:t>Escalate → Request inspection</a:t>
            </a:r>
            <a:endParaRPr lang="en-US" sz="1250" dirty="0"/>
          </a:p>
        </p:txBody>
      </p:sp>
      <p:sp>
        <p:nvSpPr>
          <p:cNvPr id="18" name="anim_1_d"/>
          <p:cNvSpPr txBox="1"/>
          <p:nvPr/>
        </p:nvSpPr>
        <p:spPr>
          <a:xfrm>
            <a:off x="4617720" y="3794760"/>
            <a:ext cx="2880360" cy="1554480"/>
          </a:xfrm>
          <a:prstGeom prst="rect">
            <a:avLst/>
          </a:prstGeom>
          <a:noFill/>
          <a:ln/>
        </p:spPr>
        <p:txBody>
          <a:bodyPr wrap="square" lIns="0" tIns="0" rIns="0" bIns="0" rtlCol="0" anchor="t"/>
          <a:lstStyle/>
          <a:p>
            <a:pPr indent="0" marL="0">
              <a:buNone/>
            </a:pPr>
            <a:r>
              <a:rPr lang="en-US" sz="1300" dirty="0">
                <a:solidFill>
                  <a:srgbClr val="1E2633"/>
                </a:solidFill>
                <a:latin typeface="Calibri" pitchFamily="34" charset="0"/>
                <a:ea typeface="Calibri" pitchFamily="34" charset="-122"/>
                <a:cs typeface="Calibri" pitchFamily="34" charset="-120"/>
              </a:rPr>
              <a:t>Checklist for the ISD / Board of Health visit, a phone link, and the request logged. The inspector's thermometer is the official measurement.</a:t>
            </a:r>
            <a:endParaRPr lang="en-US" sz="1300" dirty="0"/>
          </a:p>
        </p:txBody>
      </p:sp>
      <p:pic>
        <p:nvPicPr>
          <p:cNvPr id="19" name="anim_1_ar" descr="preencoded.png">    </p:cNvPr>
          <p:cNvPicPr>
            <a:picLocks noChangeAspect="1"/>
          </p:cNvPicPr>
          <p:nvPr/>
        </p:nvPicPr>
        <p:blipFill>
          <a:blip r:embed="rId2"/>
          <a:stretch>
            <a:fillRect/>
          </a:stretch>
        </p:blipFill>
        <p:spPr>
          <a:xfrm>
            <a:off x="7845552" y="3429000"/>
            <a:ext cx="219456" cy="219456"/>
          </a:xfrm>
          <a:prstGeom prst="rect">
            <a:avLst/>
          </a:prstGeom>
        </p:spPr>
      </p:pic>
      <p:sp>
        <p:nvSpPr>
          <p:cNvPr id="20" name="anim_2_card"/>
          <p:cNvSpPr/>
          <p:nvPr/>
        </p:nvSpPr>
        <p:spPr>
          <a:xfrm>
            <a:off x="8138160" y="1691640"/>
            <a:ext cx="3429000" cy="3794760"/>
          </a:xfrm>
          <a:prstGeom prst="roundRect">
            <a:avLst>
              <a:gd name="adj" fmla="val 3200"/>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21" name="anim_2_n"/>
          <p:cNvSpPr/>
          <p:nvPr/>
        </p:nvSpPr>
        <p:spPr>
          <a:xfrm>
            <a:off x="8412480" y="1965960"/>
            <a:ext cx="566928" cy="566928"/>
          </a:xfrm>
          <a:prstGeom prst="ellipse">
            <a:avLst/>
          </a:prstGeom>
          <a:solidFill>
            <a:srgbClr val="E4572E"/>
          </a:solidFill>
          <a:ln w="12700">
            <a:solidFill>
              <a:srgbClr val="E4572E"/>
            </a:solidFill>
            <a:prstDash val="solid"/>
          </a:ln>
        </p:spPr>
      </p:sp>
      <p:sp>
        <p:nvSpPr>
          <p:cNvPr id="22" name="anim_2_nt"/>
          <p:cNvSpPr txBox="1"/>
          <p:nvPr/>
        </p:nvSpPr>
        <p:spPr>
          <a:xfrm>
            <a:off x="8412480" y="19659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23" name="anim_2_h"/>
          <p:cNvSpPr txBox="1"/>
          <p:nvPr/>
        </p:nvSpPr>
        <p:spPr>
          <a:xfrm>
            <a:off x="8412480" y="2697480"/>
            <a:ext cx="2880360" cy="41148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Violation certified</a:t>
            </a:r>
            <a:endParaRPr lang="en-US" sz="2000" dirty="0"/>
          </a:p>
        </p:txBody>
      </p:sp>
      <p:sp>
        <p:nvSpPr>
          <p:cNvPr id="24" name="anim_2_b"/>
          <p:cNvSpPr/>
          <p:nvPr/>
        </p:nvSpPr>
        <p:spPr>
          <a:xfrm>
            <a:off x="8412480" y="3246120"/>
            <a:ext cx="2880360" cy="384048"/>
          </a:xfrm>
          <a:prstGeom prst="roundRect">
            <a:avLst>
              <a:gd name="adj" fmla="val 50000"/>
            </a:avLst>
          </a:prstGeom>
          <a:solidFill>
            <a:srgbClr val="E4572E"/>
          </a:solidFill>
          <a:ln w="12700">
            <a:solidFill>
              <a:srgbClr val="E4572E"/>
            </a:solidFill>
            <a:prstDash val="solid"/>
          </a:ln>
        </p:spPr>
      </p:sp>
      <p:sp>
        <p:nvSpPr>
          <p:cNvPr id="25" name="anim_2_bt"/>
          <p:cNvSpPr txBox="1"/>
          <p:nvPr/>
        </p:nvSpPr>
        <p:spPr>
          <a:xfrm>
            <a:off x="8412480" y="3246120"/>
            <a:ext cx="28803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Escalate → Reminder</a:t>
            </a:r>
            <a:endParaRPr lang="en-US" sz="1250" dirty="0"/>
          </a:p>
        </p:txBody>
      </p:sp>
      <p:sp>
        <p:nvSpPr>
          <p:cNvPr id="26" name="anim_2_d"/>
          <p:cNvSpPr txBox="1"/>
          <p:nvPr/>
        </p:nvSpPr>
        <p:spPr>
          <a:xfrm>
            <a:off x="8412480" y="3794760"/>
            <a:ext cx="2880360" cy="1554480"/>
          </a:xfrm>
          <a:prstGeom prst="rect">
            <a:avLst/>
          </a:prstGeom>
          <a:noFill/>
          <a:ln/>
        </p:spPr>
        <p:txBody>
          <a:bodyPr wrap="square" lIns="0" tIns="0" rIns="0" bIns="0" rtlCol="0" anchor="t"/>
          <a:lstStyle/>
          <a:p>
            <a:pPr indent="0" marL="0">
              <a:buNone/>
            </a:pPr>
            <a:r>
              <a:rPr lang="en-US" sz="1300" dirty="0">
                <a:solidFill>
                  <a:srgbClr val="C9D6E8"/>
                </a:solidFill>
                <a:latin typeface="Calibri" pitchFamily="34" charset="0"/>
                <a:ea typeface="Calibri" pitchFamily="34" charset="-122"/>
                <a:cs typeface="Calibri" pitchFamily="34" charset="-120"/>
              </a:rPr>
              <a:t>The §127L clock runs: 5 days to start repairs, 14 to finish. WorkManager reminders; each reminder re-sends the notice with a new timestamp.</a:t>
            </a:r>
            <a:endParaRPr lang="en-US" sz="1300" dirty="0"/>
          </a:p>
        </p:txBody>
      </p:sp>
      <p:sp>
        <p:nvSpPr>
          <p:cNvPr id="27" name="anim_3_foot"/>
          <p:cNvSpPr txBox="1"/>
          <p:nvPr/>
        </p:nvSpPr>
        <p:spPr>
          <a:xfrm>
            <a:off x="548640" y="5715000"/>
            <a:ext cx="11064240" cy="320040"/>
          </a:xfrm>
          <a:prstGeom prst="rect">
            <a:avLst/>
          </a:prstGeom>
          <a:noFill/>
          <a:ln/>
        </p:spPr>
        <p:txBody>
          <a:bodyPr wrap="square" lIns="0" tIns="0" rIns="0" bIns="0" rtlCol="0" anchor="ctr"/>
          <a:lstStyle/>
          <a:p>
            <a:pPr indent="0" marL="0">
              <a:buNone/>
            </a:pPr>
            <a:r>
              <a:rPr lang="en-US" sz="1200" i="1" dirty="0">
                <a:solidFill>
                  <a:srgbClr val="5B6676"/>
                </a:solidFill>
                <a:latin typeface="Calibri" pitchFamily="34" charset="0"/>
                <a:ea typeface="Calibri" pitchFamily="34" charset="-122"/>
                <a:cs typeface="Calibri" pitchFamily="34" charset="-120"/>
              </a:rPr>
              <a:t>No 311 or legal filings on the tenant's behalf in MVP. Deadlines follow MGL c.111 §127L. Product research, not legal advice.</a:t>
            </a:r>
            <a:endParaRPr lang="en-US" sz="1200" dirty="0"/>
          </a:p>
        </p:txBody>
      </p:sp>
      <p:sp>
        <p:nvSpPr>
          <p:cNvPr id="28"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18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18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nodeType="withEffect">
                                  <p:stCondLst>
                                    <p:cond delay="18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18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nodeType="withEffect">
                                  <p:stCondLst>
                                    <p:cond delay="18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nodeType="withEffect">
                                  <p:stCondLst>
                                    <p:cond delay="18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18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nodeType="withEffect">
                                  <p:stCondLst>
                                    <p:cond delay="18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36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36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36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nodeType="withEffect">
                                  <p:stCondLst>
                                    <p:cond delay="36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nodeType="withEffect">
                                  <p:stCondLst>
                                    <p:cond delay="36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nodeType="withEffect">
                                  <p:stCondLst>
                                    <p:cond delay="36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nodeType="withEffect">
                                  <p:stCondLst>
                                    <p:cond delay="36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nodeType="withEffect">
                                  <p:stCondLst>
                                    <p:cond delay="54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07  ·  SCOPE</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What we will build, in order</a:t>
            </a:r>
            <a:endParaRPr lang="en-US" sz="3400" dirty="0"/>
          </a:p>
        </p:txBody>
      </p:sp>
      <p:sp>
        <p:nvSpPr>
          <p:cNvPr id="4" name="anim_0_col"/>
          <p:cNvSpPr/>
          <p:nvPr/>
        </p:nvSpPr>
        <p:spPr>
          <a:xfrm>
            <a:off x="548640" y="1691640"/>
            <a:ext cx="4206240" cy="4069080"/>
          </a:xfrm>
          <a:prstGeom prst="roundRect">
            <a:avLst>
              <a:gd name="adj" fmla="val 2697"/>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5" name="anim_0_h"/>
          <p:cNvSpPr txBox="1"/>
          <p:nvPr/>
        </p:nvSpPr>
        <p:spPr>
          <a:xfrm>
            <a:off x="822960" y="1874520"/>
            <a:ext cx="3657600" cy="320040"/>
          </a:xfrm>
          <a:prstGeom prst="rect">
            <a:avLst/>
          </a:prstGeom>
          <a:noFill/>
          <a:ln/>
        </p:spPr>
        <p:txBody>
          <a:bodyPr wrap="square" lIns="0" tIns="0" rIns="0" bIns="0" rtlCol="0" anchor="ctr"/>
          <a:lstStyle/>
          <a:p>
            <a:pPr indent="0" marL="0">
              <a:buNone/>
            </a:pPr>
            <a:r>
              <a:rPr lang="en-US" sz="1200" b="1" spc="150" kern="0" dirty="0">
                <a:solidFill>
                  <a:srgbClr val="E4572E"/>
                </a:solidFill>
                <a:latin typeface="Calibri" pitchFamily="34" charset="0"/>
                <a:ea typeface="Calibri" pitchFamily="34" charset="-122"/>
                <a:cs typeface="Calibri" pitchFamily="34" charset="-120"/>
              </a:rPr>
              <a:t>MVP · MUST SHIP</a:t>
            </a:r>
            <a:endParaRPr lang="en-US" sz="1200" dirty="0"/>
          </a:p>
        </p:txBody>
      </p:sp>
      <p:sp>
        <p:nvSpPr>
          <p:cNvPr id="6" name="anim_0_l"/>
          <p:cNvSpPr txBox="1"/>
          <p:nvPr/>
        </p:nvSpPr>
        <p:spPr>
          <a:xfrm>
            <a:off x="822960" y="2286000"/>
            <a:ext cx="3749040" cy="3337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BLE log + simulated sensor</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Heat rules: 68/64 by hour, 78 max, season</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Charts on Home, Sensors, PDF</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Open-Meteo outdoor overlay</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CameraX photo + SHA-256</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Issues + timeline</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Notice, inspection request, §127L reminders</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On-device PDF packet</a:t>
            </a:r>
            <a:endParaRPr lang="en-US" sz="1400" dirty="0"/>
          </a:p>
        </p:txBody>
      </p:sp>
      <p:sp>
        <p:nvSpPr>
          <p:cNvPr id="7" name="anim_1_col"/>
          <p:cNvSpPr/>
          <p:nvPr/>
        </p:nvSpPr>
        <p:spPr>
          <a:xfrm>
            <a:off x="4905756" y="1691640"/>
            <a:ext cx="3291840" cy="4069080"/>
          </a:xfrm>
          <a:prstGeom prst="roundRect">
            <a:avLst>
              <a:gd name="adj" fmla="val 3333"/>
            </a:avLst>
          </a:prstGeom>
          <a:solidFill>
            <a:srgbClr val="F3F5F8"/>
          </a:solidFill>
          <a:ln w="12700">
            <a:solidFill>
              <a:srgbClr val="F3F5F8"/>
            </a:solidFill>
            <a:prstDash val="solid"/>
          </a:ln>
        </p:spPr>
      </p:sp>
      <p:sp>
        <p:nvSpPr>
          <p:cNvPr id="8" name="anim_1_h"/>
          <p:cNvSpPr txBox="1"/>
          <p:nvPr/>
        </p:nvSpPr>
        <p:spPr>
          <a:xfrm>
            <a:off x="5180076" y="1874520"/>
            <a:ext cx="2743200" cy="320040"/>
          </a:xfrm>
          <a:prstGeom prst="rect">
            <a:avLst/>
          </a:prstGeom>
          <a:noFill/>
          <a:ln/>
        </p:spPr>
        <p:txBody>
          <a:bodyPr wrap="square" lIns="0" tIns="0" rIns="0" bIns="0" rtlCol="0" anchor="ctr"/>
          <a:lstStyle/>
          <a:p>
            <a:pPr indent="0" marL="0">
              <a:buNone/>
            </a:pPr>
            <a:r>
              <a:rPr lang="en-US" sz="1200" b="1" spc="150" kern="0" dirty="0">
                <a:solidFill>
                  <a:srgbClr val="E4572E"/>
                </a:solidFill>
                <a:latin typeface="Calibri" pitchFamily="34" charset="0"/>
                <a:ea typeface="Calibri" pitchFamily="34" charset="-122"/>
                <a:cs typeface="Calibri" pitchFamily="34" charset="-120"/>
              </a:rPr>
              <a:t>WANT · AFTER MVP</a:t>
            </a:r>
            <a:endParaRPr lang="en-US" sz="1200" dirty="0"/>
          </a:p>
        </p:txBody>
      </p:sp>
      <p:sp>
        <p:nvSpPr>
          <p:cNvPr id="9" name="anim_1_l"/>
          <p:cNvSpPr txBox="1"/>
          <p:nvPr/>
        </p:nvSpPr>
        <p:spPr>
          <a:xfrm>
            <a:off x="5180076" y="2286000"/>
            <a:ext cx="2834640" cy="3337560"/>
          </a:xfrm>
          <a:prstGeom prst="rect">
            <a:avLst/>
          </a:prstGeom>
          <a:noFill/>
          <a:ln/>
        </p:spPr>
        <p:txBody>
          <a:bodyPr wrap="square" lIns="0" tIns="0" rIns="0" bIns="0" rtlCol="0" anchor="t"/>
          <a:lstStyle/>
          <a:p>
            <a:pPr marL="342900" indent="-342900">
              <a:spcAft>
                <a:spcPts val="600"/>
              </a:spcAft>
              <a:buSzPct val="100000"/>
              <a:buFont typeface="+mj-lt"/>
              <a:buAutoNum type="arabicPeriod" startAt="9"/>
            </a:pPr>
            <a:r>
              <a:rPr lang="en-US" sz="1400" dirty="0">
                <a:solidFill>
                  <a:srgbClr val="1E2633"/>
                </a:solidFill>
                <a:latin typeface="Calibri" pitchFamily="34" charset="0"/>
                <a:ea typeface="Calibri" pitchFamily="34" charset="-122"/>
                <a:cs typeface="Calibri" pitchFamily="34" charset="-120"/>
              </a:rPr>
              <a:t>Landlord communication log (email threads)</a:t>
            </a:r>
            <a:endParaRPr lang="en-US" sz="1400" dirty="0"/>
          </a:p>
          <a:p>
            <a:pPr marL="342900" indent="-342900">
              <a:spcAft>
                <a:spcPts val="600"/>
              </a:spcAft>
              <a:buSzPct val="100000"/>
              <a:buFont typeface="+mj-lt"/>
              <a:buAutoNum type="arabicPeriod" startAt="9"/>
            </a:pPr>
            <a:r>
              <a:rPr lang="en-US" sz="1400" dirty="0">
                <a:solidFill>
                  <a:srgbClr val="1E2633"/>
                </a:solidFill>
                <a:latin typeface="Calibri" pitchFamily="34" charset="0"/>
                <a:ea typeface="Calibri" pitchFamily="34" charset="-122"/>
                <a:cs typeface="Calibri" pitchFamily="34" charset="-120"/>
              </a:rPr>
              <a:t>Mold risk from humidity</a:t>
            </a:r>
            <a:endParaRPr lang="en-US" sz="1400" dirty="0"/>
          </a:p>
          <a:p>
            <a:pPr marL="342900" indent="-342900">
              <a:spcAft>
                <a:spcPts val="600"/>
              </a:spcAft>
              <a:buSzPct val="100000"/>
              <a:buFont typeface="+mj-lt"/>
              <a:buAutoNum type="arabicPeriod" startAt="9"/>
            </a:pPr>
            <a:r>
              <a:rPr lang="en-US" sz="1400" dirty="0">
                <a:solidFill>
                  <a:srgbClr val="1E2633"/>
                </a:solidFill>
                <a:latin typeface="Calibri" pitchFamily="34" charset="0"/>
                <a:ea typeface="Calibri" pitchFamily="34" charset="-122"/>
                <a:cs typeface="Calibri" pitchFamily="34" charset="-120"/>
              </a:rPr>
              <a:t>Move-in / move-out photos</a:t>
            </a:r>
            <a:endParaRPr lang="en-US" sz="1400" dirty="0"/>
          </a:p>
        </p:txBody>
      </p:sp>
      <p:sp>
        <p:nvSpPr>
          <p:cNvPr id="10" name="anim_2_col"/>
          <p:cNvSpPr/>
          <p:nvPr/>
        </p:nvSpPr>
        <p:spPr>
          <a:xfrm>
            <a:off x="8348472" y="1691640"/>
            <a:ext cx="3291840" cy="4069080"/>
          </a:xfrm>
          <a:prstGeom prst="roundRect">
            <a:avLst>
              <a:gd name="adj" fmla="val 3333"/>
            </a:avLst>
          </a:prstGeom>
          <a:solidFill>
            <a:srgbClr val="FFFFFF"/>
          </a:solidFill>
          <a:ln w="12700">
            <a:solidFill>
              <a:srgbClr val="DCE1E8"/>
            </a:solidFill>
            <a:prstDash val="solid"/>
          </a:ln>
        </p:spPr>
      </p:sp>
      <p:sp>
        <p:nvSpPr>
          <p:cNvPr id="11" name="anim_2_h"/>
          <p:cNvSpPr txBox="1"/>
          <p:nvPr/>
        </p:nvSpPr>
        <p:spPr>
          <a:xfrm>
            <a:off x="8622792" y="1874520"/>
            <a:ext cx="2743200" cy="320040"/>
          </a:xfrm>
          <a:prstGeom prst="rect">
            <a:avLst/>
          </a:prstGeom>
          <a:noFill/>
          <a:ln/>
        </p:spPr>
        <p:txBody>
          <a:bodyPr wrap="square" lIns="0" tIns="0" rIns="0" bIns="0" rtlCol="0" anchor="ctr"/>
          <a:lstStyle/>
          <a:p>
            <a:pPr indent="0" marL="0">
              <a:buNone/>
            </a:pPr>
            <a:r>
              <a:rPr lang="en-US" sz="1200" b="1" spc="150" kern="0" dirty="0">
                <a:solidFill>
                  <a:srgbClr val="5B6676"/>
                </a:solidFill>
                <a:latin typeface="Calibri" pitchFamily="34" charset="0"/>
                <a:ea typeface="Calibri" pitchFamily="34" charset="-122"/>
                <a:cs typeface="Calibri" pitchFamily="34" charset="-120"/>
              </a:rPr>
              <a:t>STRETCH · IF TIME</a:t>
            </a:r>
            <a:endParaRPr lang="en-US" sz="1200" dirty="0"/>
          </a:p>
        </p:txBody>
      </p:sp>
      <p:sp>
        <p:nvSpPr>
          <p:cNvPr id="12" name="anim_2_l"/>
          <p:cNvSpPr txBox="1"/>
          <p:nvPr/>
        </p:nvSpPr>
        <p:spPr>
          <a:xfrm>
            <a:off x="8622792" y="2286000"/>
            <a:ext cx="2834640" cy="3337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2"/>
            </a:pPr>
            <a:r>
              <a:rPr lang="en-US" sz="1400" dirty="0">
                <a:solidFill>
                  <a:srgbClr val="1E2633"/>
                </a:solidFill>
                <a:latin typeface="Calibri" pitchFamily="34" charset="0"/>
                <a:ea typeface="Calibri" pitchFamily="34" charset="-122"/>
                <a:cs typeface="Calibri" pitchFamily="34" charset="-120"/>
              </a:rPr>
              <a:t>Noise dB log, no audio</a:t>
            </a:r>
            <a:endParaRPr lang="en-US" sz="1400" dirty="0"/>
          </a:p>
          <a:p>
            <a:pPr marL="342900" indent="-342900">
              <a:spcAft>
                <a:spcPts val="600"/>
              </a:spcAft>
              <a:buSzPct val="100000"/>
              <a:buFont typeface="+mj-lt"/>
              <a:buAutoNum type="arabicPeriod" startAt="12"/>
            </a:pPr>
            <a:r>
              <a:rPr lang="en-US" sz="1400" dirty="0">
                <a:solidFill>
                  <a:srgbClr val="1E2633"/>
                </a:solidFill>
                <a:latin typeface="Calibri" pitchFamily="34" charset="0"/>
                <a:ea typeface="Calibri" pitchFamily="34" charset="-122"/>
                <a:cs typeface="Calibri" pitchFamily="34" charset="-120"/>
              </a:rPr>
              <a:t>Building pooled counts (opt-in, counts only)</a:t>
            </a:r>
            <a:endParaRPr lang="en-US" sz="1400" dirty="0"/>
          </a:p>
          <a:p>
            <a:pPr marL="342900" indent="-342900">
              <a:spcAft>
                <a:spcPts val="600"/>
              </a:spcAft>
              <a:buSzPct val="100000"/>
              <a:buFont typeface="+mj-lt"/>
              <a:buAutoNum type="arabicPeriod" startAt="12"/>
            </a:pPr>
            <a:r>
              <a:rPr lang="en-US" sz="1400" dirty="0">
                <a:solidFill>
                  <a:srgbClr val="1E2633"/>
                </a:solidFill>
                <a:latin typeface="Calibri" pitchFamily="34" charset="0"/>
                <a:ea typeface="Calibri" pitchFamily="34" charset="-122"/>
                <a:cs typeface="Calibri" pitchFamily="34" charset="-120"/>
              </a:rPr>
              <a:t>Open311 / address lookup</a:t>
            </a:r>
            <a:endParaRPr lang="en-US" sz="1400" dirty="0"/>
          </a:p>
          <a:p>
            <a:pPr marL="342900" indent="-342900">
              <a:spcAft>
                <a:spcPts val="600"/>
              </a:spcAft>
              <a:buSzPct val="100000"/>
              <a:buFont typeface="+mj-lt"/>
              <a:buAutoNum type="arabicPeriod" startAt="12"/>
            </a:pPr>
            <a:r>
              <a:rPr lang="en-US" sz="1400" dirty="0">
                <a:solidFill>
                  <a:srgbClr val="1E2633"/>
                </a:solidFill>
                <a:latin typeface="Calibri" pitchFamily="34" charset="0"/>
                <a:ea typeface="Calibri" pitchFamily="34" charset="-122"/>
                <a:cs typeface="Calibri" pitchFamily="34" charset="-120"/>
              </a:rPr>
              <a:t>Encrypted evidence backup</a:t>
            </a:r>
            <a:endParaRPr lang="en-US" sz="1400" dirty="0"/>
          </a:p>
        </p:txBody>
      </p:sp>
      <p:sp>
        <p:nvSpPr>
          <p:cNvPr id="13" name="anim_3_ng"/>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Non-goals: </a:t>
            </a:r>
            <a:pPr indent="0" marL="0">
              <a:buNone/>
            </a:pPr>
            <a:r>
              <a:rPr lang="en-US" sz="1300" dirty="0">
                <a:solidFill>
                  <a:srgbClr val="5B6676"/>
                </a:solidFill>
                <a:latin typeface="Calibri" pitchFamily="34" charset="0"/>
                <a:ea typeface="Calibri" pitchFamily="34" charset="-122"/>
                <a:cs typeface="Calibri" pitchFamily="34" charset="-120"/>
              </a:rPr>
              <a:t>legal advice, iOS, a live landlord portal, audio recording, rent-withholding automation.</a:t>
            </a:r>
            <a:endParaRPr lang="en-US" sz="1300" dirty="0"/>
          </a:p>
        </p:txBody>
      </p:sp>
      <p:sp>
        <p:nvSpPr>
          <p:cNvPr id="14"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18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18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18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36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36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36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54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08  ·  ARCHITECTURE</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Works offline, small backend, $0</a:t>
            </a:r>
            <a:endParaRPr lang="en-US" sz="3400" dirty="0"/>
          </a:p>
        </p:txBody>
      </p:sp>
      <p:sp>
        <p:nvSpPr>
          <p:cNvPr id="4" name="Text 2"/>
          <p:cNvSpPr txBox="1"/>
          <p:nvPr/>
        </p:nvSpPr>
        <p:spPr>
          <a:xfrm>
            <a:off x="548640" y="1645920"/>
            <a:ext cx="6035040" cy="274320"/>
          </a:xfrm>
          <a:prstGeom prst="rect">
            <a:avLst/>
          </a:prstGeom>
          <a:noFill/>
          <a:ln/>
        </p:spPr>
        <p:txBody>
          <a:bodyPr wrap="square" lIns="0" tIns="0" rIns="0" bIns="0" rtlCol="0" anchor="ctr"/>
          <a:lstStyle/>
          <a:p>
            <a:pPr indent="0" marL="0">
              <a:buNone/>
            </a:pPr>
            <a:r>
              <a:rPr lang="en-US" sz="1100" b="1" spc="150" kern="0" dirty="0">
                <a:solidFill>
                  <a:srgbClr val="5B6676"/>
                </a:solidFill>
                <a:latin typeface="Calibri" pitchFamily="34" charset="0"/>
                <a:ea typeface="Calibri" pitchFamily="34" charset="-122"/>
                <a:cs typeface="Calibri" pitchFamily="34" charset="-120"/>
              </a:rPr>
              <a:t>ANDROID APP · WORKS OFFLINE</a:t>
            </a:r>
            <a:endParaRPr lang="en-US" sz="1100" dirty="0"/>
          </a:p>
        </p:txBody>
      </p:sp>
      <p:sp>
        <p:nvSpPr>
          <p:cNvPr id="5" name="anim_0_l"/>
          <p:cNvSpPr/>
          <p:nvPr/>
        </p:nvSpPr>
        <p:spPr>
          <a:xfrm>
            <a:off x="548640" y="2011680"/>
            <a:ext cx="6035040" cy="841248"/>
          </a:xfrm>
          <a:prstGeom prst="roundRect">
            <a:avLst>
              <a:gd name="adj" fmla="val 10870"/>
            </a:avLst>
          </a:prstGeom>
          <a:solidFill>
            <a:srgbClr val="0F1B2D"/>
          </a:solidFill>
          <a:ln w="12700">
            <a:solidFill>
              <a:srgbClr val="0F1B2D"/>
            </a:solidFill>
            <a:prstDash val="solid"/>
          </a:ln>
        </p:spPr>
      </p:sp>
      <p:sp>
        <p:nvSpPr>
          <p:cNvPr id="6" name="anim_0_lh"/>
          <p:cNvSpPr txBox="1"/>
          <p:nvPr/>
        </p:nvSpPr>
        <p:spPr>
          <a:xfrm>
            <a:off x="777240" y="2011680"/>
            <a:ext cx="1097280" cy="8412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UI</a:t>
            </a:r>
            <a:endParaRPr lang="en-US" sz="1800" dirty="0"/>
          </a:p>
        </p:txBody>
      </p:sp>
      <p:sp>
        <p:nvSpPr>
          <p:cNvPr id="7" name="anim_0_lt"/>
          <p:cNvSpPr txBox="1"/>
          <p:nvPr/>
        </p:nvSpPr>
        <p:spPr>
          <a:xfrm>
            <a:off x="1920240" y="2011680"/>
            <a:ext cx="4526280" cy="841248"/>
          </a:xfrm>
          <a:prstGeom prst="rect">
            <a:avLst/>
          </a:prstGeom>
          <a:noFill/>
          <a:ln/>
        </p:spPr>
        <p:txBody>
          <a:bodyPr wrap="square" lIns="0" tIns="0" rIns="0" bIns="0" rtlCol="0" anchor="ctr"/>
          <a:lstStyle/>
          <a:p>
            <a:pPr indent="0" marL="0">
              <a:buNone/>
            </a:pPr>
            <a:r>
              <a:rPr lang="en-US" sz="1300" dirty="0">
                <a:solidFill>
                  <a:srgbClr val="C9D6E8"/>
                </a:solidFill>
                <a:latin typeface="Calibri" pitchFamily="34" charset="0"/>
                <a:ea typeface="Calibri" pitchFamily="34" charset="-122"/>
                <a:cs typeface="Calibri" pitchFamily="34" charset="-120"/>
              </a:rPr>
              <a:t>Compose · Material 3 · type-safe Navigation · Home / Issues / Sensors / More</a:t>
            </a:r>
            <a:endParaRPr lang="en-US" sz="1300" dirty="0"/>
          </a:p>
        </p:txBody>
      </p:sp>
      <p:sp>
        <p:nvSpPr>
          <p:cNvPr id="8" name="anim_1_l"/>
          <p:cNvSpPr/>
          <p:nvPr/>
        </p:nvSpPr>
        <p:spPr>
          <a:xfrm>
            <a:off x="548640" y="2990088"/>
            <a:ext cx="6035040" cy="841248"/>
          </a:xfrm>
          <a:prstGeom prst="roundRect">
            <a:avLst>
              <a:gd name="adj" fmla="val 10870"/>
            </a:avLst>
          </a:prstGeom>
          <a:solidFill>
            <a:srgbClr val="1B2B44"/>
          </a:solidFill>
          <a:ln w="12700">
            <a:solidFill>
              <a:srgbClr val="1B2B44"/>
            </a:solidFill>
            <a:prstDash val="solid"/>
          </a:ln>
        </p:spPr>
      </p:sp>
      <p:sp>
        <p:nvSpPr>
          <p:cNvPr id="9" name="anim_1_lh"/>
          <p:cNvSpPr txBox="1"/>
          <p:nvPr/>
        </p:nvSpPr>
        <p:spPr>
          <a:xfrm>
            <a:off x="777240" y="2990088"/>
            <a:ext cx="1097280" cy="8412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State</a:t>
            </a:r>
            <a:endParaRPr lang="en-US" sz="1800" dirty="0"/>
          </a:p>
        </p:txBody>
      </p:sp>
      <p:sp>
        <p:nvSpPr>
          <p:cNvPr id="10" name="anim_1_lt"/>
          <p:cNvSpPr txBox="1"/>
          <p:nvPr/>
        </p:nvSpPr>
        <p:spPr>
          <a:xfrm>
            <a:off x="1920240" y="2990088"/>
            <a:ext cx="4526280" cy="841248"/>
          </a:xfrm>
          <a:prstGeom prst="rect">
            <a:avLst/>
          </a:prstGeom>
          <a:noFill/>
          <a:ln/>
        </p:spPr>
        <p:txBody>
          <a:bodyPr wrap="square" lIns="0" tIns="0" rIns="0" bIns="0" rtlCol="0" anchor="ctr"/>
          <a:lstStyle/>
          <a:p>
            <a:pPr indent="0" marL="0">
              <a:buNone/>
            </a:pPr>
            <a:r>
              <a:rPr lang="en-US" sz="1300" dirty="0">
                <a:solidFill>
                  <a:srgbClr val="C9D6E8"/>
                </a:solidFill>
                <a:latin typeface="Calibri" pitchFamily="34" charset="0"/>
                <a:ea typeface="Calibri" pitchFamily="34" charset="-122"/>
                <a:cs typeface="Calibri" pitchFamily="34" charset="-120"/>
              </a:rPr>
              <a:t>ViewModel + StateFlow · one UiState per screen · survives rotation</a:t>
            </a:r>
            <a:endParaRPr lang="en-US" sz="1300" dirty="0"/>
          </a:p>
        </p:txBody>
      </p:sp>
      <p:sp>
        <p:nvSpPr>
          <p:cNvPr id="11" name="anim_2_l"/>
          <p:cNvSpPr/>
          <p:nvPr/>
        </p:nvSpPr>
        <p:spPr>
          <a:xfrm>
            <a:off x="548640" y="3968496"/>
            <a:ext cx="6035040" cy="841248"/>
          </a:xfrm>
          <a:prstGeom prst="roundRect">
            <a:avLst>
              <a:gd name="adj" fmla="val 10870"/>
            </a:avLst>
          </a:prstGeom>
          <a:solidFill>
            <a:srgbClr val="27406A"/>
          </a:solidFill>
          <a:ln w="12700">
            <a:solidFill>
              <a:srgbClr val="27406A"/>
            </a:solidFill>
            <a:prstDash val="solid"/>
          </a:ln>
        </p:spPr>
      </p:sp>
      <p:sp>
        <p:nvSpPr>
          <p:cNvPr id="12" name="anim_2_lh"/>
          <p:cNvSpPr txBox="1"/>
          <p:nvPr/>
        </p:nvSpPr>
        <p:spPr>
          <a:xfrm>
            <a:off x="777240" y="3968496"/>
            <a:ext cx="1097280" cy="8412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Data</a:t>
            </a:r>
            <a:endParaRPr lang="en-US" sz="1800" dirty="0"/>
          </a:p>
        </p:txBody>
      </p:sp>
      <p:sp>
        <p:nvSpPr>
          <p:cNvPr id="13" name="anim_2_lt"/>
          <p:cNvSpPr txBox="1"/>
          <p:nvPr/>
        </p:nvSpPr>
        <p:spPr>
          <a:xfrm>
            <a:off x="1920240" y="3968496"/>
            <a:ext cx="4526280" cy="841248"/>
          </a:xfrm>
          <a:prstGeom prst="rect">
            <a:avLst/>
          </a:prstGeom>
          <a:noFill/>
          <a:ln/>
        </p:spPr>
        <p:txBody>
          <a:bodyPr wrap="square" lIns="0" tIns="0" rIns="0" bIns="0" rtlCol="0" anchor="ctr"/>
          <a:lstStyle/>
          <a:p>
            <a:pPr indent="0" marL="0">
              <a:buNone/>
            </a:pPr>
            <a:r>
              <a:rPr lang="en-US" sz="1300" dirty="0">
                <a:solidFill>
                  <a:srgbClr val="C9D6E8"/>
                </a:solidFill>
                <a:latin typeface="Calibri" pitchFamily="34" charset="0"/>
                <a:ea typeface="Calibri" pitchFamily="34" charset="-122"/>
                <a:cs typeface="Calibri" pitchFamily="34" charset="-120"/>
              </a:rPr>
              <a:t>Room is the source of truth · append-only readings · DataStore settings</a:t>
            </a:r>
            <a:endParaRPr lang="en-US" sz="1300" dirty="0"/>
          </a:p>
        </p:txBody>
      </p:sp>
      <p:sp>
        <p:nvSpPr>
          <p:cNvPr id="14" name="anim_3_l"/>
          <p:cNvSpPr/>
          <p:nvPr/>
        </p:nvSpPr>
        <p:spPr>
          <a:xfrm>
            <a:off x="548640" y="4946904"/>
            <a:ext cx="6035040" cy="841248"/>
          </a:xfrm>
          <a:prstGeom prst="roundRect">
            <a:avLst>
              <a:gd name="adj" fmla="val 10870"/>
            </a:avLst>
          </a:prstGeom>
          <a:solidFill>
            <a:srgbClr val="355684"/>
          </a:solidFill>
          <a:ln w="12700">
            <a:solidFill>
              <a:srgbClr val="355684"/>
            </a:solidFill>
            <a:prstDash val="solid"/>
          </a:ln>
        </p:spPr>
      </p:sp>
      <p:sp>
        <p:nvSpPr>
          <p:cNvPr id="15" name="anim_3_lh"/>
          <p:cNvSpPr txBox="1"/>
          <p:nvPr/>
        </p:nvSpPr>
        <p:spPr>
          <a:xfrm>
            <a:off x="777240" y="4946904"/>
            <a:ext cx="1097280" cy="8412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Device</a:t>
            </a:r>
            <a:endParaRPr lang="en-US" sz="1800" dirty="0"/>
          </a:p>
        </p:txBody>
      </p:sp>
      <p:sp>
        <p:nvSpPr>
          <p:cNvPr id="16" name="anim_3_lt"/>
          <p:cNvSpPr txBox="1"/>
          <p:nvPr/>
        </p:nvSpPr>
        <p:spPr>
          <a:xfrm>
            <a:off x="1920240" y="4946904"/>
            <a:ext cx="4526280" cy="841248"/>
          </a:xfrm>
          <a:prstGeom prst="rect">
            <a:avLst/>
          </a:prstGeom>
          <a:noFill/>
          <a:ln/>
        </p:spPr>
        <p:txBody>
          <a:bodyPr wrap="square" lIns="0" tIns="0" rIns="0" bIns="0" rtlCol="0" anchor="ctr"/>
          <a:lstStyle/>
          <a:p>
            <a:pPr indent="0" marL="0">
              <a:buNone/>
            </a:pPr>
            <a:r>
              <a:rPr lang="en-US" sz="1300" dirty="0">
                <a:solidFill>
                  <a:srgbClr val="C9D6E8"/>
                </a:solidFill>
                <a:latin typeface="Calibri" pitchFamily="34" charset="0"/>
                <a:ea typeface="Calibri" pitchFamily="34" charset="-122"/>
                <a:cs typeface="Calibri" pitchFamily="34" charset="-120"/>
              </a:rPr>
              <a:t>BLE thermometer in a foreground service · CameraX · WorkManager clocks · PdfDocument</a:t>
            </a:r>
            <a:endParaRPr lang="en-US" sz="1300" dirty="0"/>
          </a:p>
        </p:txBody>
      </p:sp>
      <p:sp>
        <p:nvSpPr>
          <p:cNvPr id="17" name="anim_4_c1"/>
          <p:cNvSpPr/>
          <p:nvPr/>
        </p:nvSpPr>
        <p:spPr>
          <a:xfrm>
            <a:off x="6583680" y="2788920"/>
            <a:ext cx="685800" cy="0"/>
          </a:xfrm>
          <a:prstGeom prst="line">
            <a:avLst/>
          </a:prstGeom>
          <a:noFill/>
          <a:ln w="19050">
            <a:solidFill>
              <a:srgbClr val="8A96A8"/>
            </a:solidFill>
            <a:prstDash val="dash"/>
            <a:tailEnd type="triangle"/>
          </a:ln>
        </p:spPr>
      </p:sp>
      <p:sp>
        <p:nvSpPr>
          <p:cNvPr id="18" name="anim_5_c2"/>
          <p:cNvSpPr/>
          <p:nvPr/>
        </p:nvSpPr>
        <p:spPr>
          <a:xfrm>
            <a:off x="6583680" y="4800600"/>
            <a:ext cx="685800" cy="0"/>
          </a:xfrm>
          <a:prstGeom prst="line">
            <a:avLst/>
          </a:prstGeom>
          <a:noFill/>
          <a:ln w="19050">
            <a:solidFill>
              <a:srgbClr val="8A96A8"/>
            </a:solidFill>
            <a:prstDash val="dash"/>
            <a:tailEnd type="triangle"/>
          </a:ln>
        </p:spPr>
      </p:sp>
      <p:sp>
        <p:nvSpPr>
          <p:cNvPr id="19" name="anim_4_b"/>
          <p:cNvSpPr/>
          <p:nvPr/>
        </p:nvSpPr>
        <p:spPr>
          <a:xfrm>
            <a:off x="7360920" y="2011680"/>
            <a:ext cx="4279392" cy="1783080"/>
          </a:xfrm>
          <a:prstGeom prst="roundRect">
            <a:avLst>
              <a:gd name="adj" fmla="val 6154"/>
            </a:avLst>
          </a:prstGeom>
          <a:solidFill>
            <a:srgbClr val="F3F5F8"/>
          </a:solidFill>
          <a:ln w="12700">
            <a:solidFill>
              <a:srgbClr val="F3F5F8"/>
            </a:solidFill>
            <a:prstDash val="solid"/>
          </a:ln>
        </p:spPr>
      </p:sp>
      <p:sp>
        <p:nvSpPr>
          <p:cNvPr id="20" name="anim_4_ic_c"/>
          <p:cNvSpPr/>
          <p:nvPr/>
        </p:nvSpPr>
        <p:spPr>
          <a:xfrm>
            <a:off x="7589520" y="2240280"/>
            <a:ext cx="457200" cy="457200"/>
          </a:xfrm>
          <a:prstGeom prst="ellipse">
            <a:avLst/>
          </a:prstGeom>
          <a:solidFill>
            <a:srgbClr val="3A86C8"/>
          </a:solidFill>
          <a:ln w="12700">
            <a:solidFill>
              <a:srgbClr val="3A86C8"/>
            </a:solidFill>
            <a:prstDash val="solid"/>
          </a:ln>
        </p:spPr>
      </p:sp>
      <p:pic>
        <p:nvPicPr>
          <p:cNvPr id="21" name="anim_4_ic_i" descr="preencoded.png">    </p:cNvPr>
          <p:cNvPicPr>
            <a:picLocks noChangeAspect="1"/>
          </p:cNvPicPr>
          <p:nvPr/>
        </p:nvPicPr>
        <p:blipFill>
          <a:blip r:embed="rId1"/>
          <a:stretch>
            <a:fillRect/>
          </a:stretch>
        </p:blipFill>
        <p:spPr>
          <a:xfrm>
            <a:off x="7699248" y="2350008"/>
            <a:ext cx="237744" cy="237744"/>
          </a:xfrm>
          <a:prstGeom prst="rect">
            <a:avLst/>
          </a:prstGeom>
        </p:spPr>
      </p:pic>
      <p:sp>
        <p:nvSpPr>
          <p:cNvPr id="22" name="anim_4_h"/>
          <p:cNvSpPr txBox="1"/>
          <p:nvPr/>
        </p:nvSpPr>
        <p:spPr>
          <a:xfrm>
            <a:off x="8183880" y="2240280"/>
            <a:ext cx="3337560" cy="457200"/>
          </a:xfrm>
          <a:prstGeom prst="rect">
            <a:avLst/>
          </a:prstGeom>
          <a:noFill/>
          <a:ln/>
        </p:spPr>
        <p:txBody>
          <a:bodyPr wrap="square" lIns="0" tIns="0" rIns="0" bIns="0" rtlCol="0" anchor="ctr"/>
          <a:lstStyle/>
          <a:p>
            <a:pPr indent="0" marL="0">
              <a:buNone/>
            </a:pPr>
            <a:r>
              <a:rPr lang="en-US" sz="1450" b="1" dirty="0">
                <a:solidFill>
                  <a:srgbClr val="0F1B2D"/>
                </a:solidFill>
                <a:latin typeface="Calibri" pitchFamily="34" charset="0"/>
                <a:ea typeface="Calibri" pitchFamily="34" charset="-122"/>
                <a:cs typeface="Calibri" pitchFamily="34" charset="-120"/>
              </a:rPr>
              <a:t>External API · Open-Meteo</a:t>
            </a:r>
            <a:endParaRPr lang="en-US" sz="1450" dirty="0"/>
          </a:p>
        </p:txBody>
      </p:sp>
      <p:sp>
        <p:nvSpPr>
          <p:cNvPr id="23" name="anim_4_t"/>
          <p:cNvSpPr txBox="1"/>
          <p:nvPr/>
        </p:nvSpPr>
        <p:spPr>
          <a:xfrm>
            <a:off x="7589520" y="2788920"/>
            <a:ext cx="3886200" cy="914400"/>
          </a:xfrm>
          <a:prstGeom prst="rect">
            <a:avLst/>
          </a:prstGeom>
          <a:noFill/>
          <a:ln/>
        </p:spPr>
        <p:txBody>
          <a:bodyPr wrap="square" lIns="0" tIns="0" rIns="0" bIns="0" rtlCol="0" anchor="t"/>
          <a:lstStyle/>
          <a:p>
            <a:pPr indent="0" marL="0">
              <a:buNone/>
            </a:pPr>
            <a:r>
              <a:rPr lang="en-US" sz="1250" dirty="0">
                <a:solidFill>
                  <a:srgbClr val="1E2633"/>
                </a:solidFill>
                <a:latin typeface="Calibri" pitchFamily="34" charset="0"/>
                <a:ea typeface="Calibri" pitchFamily="34" charset="-122"/>
                <a:cs typeface="Calibri" pitchFamily="34" charset="-120"/>
              </a:rPr>
              <a:t>Forecast + archive, no key. Cached in Room with loading / error / stale states. If it's down, indoor charts still work.</a:t>
            </a:r>
            <a:endParaRPr lang="en-US" sz="1250" dirty="0"/>
          </a:p>
        </p:txBody>
      </p:sp>
      <p:sp>
        <p:nvSpPr>
          <p:cNvPr id="24" name="anim_5_b"/>
          <p:cNvSpPr/>
          <p:nvPr/>
        </p:nvSpPr>
        <p:spPr>
          <a:xfrm>
            <a:off x="7360920" y="3977640"/>
            <a:ext cx="4279392" cy="1783080"/>
          </a:xfrm>
          <a:prstGeom prst="roundRect">
            <a:avLst>
              <a:gd name="adj" fmla="val 6154"/>
            </a:avLst>
          </a:prstGeom>
          <a:solidFill>
            <a:srgbClr val="F3F5F8"/>
          </a:solidFill>
          <a:ln w="12700">
            <a:solidFill>
              <a:srgbClr val="F3F5F8"/>
            </a:solidFill>
            <a:prstDash val="solid"/>
          </a:ln>
        </p:spPr>
      </p:sp>
      <p:sp>
        <p:nvSpPr>
          <p:cNvPr id="25" name="anim_5_ic_c"/>
          <p:cNvSpPr/>
          <p:nvPr/>
        </p:nvSpPr>
        <p:spPr>
          <a:xfrm>
            <a:off x="7589520" y="4206240"/>
            <a:ext cx="457200" cy="457200"/>
          </a:xfrm>
          <a:prstGeom prst="ellipse">
            <a:avLst/>
          </a:prstGeom>
          <a:solidFill>
            <a:srgbClr val="0F1B2D"/>
          </a:solidFill>
          <a:ln w="12700">
            <a:solidFill>
              <a:srgbClr val="0F1B2D"/>
            </a:solidFill>
            <a:prstDash val="solid"/>
          </a:ln>
        </p:spPr>
      </p:sp>
      <p:pic>
        <p:nvPicPr>
          <p:cNvPr id="26" name="anim_5_ic_i" descr="preencoded.png">    </p:cNvPr>
          <p:cNvPicPr>
            <a:picLocks noChangeAspect="1"/>
          </p:cNvPicPr>
          <p:nvPr/>
        </p:nvPicPr>
        <p:blipFill>
          <a:blip r:embed="rId2"/>
          <a:stretch>
            <a:fillRect/>
          </a:stretch>
        </p:blipFill>
        <p:spPr>
          <a:xfrm>
            <a:off x="7699248" y="4315968"/>
            <a:ext cx="237744" cy="237744"/>
          </a:xfrm>
          <a:prstGeom prst="rect">
            <a:avLst/>
          </a:prstGeom>
        </p:spPr>
      </p:pic>
      <p:sp>
        <p:nvSpPr>
          <p:cNvPr id="27" name="anim_5_h"/>
          <p:cNvSpPr txBox="1"/>
          <p:nvPr/>
        </p:nvSpPr>
        <p:spPr>
          <a:xfrm>
            <a:off x="8183880" y="4206240"/>
            <a:ext cx="3337560" cy="457200"/>
          </a:xfrm>
          <a:prstGeom prst="rect">
            <a:avLst/>
          </a:prstGeom>
          <a:noFill/>
          <a:ln/>
        </p:spPr>
        <p:txBody>
          <a:bodyPr wrap="square" lIns="0" tIns="0" rIns="0" bIns="0" rtlCol="0" anchor="ctr"/>
          <a:lstStyle/>
          <a:p>
            <a:pPr indent="0" marL="0">
              <a:buNone/>
            </a:pPr>
            <a:r>
              <a:rPr lang="en-US" sz="1450" b="1" dirty="0">
                <a:solidFill>
                  <a:srgbClr val="0F1B2D"/>
                </a:solidFill>
                <a:latin typeface="Calibri" pitchFamily="34" charset="0"/>
                <a:ea typeface="Calibri" pitchFamily="34" charset="-122"/>
                <a:cs typeface="Calibri" pitchFamily="34" charset="-120"/>
              </a:rPr>
              <a:t>Backend · Node + Express + JWT</a:t>
            </a:r>
            <a:endParaRPr lang="en-US" sz="1450" dirty="0"/>
          </a:p>
        </p:txBody>
      </p:sp>
      <p:sp>
        <p:nvSpPr>
          <p:cNvPr id="28" name="anim_5_t"/>
          <p:cNvSpPr txBox="1"/>
          <p:nvPr/>
        </p:nvSpPr>
        <p:spPr>
          <a:xfrm>
            <a:off x="7589520" y="4754880"/>
            <a:ext cx="3886200" cy="914400"/>
          </a:xfrm>
          <a:prstGeom prst="rect">
            <a:avLst/>
          </a:prstGeom>
          <a:noFill/>
          <a:ln/>
        </p:spPr>
        <p:txBody>
          <a:bodyPr wrap="square" lIns="0" tIns="0" rIns="0" bIns="0" rtlCol="0" anchor="t"/>
          <a:lstStyle/>
          <a:p>
            <a:pPr indent="0" marL="0">
              <a:buNone/>
            </a:pPr>
            <a:r>
              <a:rPr lang="en-US" sz="1250" dirty="0">
                <a:solidFill>
                  <a:srgbClr val="1E2633"/>
                </a:solidFill>
                <a:latin typeface="Calibri" pitchFamily="34" charset="0"/>
                <a:ea typeface="Calibri" pitchFamily="34" charset="-122"/>
                <a:cs typeface="Calibri" pitchFamily="34" charset="-120"/>
              </a:rPr>
              <a:t>/auth · /issues · /readings · /evidence/anchor · /notices. Photos stay on the phone. Only a hash goes to the server.</a:t>
            </a:r>
            <a:endParaRPr lang="en-US" sz="1250" dirty="0"/>
          </a:p>
        </p:txBody>
      </p:sp>
      <p:sp>
        <p:nvSpPr>
          <p:cNvPr id="29" name="anim_6_f"/>
          <p:cNvSpPr txBox="1"/>
          <p:nvPr/>
        </p:nvSpPr>
        <p:spPr>
          <a:xfrm>
            <a:off x="548640" y="5989320"/>
            <a:ext cx="11064240" cy="292608"/>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$0 total: </a:t>
            </a:r>
            <a:pPr indent="0" marL="0">
              <a:buNone/>
            </a:pPr>
            <a:r>
              <a:rPr lang="en-US" sz="1200" dirty="0">
                <a:solidFill>
                  <a:srgbClr val="5B6676"/>
                </a:solidFill>
                <a:latin typeface="Calibri" pitchFamily="34" charset="0"/>
                <a:ea typeface="Calibri" pitchFamily="34" charset="-122"/>
                <a:cs typeface="Calibri" pitchFamily="34" charset="-120"/>
              </a:rPr>
              <a:t>Render (API) + Neon (Postgres) free tiers · demo fallback on a laptop via adb reverse · optional low-cost BLE sensor</a:t>
            </a:r>
            <a:endParaRPr lang="en-US" sz="1200" dirty="0"/>
          </a:p>
        </p:txBody>
      </p:sp>
      <p:sp>
        <p:nvSpPr>
          <p:cNvPr id="30"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nodeType="withEffect">
                                  <p:stCondLst>
                                    <p:cond delay="18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nodeType="withEffect">
                                  <p:stCondLst>
                                    <p:cond delay="18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nodeType="withEffect">
                                  <p:stCondLst>
                                    <p:cond delay="18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nodeType="withEffect">
                                  <p:stCondLst>
                                    <p:cond delay="36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nodeType="withEffect">
                                  <p:stCondLst>
                                    <p:cond delay="36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nodeType="withEffect">
                                  <p:stCondLst>
                                    <p:cond delay="36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nodeType="withEffect">
                                  <p:stCondLst>
                                    <p:cond delay="54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54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54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nodeType="withEffect">
                                  <p:stCondLst>
                                    <p:cond delay="72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nodeType="withEffect">
                                  <p:stCondLst>
                                    <p:cond delay="72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50"/>
                                        <p:tgtEl>
                                          <p:spTgt spid="19"/>
                                        </p:tgtEl>
                                      </p:cBhvr>
                                    </p:animEffect>
                                  </p:childTnLst>
                                </p:cTn>
                              </p:par>
                              <p:par>
                                <p:cTn id="46" presetID="10" presetClass="entr" presetSubtype="0" fill="hold" nodeType="withEffect">
                                  <p:stCondLst>
                                    <p:cond delay="72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50"/>
                                        <p:tgtEl>
                                          <p:spTgt spid="20"/>
                                        </p:tgtEl>
                                      </p:cBhvr>
                                    </p:animEffect>
                                  </p:childTnLst>
                                </p:cTn>
                              </p:par>
                              <p:par>
                                <p:cTn id="49" presetID="10" presetClass="entr" presetSubtype="0" fill="hold" nodeType="withEffect">
                                  <p:stCondLst>
                                    <p:cond delay="72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50"/>
                                        <p:tgtEl>
                                          <p:spTgt spid="21"/>
                                        </p:tgtEl>
                                      </p:cBhvr>
                                    </p:animEffect>
                                  </p:childTnLst>
                                </p:cTn>
                              </p:par>
                              <p:par>
                                <p:cTn id="52" presetID="10" presetClass="entr" presetSubtype="0" fill="hold" nodeType="withEffect">
                                  <p:stCondLst>
                                    <p:cond delay="72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50"/>
                                        <p:tgtEl>
                                          <p:spTgt spid="22"/>
                                        </p:tgtEl>
                                      </p:cBhvr>
                                    </p:animEffect>
                                  </p:childTnLst>
                                </p:cTn>
                              </p:par>
                              <p:par>
                                <p:cTn id="55" presetID="10" presetClass="entr" presetSubtype="0" fill="hold" nodeType="withEffect">
                                  <p:stCondLst>
                                    <p:cond delay="72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50"/>
                                        <p:tgtEl>
                                          <p:spTgt spid="23"/>
                                        </p:tgtEl>
                                      </p:cBhvr>
                                    </p:animEffect>
                                  </p:childTnLst>
                                </p:cTn>
                              </p:par>
                              <p:par>
                                <p:cTn id="58" presetID="10" presetClass="entr" presetSubtype="0" fill="hold" nodeType="withEffect">
                                  <p:stCondLst>
                                    <p:cond delay="90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450"/>
                                        <p:tgtEl>
                                          <p:spTgt spid="18"/>
                                        </p:tgtEl>
                                      </p:cBhvr>
                                    </p:animEffect>
                                  </p:childTnLst>
                                </p:cTn>
                              </p:par>
                              <p:par>
                                <p:cTn id="61" presetID="10" presetClass="entr" presetSubtype="0" fill="hold" nodeType="withEffect">
                                  <p:stCondLst>
                                    <p:cond delay="90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90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90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par>
                                <p:cTn id="70" presetID="10" presetClass="entr" presetSubtype="0" fill="hold" nodeType="withEffect">
                                  <p:stCondLst>
                                    <p:cond delay="90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par>
                                <p:cTn id="73" presetID="10" presetClass="entr" presetSubtype="0" fill="hold" nodeType="withEffect">
                                  <p:stCondLst>
                                    <p:cond delay="90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108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09  ·  DATA TRUST</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What if someone puts the sensor in a fridge?</a:t>
            </a:r>
            <a:endParaRPr lang="en-US" sz="3400" dirty="0"/>
          </a:p>
        </p:txBody>
      </p:sp>
      <p:sp>
        <p:nvSpPr>
          <p:cNvPr id="4" name="anim_0_p"/>
          <p:cNvSpPr txBox="1"/>
          <p:nvPr/>
        </p:nvSpPr>
        <p:spPr>
          <a:xfrm>
            <a:off x="548640" y="1691640"/>
            <a:ext cx="11064240" cy="822960"/>
          </a:xfrm>
          <a:prstGeom prst="rect">
            <a:avLst/>
          </a:prstGeom>
          <a:noFill/>
          <a:ln/>
        </p:spPr>
        <p:txBody>
          <a:bodyPr wrap="square" lIns="0" tIns="0" rIns="0" bIns="0" rtlCol="0" anchor="ctr"/>
          <a:lstStyle/>
          <a:p>
            <a:pPr indent="0" marL="0">
              <a:buNone/>
            </a:pPr>
            <a:r>
              <a:rPr lang="en-US" sz="1800" dirty="0">
                <a:solidFill>
                  <a:srgbClr val="1E2633"/>
                </a:solidFill>
                <a:latin typeface="Calibri" pitchFamily="34" charset="0"/>
                <a:ea typeface="Calibri" pitchFamily="34" charset="-122"/>
                <a:cs typeface="Calibri" pitchFamily="34" charset="-120"/>
              </a:rPr>
              <a:t>We can't physically stop someone from tampering with the sensor. What we can do is keep a log that can't be edited and shows anything that looks off.</a:t>
            </a:r>
            <a:endParaRPr lang="en-US" sz="1800" dirty="0"/>
          </a:p>
        </p:txBody>
      </p:sp>
      <p:sp>
        <p:nvSpPr>
          <p:cNvPr id="5" name="anim_1_q"/>
          <p:cNvSpPr/>
          <p:nvPr/>
        </p:nvSpPr>
        <p:spPr>
          <a:xfrm>
            <a:off x="548640" y="2697480"/>
            <a:ext cx="11091672" cy="1234440"/>
          </a:xfrm>
          <a:prstGeom prst="roundRect">
            <a:avLst>
              <a:gd name="adj" fmla="val 8889"/>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6" name="anim_1_qt"/>
          <p:cNvSpPr txBox="1"/>
          <p:nvPr/>
        </p:nvSpPr>
        <p:spPr>
          <a:xfrm>
            <a:off x="868680" y="2697480"/>
            <a:ext cx="10515600" cy="1234440"/>
          </a:xfrm>
          <a:prstGeom prst="rect">
            <a:avLst/>
          </a:prstGeom>
          <a:noFill/>
          <a:ln/>
        </p:spPr>
        <p:txBody>
          <a:bodyPr wrap="square" lIns="0" tIns="0" rIns="0" bIns="0" rtlCol="0" anchor="ctr"/>
          <a:lstStyle/>
          <a:p>
            <a:pPr indent="0" marL="0">
              <a:buNone/>
            </a:pPr>
            <a:r>
              <a:rPr lang="en-US" sz="2100" dirty="0">
                <a:solidFill>
                  <a:srgbClr val="FFFFFF"/>
                </a:solidFill>
                <a:latin typeface="Cambria" pitchFamily="34" charset="0"/>
                <a:ea typeface="Cambria" pitchFamily="34" charset="-122"/>
                <a:cs typeface="Cambria" pitchFamily="34" charset="-120"/>
              </a:rPr>
              <a:t>The inspector's reading is the official one. </a:t>
            </a:r>
            <a:pPr indent="0" marL="0">
              <a:buNone/>
            </a:pPr>
            <a:r>
              <a:rPr lang="en-US" sz="2100" dirty="0">
                <a:solidFill>
                  <a:srgbClr val="F6C7B5"/>
                </a:solidFill>
                <a:latin typeface="Cambria" pitchFamily="34" charset="0"/>
                <a:ea typeface="Cambria" pitchFamily="34" charset="-122"/>
                <a:cs typeface="Cambria" pitchFamily="34" charset="-120"/>
              </a:rPr>
              <a:t>We just help the tenant show a clear pattern so an inspector comes out.</a:t>
            </a:r>
            <a:endParaRPr lang="en-US" sz="2100" dirty="0"/>
          </a:p>
        </p:txBody>
      </p:sp>
      <p:sp>
        <p:nvSpPr>
          <p:cNvPr id="7" name="anim_2_c"/>
          <p:cNvSpPr/>
          <p:nvPr/>
        </p:nvSpPr>
        <p:spPr>
          <a:xfrm>
            <a:off x="548640" y="4206240"/>
            <a:ext cx="2103120" cy="1691640"/>
          </a:xfrm>
          <a:prstGeom prst="roundRect">
            <a:avLst>
              <a:gd name="adj" fmla="val 6486"/>
            </a:avLst>
          </a:prstGeom>
          <a:solidFill>
            <a:srgbClr val="F3F5F8"/>
          </a:solidFill>
          <a:ln w="12700">
            <a:solidFill>
              <a:srgbClr val="F3F5F8"/>
            </a:solidFill>
            <a:prstDash val="solid"/>
          </a:ln>
        </p:spPr>
      </p:sp>
      <p:sp>
        <p:nvSpPr>
          <p:cNvPr id="8" name="anim_2_ic_c"/>
          <p:cNvSpPr/>
          <p:nvPr/>
        </p:nvSpPr>
        <p:spPr>
          <a:xfrm>
            <a:off x="777240" y="4434840"/>
            <a:ext cx="530352" cy="530352"/>
          </a:xfrm>
          <a:prstGeom prst="ellipse">
            <a:avLst/>
          </a:prstGeom>
          <a:solidFill>
            <a:srgbClr val="E4572E"/>
          </a:solidFill>
          <a:ln w="12700">
            <a:solidFill>
              <a:srgbClr val="E4572E"/>
            </a:solidFill>
            <a:prstDash val="solid"/>
          </a:ln>
        </p:spPr>
      </p:sp>
      <p:pic>
        <p:nvPicPr>
          <p:cNvPr id="9" name="anim_2_ic_i" descr="preencoded.png">    </p:cNvPr>
          <p:cNvPicPr>
            <a:picLocks noChangeAspect="1"/>
          </p:cNvPicPr>
          <p:nvPr/>
        </p:nvPicPr>
        <p:blipFill>
          <a:blip r:embed="rId1"/>
          <a:stretch>
            <a:fillRect/>
          </a:stretch>
        </p:blipFill>
        <p:spPr>
          <a:xfrm>
            <a:off x="904524" y="4562124"/>
            <a:ext cx="275783" cy="275783"/>
          </a:xfrm>
          <a:prstGeom prst="rect">
            <a:avLst/>
          </a:prstGeom>
        </p:spPr>
      </p:pic>
      <p:sp>
        <p:nvSpPr>
          <p:cNvPr id="10" name="anim_2_t"/>
          <p:cNvSpPr txBox="1"/>
          <p:nvPr/>
        </p:nvSpPr>
        <p:spPr>
          <a:xfrm>
            <a:off x="777240" y="5074920"/>
            <a:ext cx="1691640" cy="68580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Placement photo at 5 ft / 5 ft</a:t>
            </a:r>
            <a:endParaRPr lang="en-US" sz="1400" dirty="0"/>
          </a:p>
        </p:txBody>
      </p:sp>
      <p:sp>
        <p:nvSpPr>
          <p:cNvPr id="11" name="anim_3_c"/>
          <p:cNvSpPr/>
          <p:nvPr/>
        </p:nvSpPr>
        <p:spPr>
          <a:xfrm>
            <a:off x="2802636" y="4206240"/>
            <a:ext cx="2103120" cy="1691640"/>
          </a:xfrm>
          <a:prstGeom prst="roundRect">
            <a:avLst>
              <a:gd name="adj" fmla="val 6486"/>
            </a:avLst>
          </a:prstGeom>
          <a:solidFill>
            <a:srgbClr val="F3F5F8"/>
          </a:solidFill>
          <a:ln w="12700">
            <a:solidFill>
              <a:srgbClr val="F3F5F8"/>
            </a:solidFill>
            <a:prstDash val="solid"/>
          </a:ln>
        </p:spPr>
      </p:sp>
      <p:sp>
        <p:nvSpPr>
          <p:cNvPr id="12" name="anim_3_ic_c"/>
          <p:cNvSpPr/>
          <p:nvPr/>
        </p:nvSpPr>
        <p:spPr>
          <a:xfrm>
            <a:off x="3031236" y="4434840"/>
            <a:ext cx="530352" cy="530352"/>
          </a:xfrm>
          <a:prstGeom prst="ellipse">
            <a:avLst/>
          </a:prstGeom>
          <a:solidFill>
            <a:srgbClr val="3A86C8"/>
          </a:solidFill>
          <a:ln w="12700">
            <a:solidFill>
              <a:srgbClr val="3A86C8"/>
            </a:solidFill>
            <a:prstDash val="solid"/>
          </a:ln>
        </p:spPr>
      </p:sp>
      <p:pic>
        <p:nvPicPr>
          <p:cNvPr id="13" name="anim_3_ic_i" descr="preencoded.png">    </p:cNvPr>
          <p:cNvPicPr>
            <a:picLocks noChangeAspect="1"/>
          </p:cNvPicPr>
          <p:nvPr/>
        </p:nvPicPr>
        <p:blipFill>
          <a:blip r:embed="rId2"/>
          <a:stretch>
            <a:fillRect/>
          </a:stretch>
        </p:blipFill>
        <p:spPr>
          <a:xfrm>
            <a:off x="3158520" y="4562124"/>
            <a:ext cx="275783" cy="275783"/>
          </a:xfrm>
          <a:prstGeom prst="rect">
            <a:avLst/>
          </a:prstGeom>
        </p:spPr>
      </p:pic>
      <p:sp>
        <p:nvSpPr>
          <p:cNvPr id="14" name="anim_3_t"/>
          <p:cNvSpPr txBox="1"/>
          <p:nvPr/>
        </p:nvSpPr>
        <p:spPr>
          <a:xfrm>
            <a:off x="3031236" y="5074920"/>
            <a:ext cx="1691640" cy="68580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Readings can't be edited</a:t>
            </a:r>
            <a:endParaRPr lang="en-US" sz="1400" dirty="0"/>
          </a:p>
        </p:txBody>
      </p:sp>
      <p:sp>
        <p:nvSpPr>
          <p:cNvPr id="15" name="anim_4_c"/>
          <p:cNvSpPr/>
          <p:nvPr/>
        </p:nvSpPr>
        <p:spPr>
          <a:xfrm>
            <a:off x="5056632" y="4206240"/>
            <a:ext cx="2103120" cy="1691640"/>
          </a:xfrm>
          <a:prstGeom prst="roundRect">
            <a:avLst>
              <a:gd name="adj" fmla="val 6486"/>
            </a:avLst>
          </a:prstGeom>
          <a:solidFill>
            <a:srgbClr val="F3F5F8"/>
          </a:solidFill>
          <a:ln w="12700">
            <a:solidFill>
              <a:srgbClr val="F3F5F8"/>
            </a:solidFill>
            <a:prstDash val="solid"/>
          </a:ln>
        </p:spPr>
      </p:sp>
      <p:sp>
        <p:nvSpPr>
          <p:cNvPr id="16" name="anim_4_ic_c"/>
          <p:cNvSpPr/>
          <p:nvPr/>
        </p:nvSpPr>
        <p:spPr>
          <a:xfrm>
            <a:off x="5285232" y="4434840"/>
            <a:ext cx="530352" cy="530352"/>
          </a:xfrm>
          <a:prstGeom prst="ellipse">
            <a:avLst/>
          </a:prstGeom>
          <a:solidFill>
            <a:srgbClr val="E4572E"/>
          </a:solidFill>
          <a:ln w="12700">
            <a:solidFill>
              <a:srgbClr val="E4572E"/>
            </a:solidFill>
            <a:prstDash val="solid"/>
          </a:ln>
        </p:spPr>
      </p:sp>
      <p:pic>
        <p:nvPicPr>
          <p:cNvPr id="17" name="anim_4_ic_i" descr="preencoded.png">    </p:cNvPr>
          <p:cNvPicPr>
            <a:picLocks noChangeAspect="1"/>
          </p:cNvPicPr>
          <p:nvPr/>
        </p:nvPicPr>
        <p:blipFill>
          <a:blip r:embed="rId3"/>
          <a:stretch>
            <a:fillRect/>
          </a:stretch>
        </p:blipFill>
        <p:spPr>
          <a:xfrm>
            <a:off x="5412516" y="4562124"/>
            <a:ext cx="275783" cy="275783"/>
          </a:xfrm>
          <a:prstGeom prst="rect">
            <a:avLst/>
          </a:prstGeom>
        </p:spPr>
      </p:pic>
      <p:sp>
        <p:nvSpPr>
          <p:cNvPr id="18" name="anim_4_t"/>
          <p:cNvSpPr txBox="1"/>
          <p:nvPr/>
        </p:nvSpPr>
        <p:spPr>
          <a:xfrm>
            <a:off x="5285232" y="5074920"/>
            <a:ext cx="1691640" cy="68580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Impossible jumps are flagged</a:t>
            </a:r>
            <a:endParaRPr lang="en-US" sz="1400" dirty="0"/>
          </a:p>
        </p:txBody>
      </p:sp>
      <p:sp>
        <p:nvSpPr>
          <p:cNvPr id="19" name="anim_5_c"/>
          <p:cNvSpPr/>
          <p:nvPr/>
        </p:nvSpPr>
        <p:spPr>
          <a:xfrm>
            <a:off x="7310628" y="4206240"/>
            <a:ext cx="2103120" cy="1691640"/>
          </a:xfrm>
          <a:prstGeom prst="roundRect">
            <a:avLst>
              <a:gd name="adj" fmla="val 6486"/>
            </a:avLst>
          </a:prstGeom>
          <a:solidFill>
            <a:srgbClr val="F3F5F8"/>
          </a:solidFill>
          <a:ln w="12700">
            <a:solidFill>
              <a:srgbClr val="F3F5F8"/>
            </a:solidFill>
            <a:prstDash val="solid"/>
          </a:ln>
        </p:spPr>
      </p:sp>
      <p:sp>
        <p:nvSpPr>
          <p:cNvPr id="20" name="anim_5_ic_c"/>
          <p:cNvSpPr/>
          <p:nvPr/>
        </p:nvSpPr>
        <p:spPr>
          <a:xfrm>
            <a:off x="7539228" y="4434840"/>
            <a:ext cx="530352" cy="530352"/>
          </a:xfrm>
          <a:prstGeom prst="ellipse">
            <a:avLst/>
          </a:prstGeom>
          <a:solidFill>
            <a:srgbClr val="3A86C8"/>
          </a:solidFill>
          <a:ln w="12700">
            <a:solidFill>
              <a:srgbClr val="3A86C8"/>
            </a:solidFill>
            <a:prstDash val="solid"/>
          </a:ln>
        </p:spPr>
      </p:sp>
      <p:pic>
        <p:nvPicPr>
          <p:cNvPr id="21" name="anim_5_ic_i" descr="preencoded.png">    </p:cNvPr>
          <p:cNvPicPr>
            <a:picLocks noChangeAspect="1"/>
          </p:cNvPicPr>
          <p:nvPr/>
        </p:nvPicPr>
        <p:blipFill>
          <a:blip r:embed="rId4"/>
          <a:stretch>
            <a:fillRect/>
          </a:stretch>
        </p:blipFill>
        <p:spPr>
          <a:xfrm>
            <a:off x="7666512" y="4562124"/>
            <a:ext cx="275783" cy="275783"/>
          </a:xfrm>
          <a:prstGeom prst="rect">
            <a:avLst/>
          </a:prstGeom>
        </p:spPr>
      </p:pic>
      <p:sp>
        <p:nvSpPr>
          <p:cNvPr id="22" name="anim_5_t"/>
          <p:cNvSpPr txBox="1"/>
          <p:nvPr/>
        </p:nvSpPr>
        <p:spPr>
          <a:xfrm>
            <a:off x="7539228" y="5074920"/>
            <a:ext cx="1691640" cy="68580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Data gaps print in the PDF</a:t>
            </a:r>
            <a:endParaRPr lang="en-US" sz="1400" dirty="0"/>
          </a:p>
        </p:txBody>
      </p:sp>
      <p:sp>
        <p:nvSpPr>
          <p:cNvPr id="23" name="anim_6_c"/>
          <p:cNvSpPr/>
          <p:nvPr/>
        </p:nvSpPr>
        <p:spPr>
          <a:xfrm>
            <a:off x="9564624" y="4206240"/>
            <a:ext cx="2103120" cy="1691640"/>
          </a:xfrm>
          <a:prstGeom prst="roundRect">
            <a:avLst>
              <a:gd name="adj" fmla="val 6486"/>
            </a:avLst>
          </a:prstGeom>
          <a:solidFill>
            <a:srgbClr val="F3F5F8"/>
          </a:solidFill>
          <a:ln w="12700">
            <a:solidFill>
              <a:srgbClr val="F3F5F8"/>
            </a:solidFill>
            <a:prstDash val="solid"/>
          </a:ln>
        </p:spPr>
      </p:sp>
      <p:sp>
        <p:nvSpPr>
          <p:cNvPr id="24" name="anim_6_ic_c"/>
          <p:cNvSpPr/>
          <p:nvPr/>
        </p:nvSpPr>
        <p:spPr>
          <a:xfrm>
            <a:off x="9793224" y="4434840"/>
            <a:ext cx="530352" cy="530352"/>
          </a:xfrm>
          <a:prstGeom prst="ellipse">
            <a:avLst/>
          </a:prstGeom>
          <a:solidFill>
            <a:srgbClr val="E4572E"/>
          </a:solidFill>
          <a:ln w="12700">
            <a:solidFill>
              <a:srgbClr val="E4572E"/>
            </a:solidFill>
            <a:prstDash val="solid"/>
          </a:ln>
        </p:spPr>
      </p:sp>
      <p:pic>
        <p:nvPicPr>
          <p:cNvPr id="25" name="anim_6_ic_i" descr="preencoded.png">    </p:cNvPr>
          <p:cNvPicPr>
            <a:picLocks noChangeAspect="1"/>
          </p:cNvPicPr>
          <p:nvPr/>
        </p:nvPicPr>
        <p:blipFill>
          <a:blip r:embed="rId5"/>
          <a:stretch>
            <a:fillRect/>
          </a:stretch>
        </p:blipFill>
        <p:spPr>
          <a:xfrm>
            <a:off x="9920508" y="4562124"/>
            <a:ext cx="275783" cy="275783"/>
          </a:xfrm>
          <a:prstGeom prst="rect">
            <a:avLst/>
          </a:prstGeom>
        </p:spPr>
      </p:pic>
      <p:sp>
        <p:nvSpPr>
          <p:cNvPr id="26" name="anim_6_t"/>
          <p:cNvSpPr txBox="1"/>
          <p:nvPr/>
        </p:nvSpPr>
        <p:spPr>
          <a:xfrm>
            <a:off x="9793224" y="5074920"/>
            <a:ext cx="1691640" cy="685800"/>
          </a:xfrm>
          <a:prstGeom prst="rect">
            <a:avLst/>
          </a:prstGeom>
          <a:noFill/>
          <a:ln/>
        </p:spPr>
        <p:txBody>
          <a:bodyPr wrap="square" lIns="0" tIns="0" rIns="0" bIns="0" rtlCol="0" anchor="t"/>
          <a:lstStyle/>
          <a:p>
            <a:pPr indent="0" marL="0">
              <a:buNone/>
            </a:pPr>
            <a:r>
              <a:rPr lang="en-US" sz="1400" b="1" dirty="0">
                <a:solidFill>
                  <a:srgbClr val="0F1B2D"/>
                </a:solidFill>
                <a:latin typeface="Calibri" pitchFamily="34" charset="0"/>
                <a:ea typeface="Calibri" pitchFamily="34" charset="-122"/>
                <a:cs typeface="Calibri" pitchFamily="34" charset="-120"/>
              </a:rPr>
              <a:t>Weather cross-check</a:t>
            </a:r>
            <a:endParaRPr lang="en-US" sz="1400" dirty="0"/>
          </a:p>
        </p:txBody>
      </p:sp>
      <p:sp>
        <p:nvSpPr>
          <p:cNvPr id="27"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18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18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36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36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36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36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54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54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54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nodeType="withEffect">
                                  <p:stCondLst>
                                    <p:cond delay="54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72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nodeType="withEffect">
                                  <p:stCondLst>
                                    <p:cond delay="72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nodeType="withEffect">
                                  <p:stCondLst>
                                    <p:cond delay="72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72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nodeType="withEffect">
                                  <p:stCondLst>
                                    <p:cond delay="90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90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90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90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nodeType="withEffect">
                                  <p:stCondLst>
                                    <p:cond delay="108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nodeType="withEffect">
                                  <p:stCondLst>
                                    <p:cond delay="108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nodeType="withEffect">
                                  <p:stCondLst>
                                    <p:cond delay="108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nodeType="withEffect">
                                  <p:stCondLst>
                                    <p:cond delay="108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10  ·  TEAM AND MILESTONES</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Team and milestones</a:t>
            </a:r>
            <a:endParaRPr lang="en-US" sz="3400" dirty="0"/>
          </a:p>
        </p:txBody>
      </p:sp>
      <p:sp>
        <p:nvSpPr>
          <p:cNvPr id="4" name="anim_0_c"/>
          <p:cNvSpPr/>
          <p:nvPr/>
        </p:nvSpPr>
        <p:spPr>
          <a:xfrm>
            <a:off x="548640" y="1691640"/>
            <a:ext cx="5458968" cy="1828800"/>
          </a:xfrm>
          <a:prstGeom prst="roundRect">
            <a:avLst>
              <a:gd name="adj" fmla="val 6000"/>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5" name="anim_0_ic_c"/>
          <p:cNvSpPr/>
          <p:nvPr/>
        </p:nvSpPr>
        <p:spPr>
          <a:xfrm>
            <a:off x="822960" y="1920240"/>
            <a:ext cx="548640" cy="548640"/>
          </a:xfrm>
          <a:prstGeom prst="ellipse">
            <a:avLst/>
          </a:prstGeom>
          <a:solidFill>
            <a:srgbClr val="E4572E"/>
          </a:solidFill>
          <a:ln w="12700">
            <a:solidFill>
              <a:srgbClr val="E4572E"/>
            </a:solidFill>
            <a:prstDash val="solid"/>
          </a:ln>
        </p:spPr>
      </p:sp>
      <p:pic>
        <p:nvPicPr>
          <p:cNvPr id="6" name="anim_0_ic_i" descr="preencoded.png">    </p:cNvPr>
          <p:cNvPicPr>
            <a:picLocks noChangeAspect="1"/>
          </p:cNvPicPr>
          <p:nvPr/>
        </p:nvPicPr>
        <p:blipFill>
          <a:blip r:embed="rId1"/>
          <a:stretch>
            <a:fillRect/>
          </a:stretch>
        </p:blipFill>
        <p:spPr>
          <a:xfrm>
            <a:off x="954634" y="2051914"/>
            <a:ext cx="285293" cy="285293"/>
          </a:xfrm>
          <a:prstGeom prst="rect">
            <a:avLst/>
          </a:prstGeom>
        </p:spPr>
      </p:pic>
      <p:sp>
        <p:nvSpPr>
          <p:cNvPr id="7" name="anim_0_h"/>
          <p:cNvSpPr txBox="1"/>
          <p:nvPr/>
        </p:nvSpPr>
        <p:spPr>
          <a:xfrm>
            <a:off x="1554480" y="1920240"/>
            <a:ext cx="4206240" cy="54864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Priyanshu: sensing</a:t>
            </a:r>
            <a:endParaRPr lang="en-US" sz="2000" dirty="0"/>
          </a:p>
        </p:txBody>
      </p:sp>
      <p:sp>
        <p:nvSpPr>
          <p:cNvPr id="8" name="anim_0_t"/>
          <p:cNvSpPr txBox="1"/>
          <p:nvPr/>
        </p:nvSpPr>
        <p:spPr>
          <a:xfrm>
            <a:off x="822960" y="2606040"/>
            <a:ext cx="4937760" cy="777240"/>
          </a:xfrm>
          <a:prstGeom prst="rect">
            <a:avLst/>
          </a:prstGeom>
          <a:noFill/>
          <a:ln/>
        </p:spPr>
        <p:txBody>
          <a:bodyPr wrap="square" lIns="0" tIns="0" rIns="0" bIns="0" rtlCol="0" anchor="t"/>
          <a:lstStyle/>
          <a:p>
            <a:pPr indent="0" marL="0">
              <a:buNone/>
            </a:pPr>
            <a:r>
              <a:rPr lang="en-US" sz="1400" dirty="0">
                <a:solidFill>
                  <a:srgbClr val="C9D6E8"/>
                </a:solidFill>
                <a:latin typeface="Calibri" pitchFamily="34" charset="0"/>
                <a:ea typeface="Calibri" pitchFamily="34" charset="-122"/>
                <a:cs typeface="Calibri" pitchFamily="34" charset="-120"/>
              </a:rPr>
              <a:t>BLE + simulator, Room readings, MA heat rules, Vico charts, Open-Meteo, WorkManager, backend schema and JWT.</a:t>
            </a:r>
            <a:endParaRPr lang="en-US" sz="1400" dirty="0"/>
          </a:p>
        </p:txBody>
      </p:sp>
      <p:sp>
        <p:nvSpPr>
          <p:cNvPr id="9" name="anim_1_c"/>
          <p:cNvSpPr/>
          <p:nvPr/>
        </p:nvSpPr>
        <p:spPr>
          <a:xfrm>
            <a:off x="6185916" y="1691640"/>
            <a:ext cx="5458968" cy="1828800"/>
          </a:xfrm>
          <a:prstGeom prst="roundRect">
            <a:avLst>
              <a:gd name="adj" fmla="val 6000"/>
            </a:avLst>
          </a:prstGeom>
          <a:solidFill>
            <a:srgbClr val="0F1B2D"/>
          </a:solidFill>
          <a:ln w="12700">
            <a:solidFill>
              <a:srgbClr val="0F1B2D"/>
            </a:solidFill>
            <a:prstDash val="solid"/>
          </a:ln>
          <a:effectLst>
            <a:outerShdw sx="100000" sy="100000" kx="0" ky="0" algn="bl" rotWithShape="0" blurRad="101600" dist="25400" dir="5400000">
              <a:srgbClr val="0F1B2D">
                <a:alpha val="12000"/>
              </a:srgbClr>
            </a:outerShdw>
          </a:effectLst>
        </p:spPr>
      </p:sp>
      <p:sp>
        <p:nvSpPr>
          <p:cNvPr id="10" name="anim_1_ic_c"/>
          <p:cNvSpPr/>
          <p:nvPr/>
        </p:nvSpPr>
        <p:spPr>
          <a:xfrm>
            <a:off x="6460236" y="1920240"/>
            <a:ext cx="548640" cy="548640"/>
          </a:xfrm>
          <a:prstGeom prst="ellipse">
            <a:avLst/>
          </a:prstGeom>
          <a:solidFill>
            <a:srgbClr val="3A86C8"/>
          </a:solidFill>
          <a:ln w="12700">
            <a:solidFill>
              <a:srgbClr val="3A86C8"/>
            </a:solidFill>
            <a:prstDash val="solid"/>
          </a:ln>
        </p:spPr>
      </p:sp>
      <p:pic>
        <p:nvPicPr>
          <p:cNvPr id="11" name="anim_1_ic_i" descr="preencoded.png">    </p:cNvPr>
          <p:cNvPicPr>
            <a:picLocks noChangeAspect="1"/>
          </p:cNvPicPr>
          <p:nvPr/>
        </p:nvPicPr>
        <p:blipFill>
          <a:blip r:embed="rId2"/>
          <a:stretch>
            <a:fillRect/>
          </a:stretch>
        </p:blipFill>
        <p:spPr>
          <a:xfrm>
            <a:off x="6591910" y="2051914"/>
            <a:ext cx="285293" cy="285293"/>
          </a:xfrm>
          <a:prstGeom prst="rect">
            <a:avLst/>
          </a:prstGeom>
        </p:spPr>
      </p:pic>
      <p:sp>
        <p:nvSpPr>
          <p:cNvPr id="12" name="anim_1_h"/>
          <p:cNvSpPr txBox="1"/>
          <p:nvPr/>
        </p:nvSpPr>
        <p:spPr>
          <a:xfrm>
            <a:off x="7191756" y="1920240"/>
            <a:ext cx="4206240" cy="54864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Ankita: evidence</a:t>
            </a:r>
            <a:endParaRPr lang="en-US" sz="2000" dirty="0"/>
          </a:p>
        </p:txBody>
      </p:sp>
      <p:sp>
        <p:nvSpPr>
          <p:cNvPr id="13" name="anim_1_t"/>
          <p:cNvSpPr txBox="1"/>
          <p:nvPr/>
        </p:nvSpPr>
        <p:spPr>
          <a:xfrm>
            <a:off x="6460236" y="2606040"/>
            <a:ext cx="4937760" cy="777240"/>
          </a:xfrm>
          <a:prstGeom prst="rect">
            <a:avLst/>
          </a:prstGeom>
          <a:noFill/>
          <a:ln/>
        </p:spPr>
        <p:txBody>
          <a:bodyPr wrap="square" lIns="0" tIns="0" rIns="0" bIns="0" rtlCol="0" anchor="t"/>
          <a:lstStyle/>
          <a:p>
            <a:pPr indent="0" marL="0">
              <a:buNone/>
            </a:pPr>
            <a:r>
              <a:rPr lang="en-US" sz="1400" dirty="0">
                <a:solidFill>
                  <a:srgbClr val="C9D6E8"/>
                </a:solidFill>
                <a:latin typeface="Calibri" pitchFamily="34" charset="0"/>
                <a:ea typeface="Calibri" pitchFamily="34" charset="-122"/>
                <a:cs typeface="Calibri" pitchFamily="34" charset="-120"/>
              </a:rPr>
              <a:t>Issue tracker and timeline, CameraX hash-at-capture, notices and Escalate, deadline copy, on-device PDF packet.</a:t>
            </a:r>
            <a:endParaRPr lang="en-US" sz="1400" dirty="0"/>
          </a:p>
        </p:txBody>
      </p:sp>
      <p:sp>
        <p:nvSpPr>
          <p:cNvPr id="14" name="anim_2_sh"/>
          <p:cNvSpPr txBox="1"/>
          <p:nvPr/>
        </p:nvSpPr>
        <p:spPr>
          <a:xfrm>
            <a:off x="548640" y="3657600"/>
            <a:ext cx="11064240" cy="320040"/>
          </a:xfrm>
          <a:prstGeom prst="rect">
            <a:avLst/>
          </a:prstGeom>
          <a:noFill/>
          <a:ln/>
        </p:spPr>
        <p:txBody>
          <a:bodyPr wrap="square" lIns="0" tIns="0" rIns="0" bIns="0" rtlCol="0" anchor="ctr"/>
          <a:lstStyle/>
          <a:p>
            <a:pPr indent="0" marL="0">
              <a:buNone/>
            </a:pPr>
            <a:r>
              <a:rPr lang="en-US" sz="1250" i="1" dirty="0">
                <a:solidFill>
                  <a:srgbClr val="5B6676"/>
                </a:solidFill>
                <a:latin typeface="Calibri" pitchFamily="34" charset="0"/>
                <a:ea typeface="Calibri" pitchFamily="34" charset="-122"/>
                <a:cs typeface="Calibri" pitchFamily="34" charset="-120"/>
              </a:rPr>
              <a:t>Shared: Room schema, Compose navigation, integration, testing · Scrum master rotates weekly · every PR reviewed by the other person</a:t>
            </a:r>
            <a:endParaRPr lang="en-US" sz="1250" dirty="0"/>
          </a:p>
        </p:txBody>
      </p:sp>
      <p:sp>
        <p:nvSpPr>
          <p:cNvPr id="15" name="anim_3_line"/>
          <p:cNvSpPr/>
          <p:nvPr/>
        </p:nvSpPr>
        <p:spPr>
          <a:xfrm>
            <a:off x="914400" y="4526280"/>
            <a:ext cx="10332720" cy="0"/>
          </a:xfrm>
          <a:prstGeom prst="line">
            <a:avLst/>
          </a:prstGeom>
          <a:noFill/>
          <a:ln w="25400">
            <a:solidFill>
              <a:srgbClr val="DCE1E8"/>
            </a:solidFill>
            <a:prstDash val="solid"/>
          </a:ln>
        </p:spPr>
      </p:sp>
      <p:sp>
        <p:nvSpPr>
          <p:cNvPr id="16" name="anim_4_d"/>
          <p:cNvSpPr/>
          <p:nvPr/>
        </p:nvSpPr>
        <p:spPr>
          <a:xfrm>
            <a:off x="758952" y="4370832"/>
            <a:ext cx="310896" cy="310896"/>
          </a:xfrm>
          <a:prstGeom prst="ellipse">
            <a:avLst/>
          </a:prstGeom>
          <a:solidFill>
            <a:srgbClr val="0F1B2D"/>
          </a:solidFill>
          <a:ln w="25400">
            <a:solidFill>
              <a:srgbClr val="FFFFFF"/>
            </a:solidFill>
            <a:prstDash val="solid"/>
          </a:ln>
        </p:spPr>
      </p:sp>
      <p:sp>
        <p:nvSpPr>
          <p:cNvPr id="17" name="anim_4_t"/>
          <p:cNvSpPr txBox="1"/>
          <p:nvPr/>
        </p:nvSpPr>
        <p:spPr>
          <a:xfrm>
            <a:off x="548640" y="4846320"/>
            <a:ext cx="2560320" cy="1097280"/>
          </a:xfrm>
          <a:prstGeom prst="rect">
            <a:avLst/>
          </a:prstGeom>
          <a:noFill/>
          <a:ln/>
        </p:spPr>
        <p:txBody>
          <a:bodyPr wrap="square" lIns="0" tIns="0" rIns="0" bIns="0" rtlCol="0" anchor="t"/>
          <a:lstStyle/>
          <a:p>
            <a:pPr algn="l" indent="0" marL="0">
              <a:buNone/>
            </a:pPr>
            <a:r>
              <a:rPr lang="en-US" sz="1800" b="1" dirty="0">
                <a:solidFill>
                  <a:srgbClr val="0F1B2D"/>
                </a:solidFill>
                <a:latin typeface="Cambria" pitchFamily="34" charset="0"/>
                <a:ea typeface="Cambria" pitchFamily="34" charset="-122"/>
                <a:cs typeface="Cambria" pitchFamily="34" charset="-120"/>
              </a:rPr>
              <a:t>Oct 20</a:t>
            </a:r>
            <a:endParaRPr lang="en-US" sz="1800" dirty="0"/>
          </a:p>
          <a:p>
            <a:pPr algn="l" indent="0" marL="0">
              <a:buNone/>
            </a:pPr>
            <a:r>
              <a:rPr lang="en-US" sz="1300" dirty="0">
                <a:solidFill>
                  <a:srgbClr val="1E2633"/>
                </a:solidFill>
                <a:latin typeface="Calibri" pitchFamily="34" charset="0"/>
                <a:ea typeface="Calibri" pitchFamily="34" charset="-122"/>
                <a:cs typeface="Calibri" pitchFamily="34" charset="-120"/>
              </a:rPr>
              <a:t>Proposal + backlog + this repo</a:t>
            </a:r>
            <a:endParaRPr lang="en-US" sz="1800" dirty="0"/>
          </a:p>
        </p:txBody>
      </p:sp>
      <p:sp>
        <p:nvSpPr>
          <p:cNvPr id="18" name="anim_5_d"/>
          <p:cNvSpPr/>
          <p:nvPr/>
        </p:nvSpPr>
        <p:spPr>
          <a:xfrm>
            <a:off x="4203192" y="4370832"/>
            <a:ext cx="310896" cy="310896"/>
          </a:xfrm>
          <a:prstGeom prst="ellipse">
            <a:avLst/>
          </a:prstGeom>
          <a:solidFill>
            <a:srgbClr val="E4572E"/>
          </a:solidFill>
          <a:ln w="25400">
            <a:solidFill>
              <a:srgbClr val="FFFFFF"/>
            </a:solidFill>
            <a:prstDash val="solid"/>
          </a:ln>
        </p:spPr>
      </p:sp>
      <p:sp>
        <p:nvSpPr>
          <p:cNvPr id="19" name="anim_5_t"/>
          <p:cNvSpPr txBox="1"/>
          <p:nvPr/>
        </p:nvSpPr>
        <p:spPr>
          <a:xfrm>
            <a:off x="3078480" y="4846320"/>
            <a:ext cx="2560320" cy="1097280"/>
          </a:xfrm>
          <a:prstGeom prst="rect">
            <a:avLst/>
          </a:prstGeom>
          <a:noFill/>
          <a:ln/>
        </p:spPr>
        <p:txBody>
          <a:bodyPr wrap="square" lIns="0" tIns="0" rIns="0" bIns="0" rtlCol="0" anchor="t"/>
          <a:lstStyle/>
          <a:p>
            <a:pPr algn="ctr" indent="0" marL="0">
              <a:buNone/>
            </a:pPr>
            <a:r>
              <a:rPr lang="en-US" sz="1800" b="1" dirty="0">
                <a:solidFill>
                  <a:srgbClr val="E4572E"/>
                </a:solidFill>
                <a:latin typeface="Cambria" pitchFamily="34" charset="0"/>
                <a:ea typeface="Cambria" pitchFamily="34" charset="-122"/>
                <a:cs typeface="Cambria" pitchFamily="34" charset="-120"/>
              </a:rPr>
              <a:t>Nov 10</a:t>
            </a:r>
            <a:endParaRPr lang="en-US" sz="1800" dirty="0"/>
          </a:p>
          <a:p>
            <a:pPr algn="ctr" indent="0" marL="0">
              <a:buNone/>
            </a:pPr>
            <a:r>
              <a:rPr lang="en-US" sz="1300" dirty="0">
                <a:solidFill>
                  <a:srgbClr val="1E2633"/>
                </a:solidFill>
                <a:latin typeface="Calibri" pitchFamily="34" charset="0"/>
                <a:ea typeface="Calibri" pitchFamily="34" charset="-122"/>
                <a:cs typeface="Calibri" pitchFamily="34" charset="-120"/>
              </a:rPr>
              <a:t>Update 1 · vertical slice: simulator → chart → auto-issue</a:t>
            </a:r>
            <a:endParaRPr lang="en-US" sz="1800" dirty="0"/>
          </a:p>
        </p:txBody>
      </p:sp>
      <p:sp>
        <p:nvSpPr>
          <p:cNvPr id="20" name="anim_6_d"/>
          <p:cNvSpPr/>
          <p:nvPr/>
        </p:nvSpPr>
        <p:spPr>
          <a:xfrm>
            <a:off x="7647432" y="4370832"/>
            <a:ext cx="310896" cy="310896"/>
          </a:xfrm>
          <a:prstGeom prst="ellipse">
            <a:avLst/>
          </a:prstGeom>
          <a:solidFill>
            <a:srgbClr val="0F1B2D"/>
          </a:solidFill>
          <a:ln w="25400">
            <a:solidFill>
              <a:srgbClr val="FFFFFF"/>
            </a:solidFill>
            <a:prstDash val="solid"/>
          </a:ln>
        </p:spPr>
      </p:sp>
      <p:sp>
        <p:nvSpPr>
          <p:cNvPr id="21" name="anim_6_t"/>
          <p:cNvSpPr txBox="1"/>
          <p:nvPr/>
        </p:nvSpPr>
        <p:spPr>
          <a:xfrm>
            <a:off x="6522720" y="4846320"/>
            <a:ext cx="2560320" cy="1097280"/>
          </a:xfrm>
          <a:prstGeom prst="rect">
            <a:avLst/>
          </a:prstGeom>
          <a:noFill/>
          <a:ln/>
        </p:spPr>
        <p:txBody>
          <a:bodyPr wrap="square" lIns="0" tIns="0" rIns="0" bIns="0" rtlCol="0" anchor="t"/>
          <a:lstStyle/>
          <a:p>
            <a:pPr algn="ctr" indent="0" marL="0">
              <a:buNone/>
            </a:pPr>
            <a:r>
              <a:rPr lang="en-US" sz="1800" b="1" dirty="0">
                <a:solidFill>
                  <a:srgbClr val="0F1B2D"/>
                </a:solidFill>
                <a:latin typeface="Cambria" pitchFamily="34" charset="0"/>
                <a:ea typeface="Cambria" pitchFamily="34" charset="-122"/>
                <a:cs typeface="Cambria" pitchFamily="34" charset="-120"/>
              </a:rPr>
              <a:t>Nov 24</a:t>
            </a:r>
            <a:endParaRPr lang="en-US" sz="1800" dirty="0"/>
          </a:p>
          <a:p>
            <a:pPr algn="ctr" indent="0" marL="0">
              <a:buNone/>
            </a:pPr>
            <a:r>
              <a:rPr lang="en-US" sz="1300" dirty="0">
                <a:solidFill>
                  <a:srgbClr val="1E2633"/>
                </a:solidFill>
                <a:latin typeface="Calibri" pitchFamily="34" charset="0"/>
                <a:ea typeface="Calibri" pitchFamily="34" charset="-122"/>
                <a:cs typeface="Calibri" pitchFamily="34" charset="-120"/>
              </a:rPr>
              <a:t>Update 2 · feature-complete beta</a:t>
            </a:r>
            <a:endParaRPr lang="en-US" sz="1800" dirty="0"/>
          </a:p>
        </p:txBody>
      </p:sp>
      <p:sp>
        <p:nvSpPr>
          <p:cNvPr id="22" name="anim_7_d"/>
          <p:cNvSpPr/>
          <p:nvPr/>
        </p:nvSpPr>
        <p:spPr>
          <a:xfrm>
            <a:off x="11091672" y="4370832"/>
            <a:ext cx="310896" cy="310896"/>
          </a:xfrm>
          <a:prstGeom prst="ellipse">
            <a:avLst/>
          </a:prstGeom>
          <a:solidFill>
            <a:srgbClr val="0F1B2D"/>
          </a:solidFill>
          <a:ln w="25400">
            <a:solidFill>
              <a:srgbClr val="FFFFFF"/>
            </a:solidFill>
            <a:prstDash val="solid"/>
          </a:ln>
        </p:spPr>
      </p:sp>
      <p:sp>
        <p:nvSpPr>
          <p:cNvPr id="23" name="anim_7_t"/>
          <p:cNvSpPr txBox="1"/>
          <p:nvPr/>
        </p:nvSpPr>
        <p:spPr>
          <a:xfrm>
            <a:off x="9079992" y="4846320"/>
            <a:ext cx="2560320" cy="1097280"/>
          </a:xfrm>
          <a:prstGeom prst="rect">
            <a:avLst/>
          </a:prstGeom>
          <a:noFill/>
          <a:ln/>
        </p:spPr>
        <p:txBody>
          <a:bodyPr wrap="square" lIns="0" tIns="0" rIns="0" bIns="0" rtlCol="0" anchor="t"/>
          <a:lstStyle/>
          <a:p>
            <a:pPr algn="r" indent="0" marL="0">
              <a:buNone/>
            </a:pPr>
            <a:r>
              <a:rPr lang="en-US" sz="1800" b="1" dirty="0">
                <a:solidFill>
                  <a:srgbClr val="0F1B2D"/>
                </a:solidFill>
                <a:latin typeface="Cambria" pitchFamily="34" charset="0"/>
                <a:ea typeface="Cambria" pitchFamily="34" charset="-122"/>
                <a:cs typeface="Cambria" pitchFamily="34" charset="-120"/>
              </a:rPr>
              <a:t>Dec 8</a:t>
            </a:r>
            <a:endParaRPr lang="en-US" sz="1800" dirty="0"/>
          </a:p>
          <a:p>
            <a:pPr algn="r" indent="0" marL="0">
              <a:buNone/>
            </a:pPr>
            <a:r>
              <a:rPr lang="en-US" sz="1300" dirty="0">
                <a:solidFill>
                  <a:srgbClr val="1E2633"/>
                </a:solidFill>
                <a:latin typeface="Calibri" pitchFamily="34" charset="0"/>
                <a:ea typeface="Calibri" pitchFamily="34" charset="-122"/>
                <a:cs typeface="Calibri" pitchFamily="34" charset="-120"/>
              </a:rPr>
              <a:t>Final app, paper, 8–10 min demo</a:t>
            </a:r>
            <a:endParaRPr lang="en-US" sz="1800" dirty="0"/>
          </a:p>
        </p:txBody>
      </p:sp>
      <p:sp>
        <p:nvSpPr>
          <p:cNvPr id="24"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18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18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18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18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18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nodeType="withEffect">
                                  <p:stCondLst>
                                    <p:cond delay="36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54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nodeType="withEffect">
                                  <p:stCondLst>
                                    <p:cond delay="72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nodeType="withEffect">
                                  <p:stCondLst>
                                    <p:cond delay="72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90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nodeType="withEffect">
                                  <p:stCondLst>
                                    <p:cond delay="90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108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108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126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nodeType="withEffect">
                                  <p:stCondLst>
                                    <p:cond delay="126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11  ·  RISKS</a:t>
            </a:r>
            <a:endParaRPr lang="en-US" sz="1200" dirty="0"/>
          </a:p>
        </p:txBody>
      </p:sp>
      <p:sp>
        <p:nvSpPr>
          <p:cNvPr id="3" name="Text 1"/>
          <p:cNvSpPr/>
          <p:nvPr>
            <p:ph idx="102" type="title" hasCustomPrompt="1"/>
          </p:nvPr>
        </p:nvSpPr>
        <p:spPr>
          <a:xfrm>
            <a:off x="548640" y="713232"/>
            <a:ext cx="11064240" cy="777240"/>
          </a:xfrm>
          <a:prstGeom prst="rect">
            <a:avLst/>
          </a:prstGeom>
          <a:noFill/>
          <a:ln/>
        </p:spPr>
        <p:txBody>
          <a:bodyPr wrap="square" lIns="0" tIns="0" rIns="0" bIns="0" rtlCol="0" anchor="t"/>
          <a:lstStyle/>
          <a:p>
            <a:pPr algn="l" indent="0" marL="0">
              <a:buNone/>
            </a:pPr>
            <a:r>
              <a:rPr lang="en-US" sz="3400" dirty="0">
                <a:solidFill>
                  <a:srgbClr val="0F1B2D"/>
                </a:solidFill>
                <a:latin typeface="Cambria" pitchFamily="34" charset="0"/>
                <a:ea typeface="Cambria" pitchFamily="34" charset="-122"/>
                <a:cs typeface="Cambria" pitchFamily="34" charset="-120"/>
              </a:rPr>
              <a:t>Risks we are already mitigating</a:t>
            </a:r>
            <a:endParaRPr lang="en-US" sz="3400" dirty="0"/>
          </a:p>
        </p:txBody>
      </p:sp>
      <p:graphicFrame>
        <p:nvGraphicFramePr>
          <p:cNvPr id="4" name="anim_0_tbl"/>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291840"/>
                <a:gridCol w="7799832"/>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F1B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0F1B2D"/>
                    </a:solidFill>
                  </a:tcPr>
                </a:tc>
              </a:tr>
              <a:tr h="42976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BLE killed in background</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Foreground service; gaps are flagged; the simulator is the demo path</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r>
              <a:tr h="42976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Legal copy read as advice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Cite mass.gov / MassLegalHelp; disclaimer on every letter and the PDF</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Chart work slipping</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Vico + sample data in week one; the PDF reuses the same series</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r>
              <a:tr h="42976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Open-Meteo down in class</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Cached last-known weather; the indoor series still charts</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Lost or broken phone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Export the evidence folder; encrypted backup is a stretch goal</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r>
              <a:tr h="42976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Two-person over-scope</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Strict priorities. Stretch features never block the main flow</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F1B2D"/>
                          </a:solidFill>
                          <a:latin typeface="Calibri" pitchFamily="34" charset="0"/>
                          <a:ea typeface="Calibri" pitchFamily="34" charset="-122"/>
                          <a:cs typeface="Calibri" pitchFamily="34" charset="-120"/>
                        </a:rPr>
                        <a:t>Privacy of photos / address</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c>
                  <a:txBody>
                    <a:bodyPr/>
                    <a:lstStyle/>
                    <a:p>
                      <a:pPr indent="0" marL="0">
                        <a:buNone/>
                      </a:pPr>
                      <a:r>
                        <a:rPr lang="en-US" sz="1300" dirty="0">
                          <a:solidFill>
                            <a:srgbClr val="1E2633"/>
                          </a:solidFill>
                          <a:latin typeface="Calibri" pitchFamily="34" charset="0"/>
                          <a:ea typeface="Calibri" pitchFamily="34" charset="-122"/>
                          <a:cs typeface="Calibri" pitchFamily="34" charset="-120"/>
                        </a:rPr>
                        <a:t>Photos on-device, hashes only, no analytics SDK</a:t>
                      </a:r>
                      <a:endParaRPr lang="en-US" sz="1300" dirty="0">
                        <a:latin typeface="Calibri" charset="0"/>
                        <a:ea typeface="Calibri" charset="0"/>
                        <a:cs typeface="Calibri" charset="0"/>
                      </a:endParaRPr>
                    </a:p>
                  </a:txBody>
                  <a:tcPr marL="137160" marR="13716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3F5F8"/>
                    </a:solidFill>
                  </a:tcPr>
                </a:tc>
              </a:tr>
            </a:tbl>
          </a:graphicData>
        </a:graphic>
      </p:graphicFrame>
      <p:sp>
        <p:nvSpPr>
          <p:cNvPr id="5" name="anim_1_qb"/>
          <p:cNvSpPr/>
          <p:nvPr/>
        </p:nvSpPr>
        <p:spPr>
          <a:xfrm>
            <a:off x="548640" y="5394960"/>
            <a:ext cx="11091672" cy="822960"/>
          </a:xfrm>
          <a:prstGeom prst="roundRect">
            <a:avLst>
              <a:gd name="adj" fmla="val 13333"/>
            </a:avLst>
          </a:prstGeom>
          <a:solidFill>
            <a:srgbClr val="FBE3D9"/>
          </a:solidFill>
          <a:ln w="12700">
            <a:solidFill>
              <a:srgbClr val="FBE3D9"/>
            </a:solidFill>
            <a:prstDash val="solid"/>
          </a:ln>
        </p:spPr>
      </p:sp>
      <p:sp>
        <p:nvSpPr>
          <p:cNvPr id="6" name="anim_1_qi_c"/>
          <p:cNvSpPr/>
          <p:nvPr/>
        </p:nvSpPr>
        <p:spPr>
          <a:xfrm>
            <a:off x="731520" y="5550408"/>
            <a:ext cx="512064" cy="512064"/>
          </a:xfrm>
          <a:prstGeom prst="ellipse">
            <a:avLst/>
          </a:prstGeom>
          <a:solidFill>
            <a:srgbClr val="E4572E"/>
          </a:solidFill>
          <a:ln w="12700">
            <a:solidFill>
              <a:srgbClr val="E4572E"/>
            </a:solidFill>
            <a:prstDash val="solid"/>
          </a:ln>
        </p:spPr>
      </p:sp>
      <p:pic>
        <p:nvPicPr>
          <p:cNvPr id="7" name="anim_1_qi_i" descr="preencoded.png">    </p:cNvPr>
          <p:cNvPicPr>
            <a:picLocks noChangeAspect="1"/>
          </p:cNvPicPr>
          <p:nvPr/>
        </p:nvPicPr>
        <p:blipFill>
          <a:blip r:embed="rId1"/>
          <a:stretch>
            <a:fillRect/>
          </a:stretch>
        </p:blipFill>
        <p:spPr>
          <a:xfrm>
            <a:off x="854415" y="5673303"/>
            <a:ext cx="266273" cy="266273"/>
          </a:xfrm>
          <a:prstGeom prst="rect">
            <a:avLst/>
          </a:prstGeom>
        </p:spPr>
      </p:pic>
      <p:sp>
        <p:nvSpPr>
          <p:cNvPr id="8" name="anim_1_qt"/>
          <p:cNvSpPr txBox="1"/>
          <p:nvPr/>
        </p:nvSpPr>
        <p:spPr>
          <a:xfrm>
            <a:off x="1463040" y="5394960"/>
            <a:ext cx="9966960" cy="822960"/>
          </a:xfrm>
          <a:prstGeom prst="rect">
            <a:avLst/>
          </a:prstGeom>
          <a:noFill/>
          <a:ln/>
        </p:spPr>
        <p:txBody>
          <a:bodyPr wrap="square" lIns="0" tIns="0" rIns="0" bIns="0" rtlCol="0" anchor="ctr"/>
          <a:lstStyle/>
          <a:p>
            <a:pPr indent="0" marL="0">
              <a:buNone/>
            </a:pPr>
            <a:r>
              <a:rPr lang="en-US" sz="1500" b="1" dirty="0">
                <a:solidFill>
                  <a:srgbClr val="9C3A1E"/>
                </a:solidFill>
                <a:latin typeface="Calibri" pitchFamily="34" charset="0"/>
                <a:ea typeface="Calibri" pitchFamily="34" charset="-122"/>
                <a:cs typeface="Calibri" pitchFamily="34" charset="-120"/>
              </a:rPr>
              <a:t>Question for you: </a:t>
            </a:r>
            <a:pPr indent="0" marL="0">
              <a:buNone/>
            </a:pPr>
            <a:r>
              <a:rPr lang="en-US" sz="1500" dirty="0">
                <a:solidFill>
                  <a:srgbClr val="1E2633"/>
                </a:solidFill>
                <a:latin typeface="Calibri" pitchFamily="34" charset="0"/>
                <a:ea typeface="Calibri" pitchFamily="34" charset="-122"/>
                <a:cs typeface="Calibri" pitchFamily="34" charset="-120"/>
              </a:rPr>
              <a:t>if the BLE thermometer arrives late, is simulated-sensor mode acceptable for the Nov 10 vertical slice?</a:t>
            </a:r>
            <a:endParaRPr lang="en-US" sz="1500" dirty="0"/>
          </a:p>
        </p:txBody>
      </p:sp>
      <p:sp>
        <p:nvSpPr>
          <p:cNvPr id="9"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nodeType="withEffect">
                                  <p:stCondLst>
                                    <p:cond delay="18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nodeType="withEffect">
                                  <p:stCondLst>
                                    <p:cond delay="18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nodeType="withEffect">
                                  <p:stCondLst>
                                    <p:cond delay="18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nodeType="withEffect">
                                  <p:stCondLst>
                                    <p:cond delay="18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anim_0_t"/>
          <p:cNvSpPr txBox="1"/>
          <p:nvPr/>
        </p:nvSpPr>
        <p:spPr>
          <a:xfrm>
            <a:off x="640080" y="1828800"/>
            <a:ext cx="7315200" cy="1097280"/>
          </a:xfrm>
          <a:prstGeom prst="rect">
            <a:avLst/>
          </a:prstGeom>
          <a:noFill/>
          <a:ln/>
        </p:spPr>
        <p:txBody>
          <a:bodyPr wrap="square" lIns="0" tIns="0" rIns="0" bIns="0" rtlCol="0" anchor="ctr"/>
          <a:lstStyle/>
          <a:p>
            <a:pPr indent="0" marL="0">
              <a:buNone/>
            </a:pPr>
            <a:r>
              <a:rPr lang="en-US" sz="6000"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anim_1_q"/>
          <p:cNvSpPr txBox="1"/>
          <p:nvPr/>
        </p:nvSpPr>
        <p:spPr>
          <a:xfrm>
            <a:off x="640080" y="2926080"/>
            <a:ext cx="7315200" cy="548640"/>
          </a:xfrm>
          <a:prstGeom prst="rect">
            <a:avLst/>
          </a:prstGeom>
          <a:noFill/>
          <a:ln/>
        </p:spPr>
        <p:txBody>
          <a:bodyPr wrap="square" lIns="0" tIns="0" rIns="0" bIns="0" rtlCol="0" anchor="ctr"/>
          <a:lstStyle/>
          <a:p>
            <a:pPr indent="0" marL="0">
              <a:buNone/>
            </a:pPr>
            <a:r>
              <a:rPr lang="en-US" sz="2600" i="1" dirty="0">
                <a:solidFill>
                  <a:srgbClr val="F6C7B5"/>
                </a:solidFill>
                <a:latin typeface="Cambria" pitchFamily="34" charset="0"/>
                <a:ea typeface="Cambria" pitchFamily="34" charset="-122"/>
                <a:cs typeface="Cambria" pitchFamily="34" charset="-120"/>
              </a:rPr>
              <a:t>Questions?</a:t>
            </a:r>
            <a:endParaRPr lang="en-US" sz="2600" dirty="0"/>
          </a:p>
        </p:txBody>
      </p:sp>
      <p:sp>
        <p:nvSpPr>
          <p:cNvPr id="4" name="anim_2_n"/>
          <p:cNvSpPr txBox="1"/>
          <p:nvPr/>
        </p:nvSpPr>
        <p:spPr>
          <a:xfrm>
            <a:off x="640080" y="3931920"/>
            <a:ext cx="7315200" cy="365760"/>
          </a:xfrm>
          <a:prstGeom prst="rect">
            <a:avLst/>
          </a:prstGeom>
          <a:noFill/>
          <a:ln/>
        </p:spPr>
        <p:txBody>
          <a:bodyPr wrap="square" lIns="0" tIns="0" rIns="0" bIns="0" rtlCol="0" anchor="ctr"/>
          <a:lstStyle/>
          <a:p>
            <a:pPr indent="0" marL="0">
              <a:buNone/>
            </a:pPr>
            <a:r>
              <a:rPr lang="en-US" sz="1600" dirty="0">
                <a:solidFill>
                  <a:srgbClr val="C9D6E8"/>
                </a:solidFill>
                <a:latin typeface="Calibri" pitchFamily="34" charset="0"/>
                <a:ea typeface="Calibri" pitchFamily="34" charset="-122"/>
                <a:cs typeface="Calibri" pitchFamily="34" charset="-120"/>
              </a:rPr>
              <a:t>Ankita Patra  ·  Priyanshu Singh</a:t>
            </a:r>
            <a:endParaRPr lang="en-US" sz="1600" dirty="0"/>
          </a:p>
        </p:txBody>
      </p:sp>
      <p:sp>
        <p:nvSpPr>
          <p:cNvPr id="5" name="anim_2_g"/>
          <p:cNvSpPr txBox="1"/>
          <p:nvPr/>
        </p:nvSpPr>
        <p:spPr>
          <a:xfrm>
            <a:off x="640080" y="4343400"/>
            <a:ext cx="7315200" cy="365760"/>
          </a:xfrm>
          <a:prstGeom prst="rect">
            <a:avLst/>
          </a:prstGeom>
          <a:noFill/>
          <a:ln/>
        </p:spPr>
        <p:txBody>
          <a:bodyPr wrap="square" lIns="0" tIns="0" rIns="0" bIns="0" rtlCol="0" anchor="ctr"/>
          <a:lstStyle/>
          <a:p>
            <a:pPr indent="0" marL="0">
              <a:buNone/>
            </a:pPr>
            <a:r>
              <a:rPr lang="en-US" sz="1400" u="sng" dirty="0">
                <a:solidFill>
                  <a:srgbClr val="8A9BB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github.com/Priyanshusingh09876/Habitable</a:t>
            </a:r>
            <a:endParaRPr lang="en-US" sz="1400" dirty="0"/>
          </a:p>
        </p:txBody>
      </p:sp>
      <p:sp>
        <p:nvSpPr>
          <p:cNvPr id="6" name="anim_3_c"/>
          <p:cNvSpPr/>
          <p:nvPr/>
        </p:nvSpPr>
        <p:spPr>
          <a:xfrm>
            <a:off x="8138160" y="1828800"/>
            <a:ext cx="3429000" cy="2103120"/>
          </a:xfrm>
          <a:prstGeom prst="roundRect">
            <a:avLst>
              <a:gd name="adj" fmla="val 5217"/>
            </a:avLst>
          </a:prstGeom>
          <a:solidFill>
            <a:srgbClr val="1B2B44"/>
          </a:solidFill>
          <a:ln w="19050">
            <a:solidFill>
              <a:srgbClr val="E4572E"/>
            </a:solidFill>
            <a:prstDash val="solid"/>
          </a:ln>
        </p:spPr>
      </p:sp>
      <p:sp>
        <p:nvSpPr>
          <p:cNvPr id="7" name="anim_3_ct"/>
          <p:cNvSpPr txBox="1"/>
          <p:nvPr/>
        </p:nvSpPr>
        <p:spPr>
          <a:xfrm>
            <a:off x="8412480" y="1828800"/>
            <a:ext cx="2926080" cy="2103120"/>
          </a:xfrm>
          <a:prstGeom prst="rect">
            <a:avLst/>
          </a:prstGeom>
          <a:noFill/>
          <a:ln/>
        </p:spPr>
        <p:txBody>
          <a:bodyPr wrap="square" lIns="0" tIns="0" rIns="0" bIns="0" rtlCol="0" anchor="ctr"/>
          <a:lstStyle/>
          <a:p>
            <a:pPr indent="0" marL="0">
              <a:buNone/>
            </a:pPr>
            <a:r>
              <a:rPr lang="en-US" sz="1100" b="1" spc="150" kern="0" dirty="0">
                <a:solidFill>
                  <a:srgbClr val="E4572E"/>
                </a:solidFill>
                <a:latin typeface="Calibri" pitchFamily="34" charset="0"/>
                <a:ea typeface="Calibri" pitchFamily="34" charset="-122"/>
                <a:cs typeface="Calibri" pitchFamily="34" charset="-120"/>
              </a:rPr>
              <a:t>THE ONE-LINE PITCH</a:t>
            </a:r>
            <a:endParaRPr lang="en-US" sz="11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800" i="1" dirty="0">
                <a:solidFill>
                  <a:srgbClr val="FFFFFF"/>
                </a:solidFill>
                <a:latin typeface="Cambria" pitchFamily="34" charset="0"/>
                <a:ea typeface="Cambria" pitchFamily="34" charset="-122"/>
                <a:cs typeface="Cambria" pitchFamily="34" charset="-120"/>
              </a:rPr>
              <a:t>Turn “it was cold” into a dated record that gets an inspector to come out.</a:t>
            </a:r>
            <a:endParaRPr lang="en-US" sz="1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50"/>
                                        <p:tgtEl>
                                          <p:spTgt spid="2"/>
                                        </p:tgtEl>
                                      </p:cBhvr>
                                    </p:animEffect>
                                  </p:childTnLst>
                                </p:cTn>
                              </p:par>
                              <p:par>
                                <p:cTn id="7" presetID="10" presetClass="entr" presetSubtype="0" fill="hold" nodeType="withEffect">
                                  <p:stCondLst>
                                    <p:cond delay="18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50"/>
                                        <p:tgtEl>
                                          <p:spTgt spid="3"/>
                                        </p:tgtEl>
                                      </p:cBhvr>
                                    </p:animEffect>
                                  </p:childTnLst>
                                </p:cTn>
                              </p:par>
                              <p:par>
                                <p:cTn id="10" presetID="10" presetClass="entr" presetSubtype="0" fill="hold" nodeType="withEffect">
                                  <p:stCondLst>
                                    <p:cond delay="36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10" presetClass="entr" presetSubtype="0" fill="hold" nodeType="withEffect">
                                  <p:stCondLst>
                                    <p:cond delay="54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10" presetClass="entr" presetSubtype="0" fill="hold" nodeType="withEffect">
                                  <p:stCondLst>
                                    <p:cond delay="54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abitable">
  <a:themeElements>
    <a:clrScheme name="Habitable">
      <a:dk1>
        <a:srgbClr val="1E2633"/>
      </a:dk1>
      <a:lt1>
        <a:srgbClr val="FFFFFF"/>
      </a:lt1>
      <a:dk2>
        <a:srgbClr val="0F1B2D"/>
      </a:dk2>
      <a:lt2>
        <a:srgbClr val="F3F5F8"/>
      </a:lt2>
      <a:accent1>
        <a:srgbClr val="E4572E"/>
      </a:accent1>
      <a:accent2>
        <a:srgbClr val="3A86C8"/>
      </a:accent2>
      <a:accent3>
        <a:srgbClr val="1B2B44"/>
      </a:accent3>
      <a:accent4>
        <a:srgbClr val="8A96A8"/>
      </a:accent4>
      <a:accent5>
        <a:srgbClr val="F2A541"/>
      </a:accent5>
      <a:accent6>
        <a:srgbClr val="2E9E6B"/>
      </a:accent6>
      <a:hlink>
        <a:srgbClr val="3A86C8"/>
      </a:hlink>
      <a:folHlink>
        <a:srgbClr val="6B5CA5"/>
      </a:folHlink>
    </a:clrScheme>
    <a:fontScheme name="Habitab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Habitable — CS 501 Proposal</dc:title>
  <dc:subject>PptxGenJS Presentation</dc:subject>
  <dc:creator>Ankita Patra, Priyanshu Singh</dc:creator>
  <cp:lastModifiedBy>Ankita Patra, Priyanshu Singh</cp:lastModifiedBy>
  <cp:revision>1</cp:revision>
  <dcterms:created xsi:type="dcterms:W3CDTF">2026-10-15T06:28:52Z</dcterms:created>
  <dcterms:modified xsi:type="dcterms:W3CDTF">2026-10-15T06:28:52Z</dcterms:modified>
</cp:coreProperties>
</file>